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90" r:id="rId3"/>
    <p:sldId id="291" r:id="rId4"/>
    <p:sldId id="257" r:id="rId5"/>
    <p:sldId id="292" r:id="rId6"/>
    <p:sldId id="293" r:id="rId7"/>
    <p:sldId id="263" r:id="rId8"/>
    <p:sldId id="258" r:id="rId9"/>
    <p:sldId id="259" r:id="rId10"/>
    <p:sldId id="260" r:id="rId11"/>
    <p:sldId id="294" r:id="rId12"/>
    <p:sldId id="261" r:id="rId13"/>
    <p:sldId id="262" r:id="rId14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6AA358-2502-4B43-9044-9C800776E1D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A67557-A94E-4FE8-9E98-E2A11E31FEE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B6BCB-E343-41FD-AE72-D15F06E474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47557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B6BCB-E343-41FD-AE72-D15F06E474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9289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675B4-68B4-4586-823B-4A6D12602C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675B4-68B4-4586-823B-4A6D12602C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604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675B4-68B4-4586-823B-4A6D12602C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9504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6675B4-68B4-4586-823B-4A6D12602CE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0022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00EB8-09FC-4603-90E5-25808BD6C95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B6BCB-E343-41FD-AE72-D15F06E474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73BDE-B1B2-40F7-BD8E-A9B7AB25C20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373BDE-B1B2-40F7-BD8E-A9B7AB25C20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7251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A92D03-A3E2-406E-B46D-2BA4D582AE7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F4C31-C678-4549-8901-50B591D2F27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/>
          <p:cNvSpPr/>
          <p:nvPr/>
        </p:nvSpPr>
        <p:spPr>
          <a:xfrm>
            <a:off x="692552" y="2629365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8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PLN Clássico</a:t>
            </a:r>
            <a:endParaRPr lang="pt-BR" sz="3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01450" y="3417956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Do PDF ao texto tratado — normalização, tokenização, stop words e lematização</a:t>
            </a:r>
            <a:endParaRPr lang="pt-BR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1B800CE-00D7-C573-CA5D-2744277E20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Linguagem Natural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Do que se trata?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622284" y="2803961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896604" y="347171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“É qualquer linguagem desenvolvida naturalmente pelo ser humano, de forma não premeditada, como resultado da facilidade inata para a linguagem possuída pelo intelecto humano. ”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CB099120-DC21-9347-00A3-2E94A153D60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9B09671-E91D-4DE0-5D22-06318C7C4DEC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12291" name="Google Shape;371;p34" descr="Resultado de imagem para amazon alexa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686" y="2309352"/>
            <a:ext cx="4854290" cy="2643242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3072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Processamento de Linguagem Natural (PLN)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Do que se trata?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91599" y="1824097"/>
            <a:ext cx="7558222" cy="3803455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865918" y="3496258"/>
            <a:ext cx="6903413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“Trata da habilidade de trabalhar com linguagem falada e escrita da mesma forma que os seres humanos.”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700" b="1" strike="noStrike" spc="-1" dirty="0">
              <a:solidFill>
                <a:srgbClr val="1E2761"/>
              </a:solidFill>
              <a:latin typeface="Cambria"/>
              <a:ea typeface="Cambria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“O Processamento de Linguagem Natural (PLN) é a área de estudo dos sistemas computacionais para compreensão e geração de línguas naturais faladas e escritas.”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700" b="1" strike="noStrike" spc="-1" dirty="0">
              <a:solidFill>
                <a:srgbClr val="1E2761"/>
              </a:solidFill>
              <a:latin typeface="Cambria"/>
              <a:ea typeface="Cambria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“Ramo de estudo resultante da união de esforços entre a Inteligência Artificial, Ciência da Computação e a Linguística.”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CB099120-DC21-9347-00A3-2E94A153D60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9B09671-E91D-4DE0-5D22-06318C7C4DEC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1433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782" y="2330287"/>
            <a:ext cx="2933677" cy="219742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1572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Processamento de Linguagem Natural (PLN)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Áreas e Subáreas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38B6003-F165-BFEE-A235-252CA4424DA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B645EBF-A9BE-7251-21DE-324A9A5F5BD0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569B63C-51B9-C8DC-DFA9-226BA6D6D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208" y="2652242"/>
            <a:ext cx="3730625" cy="2795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CaixaDeTexto 1">
            <a:extLst>
              <a:ext uri="{FF2B5EF4-FFF2-40B4-BE49-F238E27FC236}">
                <a16:creationId xmlns:a16="http://schemas.microsoft.com/office/drawing/2014/main" id="{4AD750CE-0BA5-7981-2708-C31D110C5712}"/>
              </a:ext>
            </a:extLst>
          </p:cNvPr>
          <p:cNvSpPr txBox="1"/>
          <p:nvPr/>
        </p:nvSpPr>
        <p:spPr>
          <a:xfrm>
            <a:off x="2789333" y="2018829"/>
            <a:ext cx="837089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>
              <a:buClrTx/>
              <a:buFontTx/>
            </a:pPr>
            <a:r>
              <a:rPr lang="pt-BR" altLang="pt-BR" b="1" dirty="0">
                <a:latin typeface="Tahoma" panose="020B0604030504040204" pitchFamily="34" charset="0"/>
              </a:rPr>
              <a:t>Áreas</a:t>
            </a:r>
          </a:p>
        </p:txBody>
      </p:sp>
      <p:sp>
        <p:nvSpPr>
          <p:cNvPr id="6" name="CaixaDeTexto 2">
            <a:extLst>
              <a:ext uri="{FF2B5EF4-FFF2-40B4-BE49-F238E27FC236}">
                <a16:creationId xmlns:a16="http://schemas.microsoft.com/office/drawing/2014/main" id="{0C069D3E-2446-E9AB-BE86-5D9A38D8FEC7}"/>
              </a:ext>
            </a:extLst>
          </p:cNvPr>
          <p:cNvSpPr txBox="1"/>
          <p:nvPr/>
        </p:nvSpPr>
        <p:spPr>
          <a:xfrm>
            <a:off x="7146642" y="2430462"/>
            <a:ext cx="2472152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 eaLnBrk="0" hangingPunct="0">
              <a:buClrTx/>
              <a:buFontTx/>
            </a:pPr>
            <a:r>
              <a:rPr lang="pt-BR" altLang="pt-BR" b="1" dirty="0">
                <a:latin typeface="Tahoma" panose="020B0604030504040204" pitchFamily="34" charset="0"/>
              </a:rPr>
              <a:t>Subáreas do Estudo</a:t>
            </a:r>
          </a:p>
          <a:p>
            <a:pPr algn="ctr" eaLnBrk="0" hangingPunct="0">
              <a:buClrTx/>
              <a:buFontTx/>
            </a:pPr>
            <a:r>
              <a:rPr lang="pt-BR" altLang="pt-BR" b="1" dirty="0">
                <a:latin typeface="Tahoma" panose="020B0604030504040204" pitchFamily="34" charset="0"/>
              </a:rPr>
              <a:t>da Linguagem</a:t>
            </a:r>
          </a:p>
        </p:txBody>
      </p:sp>
      <p:pic>
        <p:nvPicPr>
          <p:cNvPr id="7" name="Imagem 5">
            <a:extLst>
              <a:ext uri="{FF2B5EF4-FFF2-40B4-BE49-F238E27FC236}">
                <a16:creationId xmlns:a16="http://schemas.microsoft.com/office/drawing/2014/main" id="{F1137848-297A-F458-DE48-B5347604B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450" y="3429000"/>
            <a:ext cx="4216400" cy="181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Processamento de Linguagem Natural (PLN)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Tarefas!! Veja que área ampla</a:t>
            </a:r>
            <a:r>
              <a:rPr lang="pt-BR" sz="1500" spc="-1" dirty="0">
                <a:solidFill>
                  <a:srgbClr val="5A6072"/>
                </a:solidFill>
                <a:latin typeface="Calibri"/>
                <a:ea typeface="Calibri"/>
              </a:rPr>
              <a:t>: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38B6003-F165-BFEE-A235-252CA4424DA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5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B645EBF-A9BE-7251-21DE-324A9A5F5BD0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8" name="Google Shape;473;p45" descr="What Tasks Can I Solve with NLP Today? | by Fabio Chiusano ...">
            <a:extLst>
              <a:ext uri="{FF2B5EF4-FFF2-40B4-BE49-F238E27FC236}">
                <a16:creationId xmlns:a16="http://schemas.microsoft.com/office/drawing/2014/main" id="{0C1F1087-4C2E-A8F9-1C74-4D4E297D518F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194" y="1572480"/>
            <a:ext cx="6553200" cy="45529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5687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Processamento de Linguagem Natural (PLN)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Breve Recorte Histórico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38B6003-F165-BFEE-A235-252CA4424DA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B645EBF-A9BE-7251-21DE-324A9A5F5BD0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4" name="Google Shape;379;p35">
            <a:extLst>
              <a:ext uri="{FF2B5EF4-FFF2-40B4-BE49-F238E27FC236}">
                <a16:creationId xmlns:a16="http://schemas.microsoft.com/office/drawing/2014/main" id="{6E7F000E-FE7C-39BC-3C5E-3A0ED5AC05E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10" y="2512367"/>
            <a:ext cx="10555587" cy="215294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18617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Por que </a:t>
            </a:r>
            <a:r>
              <a:rPr lang="pt-BR" sz="29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pré</a:t>
            </a: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-processar o texto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 máquina não entende texto cru — o pré-processamento estrutura e limpa a língua.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65960"/>
            <a:ext cx="5394600" cy="155412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22960" y="21672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Estruturar</a:t>
            </a:r>
            <a:endParaRPr lang="pt-BR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22960" y="265176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transformar a língua livre em unidades processáveis (tokens)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6172200" y="1965960"/>
            <a:ext cx="5394600" cy="155412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46520" y="21672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Limpar</a:t>
            </a:r>
            <a:endParaRPr lang="pt-BR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6446520" y="265176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remover o que não carrega significado (ruído, pontuação, </a:t>
            </a:r>
            <a:r>
              <a:rPr lang="pt-BR" sz="14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tags</a:t>
            </a:r>
            <a:r>
              <a:rPr lang="pt-BR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)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548640" y="3794760"/>
            <a:ext cx="5394600" cy="155412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822960" y="39960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Reduzir</a:t>
            </a:r>
            <a:endParaRPr lang="pt-BR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822960" y="448056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diminuir o vocabulário para o modelo focar no essencial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6172200" y="3794760"/>
            <a:ext cx="5394600" cy="1554120"/>
          </a:xfrm>
          <a:prstGeom prst="roundRect">
            <a:avLst>
              <a:gd name="adj" fmla="val 4706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6446520" y="39960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Padronizar</a:t>
            </a:r>
            <a:endParaRPr lang="pt-BR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6446520" y="4480560"/>
            <a:ext cx="48916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evitar que "Casa" e "casa" sejam vistas como diferentes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548640" y="56692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Este é o PLN clássico: preparar o texto para modelos que precisam de dados simples e estruturados.</a:t>
            </a:r>
            <a:endParaRPr lang="pt-BR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38B6003-F165-BFEE-A235-252CA4424DA9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5B645EBF-A9BE-7251-21DE-324A9A5F5BD0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190087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 dirty="0">
                <a:solidFill>
                  <a:srgbClr val="4F7BE8"/>
                </a:solidFill>
                <a:latin typeface="Calibri"/>
                <a:ea typeface="Calibri"/>
              </a:rPr>
              <a:t>UM PIPELINE DE PLN CLÁSSICO</a:t>
            </a:r>
            <a:endParaRPr lang="en-US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A pipeline de pré-processamento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548640" y="192024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777240" y="2066400"/>
            <a:ext cx="383760" cy="38376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777240" y="2066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1371600" y="192024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Ler o PDF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4663440" y="1920240"/>
            <a:ext cx="67662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extrai o texto bruto (pdfplumber)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548640" y="267012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777240" y="2816280"/>
            <a:ext cx="383760" cy="38376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777240" y="2816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1371600" y="267012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Normalizar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4663440" y="2670120"/>
            <a:ext cx="67662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minúsculas + remove pontuação/números (regex)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>
            <a:off x="548640" y="342000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777240" y="3566160"/>
            <a:ext cx="383760" cy="383760"/>
          </a:xfrm>
          <a:prstGeom prst="ellipse">
            <a:avLst/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777240" y="3566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1371600" y="342000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Tokenizar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4663440" y="3420000"/>
            <a:ext cx="67662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divide em tokens (spaCy)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548640" y="416952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18"/>
          <p:cNvSpPr/>
          <p:nvPr/>
        </p:nvSpPr>
        <p:spPr>
          <a:xfrm>
            <a:off x="777240" y="4316040"/>
            <a:ext cx="383760" cy="38376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777240" y="4316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1371600" y="416952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Remover stop words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4663440" y="4169520"/>
            <a:ext cx="67662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tira palavras sem carga semântica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22"/>
          <p:cNvSpPr/>
          <p:nvPr/>
        </p:nvSpPr>
        <p:spPr>
          <a:xfrm>
            <a:off x="548640" y="4919400"/>
            <a:ext cx="11063880" cy="658080"/>
          </a:xfrm>
          <a:prstGeom prst="roundRect">
            <a:avLst>
              <a:gd name="adj" fmla="val 9722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23"/>
          <p:cNvSpPr/>
          <p:nvPr/>
        </p:nvSpPr>
        <p:spPr>
          <a:xfrm>
            <a:off x="777240" y="5065920"/>
            <a:ext cx="383760" cy="38376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777240" y="5065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5"/>
          <p:cNvSpPr/>
          <p:nvPr/>
        </p:nvSpPr>
        <p:spPr>
          <a:xfrm>
            <a:off x="1371600" y="491940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Lematizar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26"/>
          <p:cNvSpPr/>
          <p:nvPr/>
        </p:nvSpPr>
        <p:spPr>
          <a:xfrm>
            <a:off x="4663440" y="4919400"/>
            <a:ext cx="676620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CADCFC"/>
                </a:solidFill>
                <a:latin typeface="Calibri"/>
                <a:ea typeface="Calibri"/>
              </a:rPr>
              <a:t>reduz à forma canônica (lema)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082B5237-D75C-28F8-E348-153E66FA81D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A4B2683-CC89-B34F-5C60-10815E1FDAB9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Stop words — remover com cuidado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Palavras comuns sem carga semântica — mas nem sempre podem sair.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48640" y="19202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82296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são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822960" y="248724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Artigos, preposições, conjunções: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"a", "o", "de", "e", "que"...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4F7BE8"/>
                </a:solidFill>
                <a:latin typeface="Calibri"/>
                <a:ea typeface="Calibri"/>
              </a:rPr>
              <a:t>"O gato de botas" → "gato botas"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6172200" y="1920240"/>
            <a:ext cx="5440320" cy="1828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644652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2B84A"/>
                </a:solidFill>
                <a:latin typeface="Cambria"/>
                <a:ea typeface="Cambria"/>
              </a:rPr>
              <a:t>⚠ O cuidado com o "não"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6446520" y="248724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Na análise de sentimento, remover "não" inverte o sentido: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C4506B"/>
                </a:solidFill>
                <a:latin typeface="Calibri"/>
                <a:ea typeface="Calibri"/>
              </a:rPr>
              <a:t>"não gostei" → "gostei" (!!)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548640" y="3977640"/>
            <a:ext cx="11063880" cy="1691280"/>
          </a:xfrm>
          <a:prstGeom prst="roundRect">
            <a:avLst>
              <a:gd name="adj" fmla="val 324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749880" y="4114800"/>
            <a:ext cx="1066140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nltk.corpus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stopwords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stop_words = set(stopwords.words(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'portuguese'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remova só as stop words que realmente não importam para a sua tarefa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CB099120-DC21-9347-00A3-2E94A153D603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9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9B09671-E91D-4DE0-5D22-06318C7C4DEC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Stemming vs. Lematização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Duas formas de reduzir a palavra à base — uma bruta, outra inteligente.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548640" y="1920240"/>
            <a:ext cx="3348300" cy="2468520"/>
          </a:xfrm>
          <a:prstGeom prst="roundRect">
            <a:avLst>
              <a:gd name="adj" fmla="val 296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82296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Stemming (poda bruta)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22960" y="2487240"/>
            <a:ext cx="2877598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Corta</a:t>
            </a:r>
            <a:r>
              <a:rPr lang="en-US" sz="135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a </a:t>
            </a:r>
            <a:r>
              <a:rPr lang="en-US" sz="135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palavra</a:t>
            </a:r>
            <a:r>
              <a:rPr lang="en-US" sz="135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sem</a:t>
            </a:r>
            <a:r>
              <a:rPr lang="en-US" sz="135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regras</a:t>
            </a:r>
            <a:r>
              <a:rPr lang="en-US" sz="135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linguísticas</a:t>
            </a:r>
            <a:r>
              <a:rPr lang="en-US" sz="135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 dirty="0">
                <a:solidFill>
                  <a:srgbClr val="C4506B"/>
                </a:solidFill>
                <a:latin typeface="Consolas"/>
                <a:ea typeface="Consolas"/>
              </a:rPr>
              <a:t>"</a:t>
            </a:r>
            <a:r>
              <a:rPr lang="en-US" sz="1200" b="0" strike="noStrike" spc="-1" dirty="0" err="1">
                <a:solidFill>
                  <a:srgbClr val="C4506B"/>
                </a:solidFill>
                <a:latin typeface="Consolas"/>
                <a:ea typeface="Consolas"/>
              </a:rPr>
              <a:t>organizações</a:t>
            </a:r>
            <a:r>
              <a:rPr lang="en-US" sz="1200" b="0" strike="noStrike" spc="-1" dirty="0">
                <a:solidFill>
                  <a:srgbClr val="C4506B"/>
                </a:solidFill>
                <a:latin typeface="Consolas"/>
                <a:ea typeface="Consolas"/>
              </a:rPr>
              <a:t>" → "</a:t>
            </a:r>
            <a:r>
              <a:rPr lang="en-US" sz="1200" b="0" strike="noStrike" spc="-1" dirty="0" err="1">
                <a:solidFill>
                  <a:srgbClr val="C4506B"/>
                </a:solidFill>
                <a:latin typeface="Consolas"/>
                <a:ea typeface="Consolas"/>
              </a:rPr>
              <a:t>organizaç</a:t>
            </a:r>
            <a:r>
              <a:rPr lang="en-US" sz="1200" b="0" strike="noStrike" spc="-1" dirty="0">
                <a:solidFill>
                  <a:srgbClr val="C4506B"/>
                </a:solidFill>
                <a:latin typeface="Consolas"/>
                <a:ea typeface="Consolas"/>
              </a:rPr>
              <a:t>"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 dirty="0">
                <a:solidFill>
                  <a:srgbClr val="C4506B"/>
                </a:solidFill>
                <a:latin typeface="Consolas"/>
                <a:ea typeface="Consolas"/>
              </a:rPr>
              <a:t>"</a:t>
            </a:r>
            <a:r>
              <a:rPr lang="en-US" sz="1200" b="0" strike="noStrike" spc="-1" dirty="0" err="1">
                <a:solidFill>
                  <a:srgbClr val="C4506B"/>
                </a:solidFill>
                <a:latin typeface="Consolas"/>
                <a:ea typeface="Consolas"/>
              </a:rPr>
              <a:t>complexos</a:t>
            </a:r>
            <a:r>
              <a:rPr lang="en-US" sz="1200" b="0" strike="noStrike" spc="-1" dirty="0">
                <a:solidFill>
                  <a:srgbClr val="C4506B"/>
                </a:solidFill>
                <a:latin typeface="Consolas"/>
                <a:ea typeface="Consolas"/>
              </a:rPr>
              <a:t>" → "complex"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i="1" strike="noStrike" spc="-1" dirty="0">
                <a:solidFill>
                  <a:srgbClr val="C4506B"/>
                </a:solidFill>
                <a:latin typeface="Calibri"/>
                <a:ea typeface="Calibri"/>
              </a:rPr>
              <a:t>→ </a:t>
            </a:r>
            <a:r>
              <a:rPr lang="en-US" sz="1350" b="0" i="1" strike="noStrike" spc="-1" dirty="0" err="1">
                <a:solidFill>
                  <a:srgbClr val="C4506B"/>
                </a:solidFill>
                <a:latin typeface="Calibri"/>
                <a:ea typeface="Calibri"/>
              </a:rPr>
              <a:t>gera</a:t>
            </a:r>
            <a:r>
              <a:rPr lang="en-US" sz="1350" b="0" i="1" strike="noStrike" spc="-1" dirty="0">
                <a:solidFill>
                  <a:srgbClr val="C4506B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C4506B"/>
                </a:solidFill>
                <a:latin typeface="Calibri"/>
                <a:ea typeface="Calibri"/>
              </a:rPr>
              <a:t>radicais</a:t>
            </a:r>
            <a:r>
              <a:rPr lang="en-US" sz="1350" b="0" i="1" strike="noStrike" spc="-1" dirty="0">
                <a:solidFill>
                  <a:srgbClr val="C4506B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C4506B"/>
                </a:solidFill>
                <a:latin typeface="Calibri"/>
                <a:ea typeface="Calibri"/>
              </a:rPr>
              <a:t>truncados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4042692" y="1920240"/>
            <a:ext cx="3517985" cy="2468520"/>
          </a:xfrm>
          <a:prstGeom prst="roundRect">
            <a:avLst>
              <a:gd name="adj" fmla="val 296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317012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3E9E6E"/>
                </a:solidFill>
                <a:latin typeface="Cambria"/>
                <a:ea typeface="Cambria"/>
              </a:rPr>
              <a:t>Lematização (forma canônica)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4317012" y="2487240"/>
            <a:ext cx="3151611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Reduz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ao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lema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,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respeitando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a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morfologia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r>
              <a:rPr lang="en-US" sz="120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organizações</a:t>
            </a:r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 → "</a:t>
            </a:r>
            <a:r>
              <a:rPr lang="en-US" sz="120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organização</a:t>
            </a:r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r>
              <a:rPr lang="en-US" sz="120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correram</a:t>
            </a:r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 → "</a:t>
            </a:r>
            <a:r>
              <a:rPr lang="en-US" sz="120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correr</a:t>
            </a:r>
            <a:r>
              <a:rPr lang="en-US" sz="120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50" b="0" i="1" strike="noStrike" spc="-1" dirty="0">
                <a:solidFill>
                  <a:srgbClr val="F2B84A"/>
                </a:solidFill>
                <a:latin typeface="Calibri"/>
                <a:ea typeface="Calibri"/>
              </a:rPr>
              <a:t>→ </a:t>
            </a:r>
            <a:r>
              <a:rPr lang="en-US" sz="1350" b="0" i="1" strike="noStrike" spc="-1" dirty="0" err="1">
                <a:solidFill>
                  <a:srgbClr val="F2B84A"/>
                </a:solidFill>
                <a:latin typeface="Calibri"/>
                <a:ea typeface="Calibri"/>
              </a:rPr>
              <a:t>preserva</a:t>
            </a:r>
            <a:r>
              <a:rPr lang="en-US" sz="1350" b="0" i="1" strike="noStrike" spc="-1" dirty="0">
                <a:solidFill>
                  <a:srgbClr val="F2B84A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F2B84A"/>
                </a:solidFill>
                <a:latin typeface="Calibri"/>
                <a:ea typeface="Calibri"/>
              </a:rPr>
              <a:t>palavras</a:t>
            </a:r>
            <a:r>
              <a:rPr lang="en-US" sz="1350" b="0" i="1" strike="noStrike" spc="-1" dirty="0">
                <a:solidFill>
                  <a:srgbClr val="F2B84A"/>
                </a:solidFill>
                <a:latin typeface="Calibri"/>
                <a:ea typeface="Calibri"/>
              </a:rPr>
              <a:t> reais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8"/>
          <p:cNvSpPr/>
          <p:nvPr/>
        </p:nvSpPr>
        <p:spPr>
          <a:xfrm>
            <a:off x="548640" y="4572000"/>
            <a:ext cx="7097953" cy="1096920"/>
          </a:xfrm>
          <a:prstGeom prst="roundRect">
            <a:avLst>
              <a:gd name="adj" fmla="val 50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749880" y="4709160"/>
            <a:ext cx="106614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stems = [stemmer.stem(t)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for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in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tokens]   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NLTK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lemas = [t.lemma_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for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t </a:t>
            </a:r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in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nlp(frase)]     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spaCy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CA4AB9E-AAAF-E353-73AA-E3400DE1ABC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10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B1FB266A-C30B-EF53-F6CF-782344A30A41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8C36AE81-9B12-129E-5243-7D291A4CB4D8}"/>
              </a:ext>
            </a:extLst>
          </p:cNvPr>
          <p:cNvSpPr/>
          <p:nvPr/>
        </p:nvSpPr>
        <p:spPr>
          <a:xfrm>
            <a:off x="548640" y="5910409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1" i="1" strike="noStrike" spc="-1" dirty="0" err="1">
                <a:solidFill>
                  <a:srgbClr val="FF0000"/>
                </a:solidFill>
                <a:latin typeface="Calibri"/>
                <a:ea typeface="Calibri"/>
              </a:rPr>
              <a:t>Stemming</a:t>
            </a:r>
            <a:r>
              <a:rPr lang="pt-BR" sz="1350" b="1" i="1" strike="noStrike" spc="-1" dirty="0">
                <a:solidFill>
                  <a:srgbClr val="FF0000"/>
                </a:solidFill>
                <a:latin typeface="Calibri"/>
                <a:ea typeface="Calibri"/>
              </a:rPr>
              <a:t>:</a:t>
            </a:r>
            <a:r>
              <a:rPr lang="pt-BR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quando precisão semântica não é tão importante</a:t>
            </a:r>
            <a:r>
              <a:rPr lang="pt-BR" sz="1350" i="1" spc="-1" dirty="0">
                <a:solidFill>
                  <a:srgbClr val="6E79A0"/>
                </a:solidFill>
                <a:latin typeface="Calibri"/>
                <a:ea typeface="Calibri"/>
              </a:rPr>
              <a:t> mas, o que importa, é velocidade e eficiência computacional (grande volume de dados).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400" i="1" spc="-1" dirty="0">
              <a:solidFill>
                <a:srgbClr val="6E79A0"/>
              </a:solidFill>
              <a:latin typeface="Calibri"/>
              <a:ea typeface="Calibri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1" i="1" spc="-1" dirty="0" err="1">
                <a:solidFill>
                  <a:srgbClr val="FF0000"/>
                </a:solidFill>
                <a:latin typeface="Calibri"/>
                <a:ea typeface="Calibri"/>
              </a:rPr>
              <a:t>Lemmatization</a:t>
            </a:r>
            <a:r>
              <a:rPr lang="pt-BR" sz="1350" b="1" i="1" spc="-1" dirty="0">
                <a:solidFill>
                  <a:srgbClr val="FF0000"/>
                </a:solidFill>
                <a:latin typeface="Calibri"/>
                <a:ea typeface="Calibri"/>
              </a:rPr>
              <a:t>:</a:t>
            </a:r>
            <a:r>
              <a:rPr lang="pt-BR" sz="1350" i="1" spc="-1" dirty="0">
                <a:solidFill>
                  <a:srgbClr val="6E79A0"/>
                </a:solidFill>
                <a:latin typeface="Calibri"/>
                <a:ea typeface="Calibri"/>
              </a:rPr>
              <a:t> favorece análise semântica, de frequência e classificação ao trazer os textos ao seu lema (forma canônica).</a:t>
            </a:r>
            <a:endParaRPr lang="pt-BR" sz="1350" b="0" i="1" strike="noStrike" spc="-1" dirty="0">
              <a:solidFill>
                <a:srgbClr val="6E79A0"/>
              </a:solidFill>
              <a:latin typeface="Calibri"/>
              <a:ea typeface="Calibri"/>
            </a:endParaRP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55C45C09-44F6-FCF5-6BD5-D574108406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636459"/>
              </p:ext>
            </p:extLst>
          </p:nvPr>
        </p:nvGraphicFramePr>
        <p:xfrm>
          <a:off x="7867521" y="1880471"/>
          <a:ext cx="4134234" cy="243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895975" imgH="2438400" progId="Paint.Picture">
                  <p:embed/>
                </p:oleObj>
              </mc:Choice>
              <mc:Fallback>
                <p:oleObj r:id="rId3" imgW="5895975" imgH="2438400" progId="Paint.Picture">
                  <p:embed/>
                  <p:pic>
                    <p:nvPicPr>
                      <p:cNvPr id="32772" name="Objeto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67521" y="1880471"/>
                        <a:ext cx="4134234" cy="2439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6">
            <a:extLst>
              <a:ext uri="{FF2B5EF4-FFF2-40B4-BE49-F238E27FC236}">
                <a16:creationId xmlns:a16="http://schemas.microsoft.com/office/drawing/2014/main" id="{F833ABC2-F475-502B-53B5-869807B040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473913"/>
              </p:ext>
            </p:extLst>
          </p:nvPr>
        </p:nvGraphicFramePr>
        <p:xfrm>
          <a:off x="7867521" y="4300288"/>
          <a:ext cx="4134234" cy="114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00750" imgH="1409700" progId="Paint.Picture">
                  <p:embed/>
                </p:oleObj>
              </mc:Choice>
              <mc:Fallback>
                <p:oleObj r:id="rId5" imgW="6000750" imgH="1409700" progId="Paint.Picture">
                  <p:embed/>
                  <p:pic>
                    <p:nvPicPr>
                      <p:cNvPr id="32773" name="Objeto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67521" y="4300288"/>
                        <a:ext cx="4134234" cy="114257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Stemming vs. Lematização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Qual usar?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3CA4AB9E-AAAF-E353-73AA-E3400DE1ABC4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11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B1FB266A-C30B-EF53-F6CF-782344A30A41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F9D3A4C-192E-9AA2-05A3-DED273CC6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181" y="1645277"/>
            <a:ext cx="7898903" cy="4152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49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Bônus: o que o modelo já reconhece</a:t>
            </a:r>
            <a:endParaRPr lang="pt-BR" sz="2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Antes de qualquer LLM, o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spaCy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já fazia análise gramatical e de entidades.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548640" y="1920240"/>
            <a:ext cx="5440320" cy="2377080"/>
          </a:xfrm>
          <a:prstGeom prst="roundRect">
            <a:avLst>
              <a:gd name="adj" fmla="val 307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82296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POS </a:t>
            </a:r>
            <a:r>
              <a:rPr lang="pt-BR" sz="17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Tagging</a:t>
            </a:r>
            <a:endParaRPr lang="pt-BR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822960" y="24872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Classe gramatical</a:t>
            </a:r>
            <a:r>
              <a:rPr lang="pt-BR" sz="13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de cada palavra: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822960" y="29260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120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"Steve"  → PROPN (nome próprio)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BR" sz="120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"fundou" → VERB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strike="noStrike" spc="-1" dirty="0">
                <a:solidFill>
                  <a:srgbClr val="5A6072"/>
                </a:solidFill>
                <a:latin typeface="Consolas"/>
                <a:ea typeface="Consolas"/>
              </a:rPr>
              <a:t>"em"     → ADP (preposição)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6172200" y="1920240"/>
            <a:ext cx="5440320" cy="23770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6446520" y="208476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7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NER — Entidades Nomeadas</a:t>
            </a:r>
            <a:endParaRPr lang="pt-BR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6446520" y="248724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Reconhece nomes, locais, organizações: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6446520" y="29260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pt-BR" sz="120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"Steve Jobs" → PER (pessoa)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BR" sz="120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"Apple"      → ORG (organização)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strike="noStrike" spc="-1" dirty="0">
                <a:solidFill>
                  <a:srgbClr val="F2B84A"/>
                </a:solidFill>
                <a:latin typeface="Consolas"/>
                <a:ea typeface="Consolas"/>
              </a:rPr>
              <a:t>"Cupertino"  → LOC (local)</a:t>
            </a:r>
            <a:endParaRPr lang="pt-BR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548640" y="45720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NER é muito útil no mundo real: extrair dados de contratos, anonimizar informação sensível, indexar documentos.</a:t>
            </a:r>
            <a:endParaRPr lang="pt-BR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15979648-763B-899A-0681-393553FC9B2D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12</a:t>
            </a:fld>
            <a:endParaRPr lang="pt-BR"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9A13E6F8-A407-5625-431D-E0798184DB3B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1"/>
          <p:cNvSpPr/>
          <p:nvPr/>
        </p:nvSpPr>
        <p:spPr>
          <a:xfrm>
            <a:off x="640080" y="697155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199">
                <a:solidFill>
                  <a:srgbClr val="F2B84A"/>
                </a:solidFill>
                <a:latin typeface="Calibri"/>
                <a:ea typeface="Calibri"/>
              </a:rPr>
              <a:t>O QUE FICA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94360" y="1154355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PLN clássico: estruturar e limpar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3"/>
          <p:cNvSpPr/>
          <p:nvPr/>
        </p:nvSpPr>
        <p:spPr>
          <a:xfrm>
            <a:off x="640080" y="2297355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914400" y="2297355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O pipeline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ler → normalizar → tokenizar → remover stop words → lematizar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5"/>
          <p:cNvSpPr/>
          <p:nvPr/>
        </p:nvSpPr>
        <p:spPr>
          <a:xfrm>
            <a:off x="640080" y="3166035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914400" y="3166035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Com critério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stop words e stemming podem destruir o sentido — cuidado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640080" y="4034715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914400" y="4034715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spaCy faz muito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tokenização, POS, NER e lematização, tudo pronto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40080" y="4903395"/>
            <a:ext cx="10972440" cy="776880"/>
          </a:xfrm>
          <a:prstGeom prst="roundRect">
            <a:avLst>
              <a:gd name="adj" fmla="val 7059"/>
            </a:avLst>
          </a:prstGeom>
          <a:solidFill>
            <a:srgbClr val="141A45"/>
          </a:solidFill>
          <a:ln w="1270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914400" y="4903395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400" b="1" strike="noStrike" spc="-1">
                <a:solidFill>
                  <a:srgbClr val="F2B84A"/>
                </a:solidFill>
                <a:latin typeface="Calibri"/>
              </a:rPr>
              <a:t>Mas, observe que.. </a:t>
            </a:r>
            <a:r>
              <a:rPr lang="pt-BR" sz="1400" b="0" strike="noStrike" spc="-1" dirty="0">
                <a:solidFill>
                  <a:srgbClr val="CADCFC"/>
                </a:solidFill>
                <a:latin typeface="Calibri"/>
              </a:rPr>
              <a:t>quando o destino é um LLM (RAG), a regra se inverte — preserva-se o texto natural. Veremos por quê adiante!</a:t>
            </a:r>
            <a:endParaRPr lang="pt-BR" sz="1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DB491F5C-77A9-D423-A712-82A3F36649C7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13</a:t>
            </a:fld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E76315C-9969-FC6E-D103-CD9A2C969473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dirty="0"/>
              <a:t>Inteligência Artificial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E5C8EC-FFD6-4C5C-9CDF-CB9644FEA90F}"/>
</file>

<file path=customXml/itemProps2.xml><?xml version="1.0" encoding="utf-8"?>
<ds:datastoreItem xmlns:ds="http://schemas.openxmlformats.org/officeDocument/2006/customXml" ds:itemID="{13F5442A-5605-4A5A-A212-F5F3543CF4E9}"/>
</file>

<file path=customXml/itemProps3.xml><?xml version="1.0" encoding="utf-8"?>
<ds:datastoreItem xmlns:ds="http://schemas.openxmlformats.org/officeDocument/2006/customXml" ds:itemID="{EFA99A87-3627-4B1F-96B2-B015AEF2302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844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Inter</vt:lpstr>
      <vt:lpstr>Symbol</vt:lpstr>
      <vt:lpstr>Tahoma</vt:lpstr>
      <vt:lpstr>Times New Roman</vt:lpstr>
      <vt:lpstr>Wingdings</vt:lpstr>
      <vt:lpstr>Office Theme</vt:lpstr>
      <vt:lpstr>Paintbrush 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9</cp:revision>
  <dcterms:modified xsi:type="dcterms:W3CDTF">2026-09-13T23:14:53Z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2026-09-12T03:20:53Z</dcterms:created>
  <dc:creator>PptxGenJS</dc:creator>
  <dc:description/>
  <dc:language>en-US</dc:language>
  <cp:lastModifiedBy>PptxGenJS</cp:lastModifiedBy>
  <dcterms:modified xsi:type="dcterms:W3CDTF">2026-09-12T03:20:53Z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7</vt:r8>
  </property>
  <property fmtid="{D5CDD505-2E9C-101B-9397-08002B2CF9AE}" pid="3" name="PresentationFormat">
    <vt:lpwstr>On-screen Show (16:9)</vt:lpwstr>
  </property>
  <property fmtid="{D5CDD505-2E9C-101B-9397-08002B2CF9AE}" pid="4" name="Slides">
    <vt:r8>7</vt:r8>
  </property>
  <property fmtid="{D5CDD505-2E9C-101B-9397-08002B2CF9AE}" pid="5" name="ContentTypeId">
    <vt:lpwstr>0x01010078A2D2C2733B7342A34F941B973AA6E6</vt:lpwstr>
  </property>
</Properties>
</file>