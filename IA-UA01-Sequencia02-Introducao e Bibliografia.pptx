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42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3204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da aula de fundamentos. Situar: hoje é o mapa dos paradigmas da IA — as diferentes formas de fazer uma máquina resolver o que exigiria inteligência. Do simbólico clássico até a IA Generativa que os alunos usam hoje.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da aula. Os 4 primeiros vêm da tradição (Russell &amp; Norvig). O 5º (Generativo) é o acréscimo que conecta com a ênfase da disciplina e o desafio da API. Cada card vira um slide a seguir.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Paradigma simbólico = regras + inferência. Contraste com o resto: aqui o humano escreve as regras; nos próximos, a máquina aprende dos dados. Bom para explicar por que a IA mudou de abordagem.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ML clássico. Aqui moram função de perda, treino/validação/teste e generalização — os mesmos conceitos que, em escala, treinam um transformer. Fazer essa ponte reduz o salto para LLM depois.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 Learning como PONTE. Não parar no MLP: mencionar embeddings e a intuição de atenção/Transformer. É o elo conceitual que leva do neurônio artificial ao LLM do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Evolucionista = busca/otimização inspirada na evolução. Conecta com 'Outros Tópicos' (busca, otimização). Menos central para GenAI, mas parte legítima do panorama de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NOVO — o paradigma que conecta a aula à ênfase da disciplina e ao desafio da API. Escada de capacidade: LLM (fala) → RAG (sabe do domínio) → Agentes (age no domínio). Amarrar avaliação de saída aqui.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Temas de apoio. Avaliação de modelos foi puxada para cá de propósito: é o que amarra 'analisar e avaliar modelos' (objetivo do plano) tanto no ML clássico quanto na GenAI.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Divisor. A bibliografia foi reorganizada em duas camadas: fundamentos clássicos e a camada moderna (PLN/Transformers/GenAI).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Bibliografia clássica — mesma da versão original, com a edição/ano de Russell &amp; Norvig corrigidos (estava sem no original).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NOVA — camada de bibliografia que faltava no original. Vaswani et al. é o marco dos Transformers; Jurafsky &amp; Martin cobre PLN moderno; Géron é a ponte prática ML→DL; docs das ferramentas dos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594360" y="256667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Introdução e Fundamentos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40080" y="412115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visão geral da IA por seus paradigmas — do simbólico à IA Generativa</a:t>
            </a:r>
            <a:endParaRPr lang="en-US" sz="18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DBF4FD4-6DDC-A705-E4AE-7FFB5CEBC3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02" t="20731" r="18964" b="13989"/>
          <a:stretch/>
        </p:blipFill>
        <p:spPr>
          <a:xfrm>
            <a:off x="735492" y="697733"/>
            <a:ext cx="2923215" cy="16779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F9582FD-19F8-F7A6-272E-FDDC083BC2CF}"/>
              </a:ext>
            </a:extLst>
          </p:cNvPr>
          <p:cNvSpPr txBox="1"/>
          <p:nvPr/>
        </p:nvSpPr>
        <p:spPr>
          <a:xfrm>
            <a:off x="11350604" y="6488113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1</a:t>
            </a:fld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caminhos da IA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17043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várias formas de fazer uma máquina resolver o que exigiria inteligência. Cada paradigma é uma dessas formas.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194560" cy="3566160"/>
          </a:xfrm>
          <a:prstGeom prst="roundRect">
            <a:avLst>
              <a:gd name="adj" fmla="val 3750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860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860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Simbólico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e conhecimento explícito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862072" y="1965960"/>
            <a:ext cx="2194560" cy="3566160"/>
          </a:xfrm>
          <a:prstGeom prst="roundRect">
            <a:avLst>
              <a:gd name="adj" fmla="val 3750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82112" y="22860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182112" y="22860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044952" y="3246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Estatístico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044952" y="411480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padrões de dados (ML)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175504" y="1965960"/>
            <a:ext cx="2194560" cy="3566160"/>
          </a:xfrm>
          <a:prstGeom prst="roundRect">
            <a:avLst>
              <a:gd name="adj" fmla="val 3750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95544" y="22860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495544" y="22860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358384" y="3246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358384" y="411480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profundas (Deep Learning)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488936" y="1965960"/>
            <a:ext cx="2194560" cy="3566160"/>
          </a:xfrm>
          <a:prstGeom prst="roundRect">
            <a:avLst>
              <a:gd name="adj" fmla="val 3750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08976" y="22860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808976" y="22860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671816" y="3246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Evolucionista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671816" y="411480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inspirada na evolução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9802368" y="1965960"/>
            <a:ext cx="2194560" cy="3566160"/>
          </a:xfrm>
          <a:prstGeom prst="roundRect">
            <a:avLst>
              <a:gd name="adj" fmla="val 375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22408" y="2286000"/>
            <a:ext cx="777240" cy="777240"/>
          </a:xfrm>
          <a:prstGeom prst="ellipse">
            <a:avLst/>
          </a:prstGeom>
          <a:solidFill>
            <a:srgbClr val="4F7BE8"/>
          </a:solidFill>
          <a:ln/>
        </p:spPr>
      </p:sp>
      <p:sp>
        <p:nvSpPr>
          <p:cNvPr id="26" name="Text 24"/>
          <p:cNvSpPr/>
          <p:nvPr/>
        </p:nvSpPr>
        <p:spPr>
          <a:xfrm>
            <a:off x="10122408" y="22860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985248" y="3246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Generativo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9985248" y="411480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que criam conteúdo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7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Estes são os paradigmas clássicos de IA segundo Russell &amp; Norvig — acrescido do generativo, que domina a prática atual.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191135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t-BR" sz="1000">
                <a:solidFill>
                  <a:srgbClr val="6E7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</a:t>
            </a:r>
            <a:endParaRPr lang="pt-BR" sz="1000"/>
          </a:p>
        </p:txBody>
      </p:sp>
      <p:sp>
        <p:nvSpPr>
          <p:cNvPr id="33" name="TextBox 8">
            <a:extLst>
              <a:ext uri="{FF2B5EF4-FFF2-40B4-BE49-F238E27FC236}">
                <a16:creationId xmlns:a16="http://schemas.microsoft.com/office/drawing/2014/main" id="{95DA7B80-E124-4DBE-1E45-FA0B94713633}"/>
              </a:ext>
            </a:extLst>
          </p:cNvPr>
          <p:cNvSpPr txBox="1"/>
          <p:nvPr/>
        </p:nvSpPr>
        <p:spPr>
          <a:xfrm>
            <a:off x="11350604" y="6488113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2</a:t>
            </a:fld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4F7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01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Simbólico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6766560" cy="3383280"/>
          </a:xfrm>
          <a:prstGeom prst="roundRect">
            <a:avLst>
              <a:gd name="adj" fmla="val 2162"/>
            </a:avLst>
          </a:prstGeom>
          <a:solidFill>
            <a:srgbClr val="232C6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286000"/>
            <a:ext cx="62179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Baseado em </a:t>
            </a: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explícito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 sistema raciocina sobre regras e fatos que um especialista descreveu.
É a base dos </a:t>
            </a: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Especialistas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IA "simbólica" que dominou as primeiras décadas do campo.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543800" y="2011680"/>
            <a:ext cx="4069080" cy="3383280"/>
          </a:xfrm>
          <a:prstGeom prst="roundRect">
            <a:avLst>
              <a:gd name="adj" fmla="val 2162"/>
            </a:avLst>
          </a:prstGeom>
          <a:solidFill>
            <a:srgbClr val="141A45"/>
          </a:solidFill>
          <a:ln w="12700">
            <a:solidFill>
              <a:srgbClr val="3440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18120" y="2240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9F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55280" y="2697480"/>
            <a:ext cx="3429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CLIPS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JESS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PyKnow (Python)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SINTA</a:t>
            </a:r>
            <a:endParaRPr lang="en-US" sz="1500" dirty="0"/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7D725E02-67BF-8412-7275-A6A5907C9112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119BF5E9-6035-F6AE-4EBA-0CACA4235257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2</a:t>
            </a:fld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4F7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02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Estatístico / Probabilístico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6766560" cy="3383280"/>
          </a:xfrm>
          <a:prstGeom prst="roundRect">
            <a:avLst>
              <a:gd name="adj" fmla="val 2162"/>
            </a:avLst>
          </a:prstGeom>
          <a:solidFill>
            <a:srgbClr val="232C6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286000"/>
            <a:ext cx="62179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coração do </a:t>
            </a: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em vez de programar regras, o sistema aprende padrões a partir de dados.
Estuda os principais algoritmos supervisionados e não supervisionados, com estudos de caso e datasets reais.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543800" y="2011680"/>
            <a:ext cx="4069080" cy="3383280"/>
          </a:xfrm>
          <a:prstGeom prst="roundRect">
            <a:avLst>
              <a:gd name="adj" fmla="val 2162"/>
            </a:avLst>
          </a:prstGeom>
          <a:solidFill>
            <a:srgbClr val="141A45"/>
          </a:solidFill>
          <a:ln w="12700">
            <a:solidFill>
              <a:srgbClr val="3440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18120" y="2240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9F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55280" y="2697480"/>
            <a:ext cx="3429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(Weka — didático)</a:t>
            </a:r>
            <a:endParaRPr lang="en-US" sz="1500" dirty="0"/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AC831900-1F25-0190-0B95-EFEB7E6B4836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AEF3999E-EC70-CF9A-638D-FD42426F92F1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4</a:t>
            </a:fld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4F7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03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(Deep Learning)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6766560" cy="3383280"/>
          </a:xfrm>
          <a:prstGeom prst="roundRect">
            <a:avLst>
              <a:gd name="adj" fmla="val 2162"/>
            </a:avLst>
          </a:prstGeom>
          <a:solidFill>
            <a:srgbClr val="232C6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286000"/>
            <a:ext cx="62179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 </a:t>
            </a: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neurônio artificial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construção de redes neurais profundas, que aprendem representações — não apenas regras.
É daqui que saem os </a:t>
            </a: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e os Transformers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base dos LLMs que vocês usam hoje.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543800" y="2011680"/>
            <a:ext cx="4069080" cy="3383280"/>
          </a:xfrm>
          <a:prstGeom prst="roundRect">
            <a:avLst>
              <a:gd name="adj" fmla="val 2162"/>
            </a:avLst>
          </a:prstGeom>
          <a:solidFill>
            <a:srgbClr val="141A45"/>
          </a:solidFill>
          <a:ln w="12700">
            <a:solidFill>
              <a:srgbClr val="3440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18120" y="2240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9F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55280" y="2697480"/>
            <a:ext cx="3429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</a:t>
            </a:r>
            <a:endParaRPr lang="en-US" sz="1500" dirty="0"/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A8F80B6C-3B90-6DDC-D57D-264D0AE6CFE9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ED336F53-8E83-7114-85CF-3DD9010DF6A3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5</a:t>
            </a:fld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4F7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04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Evolucionista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6766560" cy="3383280"/>
          </a:xfrm>
          <a:prstGeom prst="roundRect">
            <a:avLst>
              <a:gd name="adj" fmla="val 2162"/>
            </a:avLst>
          </a:prstGeom>
          <a:solidFill>
            <a:srgbClr val="232C6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286000"/>
            <a:ext cx="62179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como base conceitual os </a:t>
            </a: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Genéticos (AGs)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
Estuda os conceitos e a estrutura computacional de métodos de busca e otimização inspirados na seleção natural.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543800" y="2011680"/>
            <a:ext cx="4069080" cy="3383280"/>
          </a:xfrm>
          <a:prstGeom prst="roundRect">
            <a:avLst>
              <a:gd name="adj" fmla="val 2162"/>
            </a:avLst>
          </a:prstGeom>
          <a:solidFill>
            <a:srgbClr val="141A45"/>
          </a:solidFill>
          <a:ln w="12700">
            <a:solidFill>
              <a:srgbClr val="3440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18120" y="2240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9F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55280" y="2697480"/>
            <a:ext cx="3429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Cruzamento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Mutação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de aptidão</a:t>
            </a:r>
            <a:endParaRPr lang="en-US" sz="1500" dirty="0"/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71F83FFF-A098-C9C3-6EF0-3D77D08D3E8F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605AA31A-34A8-8A20-376B-F523D0A330E0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6</a:t>
            </a:fld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F2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05 · O FOCO DA DISCIPLINA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Generativa e LLMs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que </a:t>
            </a: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criam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texto, código e imagem. Construídos sobre o paradigma neural, em escala massiva.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232C6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0175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LLMs &amp; Prompting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37490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Tokens, contexto e geração da próxima palavra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25112" y="278892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232C63"/>
          </a:solidFill>
          <a:ln/>
        </p:spPr>
      </p:sp>
      <p:sp>
        <p:nvSpPr>
          <p:cNvPr id="10" name="Text 8"/>
          <p:cNvSpPr/>
          <p:nvPr/>
        </p:nvSpPr>
        <p:spPr>
          <a:xfrm>
            <a:off x="4553712" y="30175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 + RAG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53712" y="37490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 do dado do parceiro e responder fundamentado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01584" y="278892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232C63"/>
          </a:solidFill>
          <a:ln/>
        </p:spPr>
      </p:sp>
      <p:sp>
        <p:nvSpPr>
          <p:cNvPr id="13" name="Text 11"/>
          <p:cNvSpPr/>
          <p:nvPr/>
        </p:nvSpPr>
        <p:spPr>
          <a:xfrm>
            <a:off x="8330184" y="30175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Agentes de IA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330184" y="37490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deixa de só responder e passa a agir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983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Ferramentas: Hugging Face · LangChain · bancos vetoriais · Google ADK</a:t>
            </a:r>
            <a:endParaRPr lang="en-US" sz="1400" dirty="0"/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CF5D12AA-2FB2-7082-5142-835C5F51436F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83AF0F28-D741-51D9-8B39-770B57A93093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7</a:t>
            </a:fld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Outros tópicos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17043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 transversais que também sustentam uma disciplina de IA.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6712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 e Otimização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para encontrar boas soluções em espaços grandes de possibilidades.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216712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Lógica Fuzzy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46520" y="265176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Raciocínio com graus de verdade, além do verdadeiro/falso binário.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04164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Algoritmos Genéticos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22960" y="452628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inspirada na evolução — aprofundam o paradigma evolucionista.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384048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404164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 de Modelos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46520" y="452628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ML e, na GenAI, alucinação, groundedness, custo e latência.</a:t>
            </a:r>
            <a:endParaRPr lang="en-US" sz="1400" dirty="0"/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46384184-E0CF-39B9-08FB-B59E17851787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4A8BE518-F402-577B-C59A-2E8C76CB7627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8</a:t>
            </a:fld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4F7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BIBLIOGRAFIA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94360" y="29260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 principais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931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fundamentos clássicos à era dos modelos de linguagem.</a:t>
            </a:r>
            <a:endParaRPr lang="en-US" sz="1800" dirty="0"/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9F04658C-D4B6-F110-CFFB-045C8201DA13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9113CC6E-F76E-EFB1-9DB5-6B11C2DD34CB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9</a:t>
            </a:fld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clássicos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40680" cy="128016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D8E0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" y="158191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RUSSELL, S.; NORVIG, P.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04672" y="1947672"/>
            <a:ext cx="4983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Artificial: Uma Abordagem Moderna. 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4ª ed., 2022 (EN).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72200" y="1417320"/>
            <a:ext cx="5440680" cy="128016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D8E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28232" y="158191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HAYKIN, S.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28232" y="1947672"/>
            <a:ext cx="4983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Neurais: Princípios e Prática.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5440680" cy="128016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D8E0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09067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BRAGA, A. P. et al.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4672" y="3456432"/>
            <a:ext cx="4983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Neurais Artificiais: Teoria e Aplicações.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2926080"/>
            <a:ext cx="5440680" cy="128016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D8E0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309067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WITTEN, I.; FRANK, E.; HALL, M.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28232" y="3456432"/>
            <a:ext cx="4983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Mining: Practical Machine Learning 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Techniques.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5440680" cy="128016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D8E0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459943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GRUS, J.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04672" y="4965192"/>
            <a:ext cx="4983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do Zero.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72200" y="4434840"/>
            <a:ext cx="5440680" cy="128016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D8E0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28232" y="459943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PROVOST, F.; FAWCETT, T.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28232" y="4965192"/>
            <a:ext cx="4983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para Negócios.</a:t>
            </a:r>
            <a:endParaRPr lang="en-US" sz="1300" dirty="0"/>
          </a:p>
        </p:txBody>
      </p:sp>
      <p:sp>
        <p:nvSpPr>
          <p:cNvPr id="23" name="TextBox 7">
            <a:extLst>
              <a:ext uri="{FF2B5EF4-FFF2-40B4-BE49-F238E27FC236}">
                <a16:creationId xmlns:a16="http://schemas.microsoft.com/office/drawing/2014/main" id="{35993EF8-55B3-C27E-8E8C-A6B8CE8AEDC4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  <p:sp>
        <p:nvSpPr>
          <p:cNvPr id="24" name="TextBox 8">
            <a:extLst>
              <a:ext uri="{FF2B5EF4-FFF2-40B4-BE49-F238E27FC236}">
                <a16:creationId xmlns:a16="http://schemas.microsoft.com/office/drawing/2014/main" id="{1CCE6B4C-2433-5636-2360-FDD779EAE710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10</a:t>
            </a:fld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  <p:pic>
        <p:nvPicPr>
          <p:cNvPr id="25" name="Picture 2" descr="Resultado de imagem para russell norvig capa">
            <a:extLst>
              <a:ext uri="{FF2B5EF4-FFF2-40B4-BE49-F238E27FC236}">
                <a16:creationId xmlns:a16="http://schemas.microsoft.com/office/drawing/2014/main" id="{2E2B1D73-7233-E97B-F1C6-26AC29F2EA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7768" y="1508760"/>
            <a:ext cx="893887" cy="9942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4" descr="Resultado de imagem para witten frank data mining">
            <a:extLst>
              <a:ext uri="{FF2B5EF4-FFF2-40B4-BE49-F238E27FC236}">
                <a16:creationId xmlns:a16="http://schemas.microsoft.com/office/drawing/2014/main" id="{E106137C-2441-5E26-DCD0-EA8247AAC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5549" y="2996304"/>
            <a:ext cx="893887" cy="1102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Imagem 1">
            <a:extLst>
              <a:ext uri="{FF2B5EF4-FFF2-40B4-BE49-F238E27FC236}">
                <a16:creationId xmlns:a16="http://schemas.microsoft.com/office/drawing/2014/main" id="{0A0910A6-EBA1-4288-EF22-47D37EE2A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5259" y="1527126"/>
            <a:ext cx="803275" cy="10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Imagem 2">
            <a:extLst>
              <a:ext uri="{FF2B5EF4-FFF2-40B4-BE49-F238E27FC236}">
                <a16:creationId xmlns:a16="http://schemas.microsoft.com/office/drawing/2014/main" id="{C9691CAD-591E-34E9-5A9D-999718D624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4314" y="2999937"/>
            <a:ext cx="803935" cy="111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Picture 2" descr="Resultado de imagem para joel grus">
            <a:extLst>
              <a:ext uri="{FF2B5EF4-FFF2-40B4-BE49-F238E27FC236}">
                <a16:creationId xmlns:a16="http://schemas.microsoft.com/office/drawing/2014/main" id="{755DE667-F9CB-4FC1-182E-7667E76BE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7582" y="4480560"/>
            <a:ext cx="771154" cy="1188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Picture 2" descr="Resultado de imagem para data science para negocios">
            <a:extLst>
              <a:ext uri="{FF2B5EF4-FFF2-40B4-BE49-F238E27FC236}">
                <a16:creationId xmlns:a16="http://schemas.microsoft.com/office/drawing/2014/main" id="{6C0CEC47-853D-29F2-F37D-B6D2C1AB3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0653" y="4559316"/>
            <a:ext cx="992485" cy="992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Camada moderna — PLN, Transformers e GenAI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 para sustentar a ênfase generativa da disciplina.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1554480"/>
          </a:xfrm>
          <a:prstGeom prst="roundRect">
            <a:avLst>
              <a:gd name="adj" fmla="val 4118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0299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VASWANI, A. et al. (2017)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04672" y="2423160"/>
            <a:ext cx="4983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"Attention Is All You Need" — o artigo que introduz o Transformer.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440680" cy="1554480"/>
          </a:xfrm>
          <a:prstGeom prst="roundRect">
            <a:avLst>
              <a:gd name="adj" fmla="val 4118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28232" y="20299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JURAFSKY, D.; MARTIN, J.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28232" y="2423160"/>
            <a:ext cx="4983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and Language Processing — referência de PLN (ed. atual, cap. de LLMs).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5440680" cy="1554480"/>
          </a:xfrm>
          <a:prstGeom prst="roundRect">
            <a:avLst>
              <a:gd name="adj" fmla="val 4118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8587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GÉRON, A.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04672" y="4251960"/>
            <a:ext cx="4983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Machine Learning with Scikit-Learn, Keras &amp; TensorFlow.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3657600"/>
            <a:ext cx="5440680" cy="1554480"/>
          </a:xfrm>
          <a:prstGeom prst="roundRect">
            <a:avLst>
              <a:gd name="adj" fmla="val 4118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38587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de ferramentas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28232" y="4251960"/>
            <a:ext cx="4983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Face, LangChain e Google ADK — base prática dos laboratórios.</a:t>
            </a:r>
            <a:endParaRPr lang="en-US" sz="1300" dirty="0"/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DD75F9D0-B4DB-D639-F3D5-9B904B8EA13A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C8732B57-676D-D0FF-A527-7FFB32E86A74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11</a:t>
            </a:fld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8A2D2C2733B7342A34F941B973AA6E6" ma:contentTypeVersion="9" ma:contentTypeDescription="Crie um novo documento." ma:contentTypeScope="" ma:versionID="0683c89334ed78834fe33c164e772971">
  <xsd:schema xmlns:xsd="http://www.w3.org/2001/XMLSchema" xmlns:xs="http://www.w3.org/2001/XMLSchema" xmlns:p="http://schemas.microsoft.com/office/2006/metadata/properties" xmlns:ns2="f534e9f2-b7ec-4ccc-a69c-51d3e3635b48" xmlns:ns3="bf55bb95-0e2d-49eb-8730-bda5c0a73d75" targetNamespace="http://schemas.microsoft.com/office/2006/metadata/properties" ma:root="true" ma:fieldsID="b6ff691edaa762fc51b4ef2dd0edebb2" ns2:_="" ns3:_="">
    <xsd:import namespace="f534e9f2-b7ec-4ccc-a69c-51d3e3635b48"/>
    <xsd:import namespace="bf55bb95-0e2d-49eb-8730-bda5c0a73d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34e9f2-b7ec-4ccc-a69c-51d3e3635b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699e888a-e30d-4c0e-bef0-0db25144e5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55bb95-0e2d-49eb-8730-bda5c0a73d7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5afc77d-9220-47df-90d7-402ba00a53d1}" ma:internalName="TaxCatchAll" ma:showField="CatchAllData" ma:web="bf55bb95-0e2d-49eb-8730-bda5c0a73d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f55bb95-0e2d-49eb-8730-bda5c0a73d75" xsi:nil="true"/>
    <lcf76f155ced4ddcb4097134ff3c332f xmlns="f534e9f2-b7ec-4ccc-a69c-51d3e3635b4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65308F5-B9AA-40B5-8919-EA7C5706897C}"/>
</file>

<file path=customXml/itemProps2.xml><?xml version="1.0" encoding="utf-8"?>
<ds:datastoreItem xmlns:ds="http://schemas.openxmlformats.org/officeDocument/2006/customXml" ds:itemID="{F43A62F9-5DF7-4F4A-9005-6C9443EC6203}"/>
</file>

<file path=customXml/itemProps3.xml><?xml version="1.0" encoding="utf-8"?>
<ds:datastoreItem xmlns:ds="http://schemas.openxmlformats.org/officeDocument/2006/customXml" ds:itemID="{D93C91C8-6A43-44A3-AF45-A7AA216AB75A}"/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1112</Words>
  <Application>Microsoft Office PowerPoint</Application>
  <PresentationFormat>Widescreen</PresentationFormat>
  <Paragraphs>143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Inter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JOSE WALMIR GONCALVES DUQUE</cp:lastModifiedBy>
  <cp:revision>3</cp:revision>
  <dcterms:created xsi:type="dcterms:W3CDTF">2026-08-11T01:40:20Z</dcterms:created>
  <dcterms:modified xsi:type="dcterms:W3CDTF">2026-08-11T01:50:21Z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0x01010078A2D2C2733B7342A34F941B973AA6E6</vt:lpwstr>
  </property>
</Properties>
</file>