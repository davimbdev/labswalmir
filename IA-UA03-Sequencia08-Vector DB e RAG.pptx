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B444253-F449-4A91-974C-3845B1F7651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6E6E78-FD9D-4602-97D4-B4BBBDC4A07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DA36B6-5F99-41D9-8B29-09137E5F219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DA36B6-5F99-41D9-8B29-09137E5F219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1410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A2B8D-13E8-48A1-BF73-74F6F373F9D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8342AD-08FA-4E5B-897E-053CA596310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C43271-3202-490F-9827-522E3A4638BD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2A76CA-89B5-4A89-970E-3E2CF97D56F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D5AA38-3693-4F10-8FBB-EA9AE999864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Chroma parte 1: PersistentClient (salva em disco) + embedding function com o modelo do Lab 6. A collection embeda automaticamente — você passa texto, ela gera o vetor. Elo direto com o Lab 6.</a:t>
            </a:r>
          </a:p>
        </p:txBody>
      </p:sp>
      <p:sp>
        <p:nvSpPr>
          <p:cNvPr id="1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EBC785-86D4-44FE-9F9F-1862E89B057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Chroma parte 2: add (documents + ids + metadatas) e query (query_texts + n_results). O Chroma embeda automaticamente nos dois. O query devolve documento + metadados (para citar fonte).</a:t>
            </a:r>
          </a:p>
        </p:txBody>
      </p:sp>
      <p:sp>
        <p:nvSpPr>
          <p:cNvPr id="1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CDE745-8B92-4E0F-B3BB-E577337D53F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579CE2-583A-43E5-B066-D93D70E1C20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RAG com Chroma: o col.query() substitui a busca manual do Lab 6/7 (embeda a pergunta, calcula similaridade, devolve top-k) — tudo em uma linha. O resto (grounding + geração via Groq) é o mesmo do Lab 7.</a:t>
            </a:r>
          </a:p>
        </p:txBody>
      </p:sp>
      <p:sp>
        <p:nvSpPr>
          <p:cNvPr id="1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A61E55-0A75-4604-A1CA-1BFAFB14F8A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Síntese. O rodapé aponta para o deck de RAG/Grounding/Guardrails (para onde movemos retrieval/synthesis/grounding), evitando a redundância. Este deck agora foca em: BD vetorial + ChromaDB + a busca.</a:t>
            </a:r>
          </a:p>
        </p:txBody>
      </p:sp>
      <p:sp>
        <p:nvSpPr>
          <p:cNvPr id="1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F992F6-31D8-49AD-9AAE-CFC1C02D00D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2"/>
          <p:cNvSpPr/>
          <p:nvPr/>
        </p:nvSpPr>
        <p:spPr>
          <a:xfrm>
            <a:off x="692552" y="2120000"/>
            <a:ext cx="73148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Banco de Dados </a:t>
            </a:r>
            <a:r>
              <a:rPr lang="en-US" sz="3400" b="1" strike="noStrike" spc="-1" dirty="0" err="1">
                <a:solidFill>
                  <a:srgbClr val="FFFFFF"/>
                </a:solidFill>
                <a:latin typeface="Cambria"/>
                <a:ea typeface="Cambria"/>
              </a:rPr>
              <a:t>Vetorial</a:t>
            </a:r>
            <a:endParaRPr lang="en-US" sz="3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40080" y="3337560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Guardar embeddings e buscar por significado — com ChromaDB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85E18BB-2753-F73A-6EF3-A3BBC3CB34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é um Banco de Dados Vetorial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Um banco projetado para armazenar e buscar vetores (embeddings) de forma eficiente.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1920240"/>
            <a:ext cx="11063880" cy="127980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868680" y="1920240"/>
            <a:ext cx="1042380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strike="noStrike" spc="-1">
                <a:solidFill>
                  <a:srgbClr val="CADCFC"/>
                </a:solidFill>
                <a:latin typeface="Calibri"/>
              </a:rPr>
              <a:t>Bancos tradicionais buscam por </a:t>
            </a:r>
            <a:r>
              <a:rPr lang="pt-BR" sz="1600" b="1" strike="noStrike" spc="-1">
                <a:solidFill>
                  <a:srgbClr val="FFFFFF"/>
                </a:solidFill>
                <a:latin typeface="Calibri"/>
              </a:rPr>
              <a:t>valor exato</a:t>
            </a:r>
            <a:r>
              <a:rPr lang="pt-BR" sz="1600" b="0" strike="noStrike" spc="-1">
                <a:solidFill>
                  <a:srgbClr val="CADCFC"/>
                </a:solidFill>
                <a:latin typeface="Calibri"/>
              </a:rPr>
              <a:t> (WHERE preço = 100). 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600" b="0" strike="noStrike" spc="-1" dirty="0">
                <a:solidFill>
                  <a:srgbClr val="CADCFC"/>
                </a:solidFill>
                <a:latin typeface="Calibri"/>
              </a:rPr>
              <a:t>O BD vetorial busca por </a:t>
            </a:r>
            <a:r>
              <a:rPr lang="pt-BR" sz="1600" b="1" strike="noStrike" spc="-1" dirty="0">
                <a:solidFill>
                  <a:srgbClr val="F2B84A"/>
                </a:solidFill>
                <a:latin typeface="Calibri"/>
              </a:rPr>
              <a:t>proximidade de significado</a:t>
            </a:r>
            <a:r>
              <a:rPr lang="pt-BR" sz="1600" b="0" strike="noStrike" spc="-1" dirty="0">
                <a:solidFill>
                  <a:srgbClr val="CADCFC"/>
                </a:solidFill>
                <a:latin typeface="Calibri"/>
              </a:rPr>
              <a:t> — "o que se parece com isto?".</a:t>
            </a:r>
            <a:endParaRPr lang="pt-BR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548640" y="3429000"/>
            <a:ext cx="36115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5"/>
          <p:cNvSpPr/>
          <p:nvPr/>
        </p:nvSpPr>
        <p:spPr>
          <a:xfrm>
            <a:off x="548640" y="34290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804600" y="365760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Armazena vetores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804600" y="4343400"/>
            <a:ext cx="3154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embeddings de alta dimensão (texto, imagem, áudio)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8"/>
          <p:cNvSpPr/>
          <p:nvPr/>
        </p:nvSpPr>
        <p:spPr>
          <a:xfrm>
            <a:off x="4325040" y="3429000"/>
            <a:ext cx="36115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9"/>
          <p:cNvSpPr/>
          <p:nvPr/>
        </p:nvSpPr>
        <p:spPr>
          <a:xfrm>
            <a:off x="4325040" y="34290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581000" y="365760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Busca por similaridade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4581000" y="4343400"/>
            <a:ext cx="3154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acha os vetores mais próximos, não os iguais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8101440" y="3429000"/>
            <a:ext cx="3611520" cy="2102760"/>
          </a:xfrm>
          <a:prstGeom prst="roundRect">
            <a:avLst>
              <a:gd name="adj" fmla="val 391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8101440" y="3429000"/>
            <a:ext cx="3611520" cy="109440"/>
          </a:xfrm>
          <a:prstGeom prst="roundRect">
            <a:avLst>
              <a:gd name="adj" fmla="val 16667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8357760" y="365760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E2761"/>
                </a:solidFill>
                <a:latin typeface="Cambria"/>
                <a:ea typeface="Cambria"/>
              </a:rPr>
              <a:t>Rápido em escala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8357760" y="4343400"/>
            <a:ext cx="3154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indexação otimizada para milhões de vetores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82B9A30-FA72-C593-4027-94B92C5F990C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01EC6E6-1CC9-C55E-8C04-F811DBEEFE2D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é um Banco de Dados Vetorial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82B9A30-FA72-C593-4027-94B92C5F990C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01EC6E6-1CC9-C55E-8C04-F811DBEEFE2D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3</a:t>
            </a:fld>
            <a:endParaRPr dirty="0"/>
          </a:p>
        </p:txBody>
      </p:sp>
      <p:pic>
        <p:nvPicPr>
          <p:cNvPr id="16387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04" y="2165722"/>
            <a:ext cx="7948613" cy="3576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1584DC5-8B8F-F21D-549E-6AB77B8769B1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Imagens, texto</a:t>
            </a:r>
            <a:r>
              <a:rPr lang="pt-BR" sz="1500" spc="-1" dirty="0">
                <a:solidFill>
                  <a:srgbClr val="5A6072"/>
                </a:solidFill>
                <a:latin typeface="Calibri"/>
                <a:ea typeface="Calibri"/>
              </a:rPr>
              <a:t>s ou áudios 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são armazenados como Vetores</a:t>
            </a:r>
            <a:endParaRPr lang="pt-BR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35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Como os dados são guardados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Cada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item = um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vetor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+ um ID +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metadados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,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dentro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de </a:t>
            </a:r>
            <a:r>
              <a:rPr lang="en-US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uma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</a:t>
            </a:r>
            <a:r>
              <a:rPr lang="en-US" sz="1500" b="1" strike="noStrike" spc="-1" dirty="0">
                <a:solidFill>
                  <a:srgbClr val="FF0000"/>
                </a:solidFill>
                <a:latin typeface="Calibri"/>
                <a:ea typeface="Calibri"/>
              </a:rPr>
              <a:t>collection</a:t>
            </a:r>
            <a:r>
              <a:rPr lang="en-US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.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548640" y="196596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822960" y="1965960"/>
            <a:ext cx="30171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Vetor (embedding)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3931920" y="1965960"/>
            <a:ext cx="4023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a representação numérica do conteúdo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8046720" y="1965960"/>
            <a:ext cx="33829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onsolas"/>
                <a:ea typeface="Consolas"/>
              </a:rPr>
              <a:t>[0.24, -0.51, 0.88, ...]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7"/>
          <p:cNvSpPr/>
          <p:nvPr/>
        </p:nvSpPr>
        <p:spPr>
          <a:xfrm>
            <a:off x="548640" y="292608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8"/>
          <p:cNvSpPr/>
          <p:nvPr/>
        </p:nvSpPr>
        <p:spPr>
          <a:xfrm>
            <a:off x="548640" y="292608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9"/>
          <p:cNvSpPr/>
          <p:nvPr/>
        </p:nvSpPr>
        <p:spPr>
          <a:xfrm>
            <a:off x="822960" y="2926080"/>
            <a:ext cx="30171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ID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3931920" y="2926080"/>
            <a:ext cx="4023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identificador único do item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8046720" y="2926080"/>
            <a:ext cx="33829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onsolas"/>
                <a:ea typeface="Consolas"/>
              </a:rPr>
              <a:t>"doc_042"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548640" y="388620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F8FAFE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3"/>
          <p:cNvSpPr/>
          <p:nvPr/>
        </p:nvSpPr>
        <p:spPr>
          <a:xfrm>
            <a:off x="548640" y="388620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9B7ED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822960" y="3886200"/>
            <a:ext cx="30171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Payload (metadados)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3931920" y="3886200"/>
            <a:ext cx="4023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dados extras: fonte, página, data...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8046720" y="3886200"/>
            <a:ext cx="33829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onsolas"/>
                <a:ea typeface="Consolas"/>
              </a:rPr>
              <a:t>{"pagina": 7, "autor": "..."}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17"/>
          <p:cNvSpPr/>
          <p:nvPr/>
        </p:nvSpPr>
        <p:spPr>
          <a:xfrm>
            <a:off x="548640" y="4846320"/>
            <a:ext cx="11063880" cy="840960"/>
          </a:xfrm>
          <a:prstGeom prst="roundRect">
            <a:avLst>
              <a:gd name="adj" fmla="val 7609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8"/>
          <p:cNvSpPr/>
          <p:nvPr/>
        </p:nvSpPr>
        <p:spPr>
          <a:xfrm>
            <a:off x="548640" y="4846320"/>
            <a:ext cx="109440" cy="840960"/>
          </a:xfrm>
          <a:prstGeom prst="roundRect">
            <a:avLst>
              <a:gd name="adj" fmla="val 16667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822960" y="4846320"/>
            <a:ext cx="30171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Documento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3931920" y="4846320"/>
            <a:ext cx="40230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5A6072"/>
                </a:solidFill>
                <a:latin typeface="Calibri"/>
                <a:ea typeface="Calibri"/>
              </a:rPr>
              <a:t>o texto original do chunk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8046720" y="4846320"/>
            <a:ext cx="338292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onsolas"/>
                <a:ea typeface="Consolas"/>
              </a:rPr>
              <a:t>"Machine Learning é..."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548640" y="59436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O conjunto de todos esses itens forma uma collection — o "container" do ChromaDB.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F985A106-DB95-DD61-FD0F-6260482A90F3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D32DC8B-389D-A6F0-3614-7FCFBDEF9719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4</a:t>
            </a:fld>
            <a:endParaRPr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FF1AC67-8880-6BB4-2BDF-495F151A5C37}"/>
              </a:ext>
            </a:extLst>
          </p:cNvPr>
          <p:cNvSpPr txBox="1"/>
          <p:nvPr/>
        </p:nvSpPr>
        <p:spPr>
          <a:xfrm>
            <a:off x="799613" y="4451900"/>
            <a:ext cx="306385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O payload é o que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permite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citar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a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fonte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no RAG!</a:t>
            </a:r>
            <a:endParaRPr lang="pt-BR" sz="1050" dirty="0">
              <a:solidFill>
                <a:srgbClr val="FF0000"/>
              </a:solidFill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8FB2B2BE-5DCF-A93C-8D6F-04EC43495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228704"/>
              </p:ext>
            </p:extLst>
          </p:nvPr>
        </p:nvGraphicFramePr>
        <p:xfrm>
          <a:off x="8710424" y="91800"/>
          <a:ext cx="3332344" cy="204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81350" imgH="3009900" progId="Paint.Picture">
                  <p:embed/>
                </p:oleObj>
              </mc:Choice>
              <mc:Fallback>
                <p:oleObj r:id="rId3" imgW="3181350" imgH="3009900" progId="Paint.Picture">
                  <p:embed/>
                  <p:pic>
                    <p:nvPicPr>
                      <p:cNvPr id="2" name="Objeto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10424" y="91800"/>
                        <a:ext cx="3332344" cy="2047501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A OPERAÇÃO CENTRAL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Busca por similaridade</a:t>
            </a:r>
            <a:endParaRPr lang="en-US" sz="3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548640" y="17830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Compara a "distância" entre o vetor da pergunta e os vetores guardados — e devolve os mais próximos.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548640" y="2514600"/>
            <a:ext cx="5486040" cy="3017160"/>
          </a:xfrm>
          <a:prstGeom prst="roundRect">
            <a:avLst>
              <a:gd name="adj" fmla="val 2424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822960" y="26517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97">
                <a:solidFill>
                  <a:srgbClr val="9FBCE8"/>
                </a:solidFill>
                <a:latin typeface="Calibri"/>
                <a:ea typeface="Calibri"/>
              </a:rPr>
              <a:t>no espaço vetorial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2651760" y="3657600"/>
            <a:ext cx="365400" cy="365400"/>
          </a:xfrm>
          <a:prstGeom prst="ellipse">
            <a:avLst/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2286000" y="4041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2B84A"/>
                </a:solidFill>
                <a:latin typeface="Calibri"/>
                <a:ea typeface="Calibri"/>
              </a:rPr>
              <a:t>pergunta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383280" y="3291840"/>
            <a:ext cx="292320" cy="29232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 flipV="1">
            <a:off x="2834640" y="3438000"/>
            <a:ext cx="694800" cy="402480"/>
          </a:xfrm>
          <a:prstGeom prst="line">
            <a:avLst/>
          </a:prstGeom>
          <a:ln w="12700">
            <a:solidFill>
              <a:srgbClr val="49B3A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3291840" y="4114800"/>
            <a:ext cx="292320" cy="29232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2834640" y="3840480"/>
            <a:ext cx="603360" cy="420480"/>
          </a:xfrm>
          <a:prstGeom prst="line">
            <a:avLst/>
          </a:prstGeom>
          <a:ln w="12700">
            <a:solidFill>
              <a:srgbClr val="49B3A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2011680" y="4023360"/>
            <a:ext cx="292320" cy="29232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 flipH="1">
            <a:off x="2157840" y="3840480"/>
            <a:ext cx="676800" cy="329040"/>
          </a:xfrm>
          <a:prstGeom prst="line">
            <a:avLst/>
          </a:prstGeom>
          <a:ln w="12700">
            <a:solidFill>
              <a:srgbClr val="49B3A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3566160" y="30632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49B3A0"/>
                </a:solidFill>
                <a:latin typeface="Calibri"/>
                <a:ea typeface="Calibri"/>
              </a:rPr>
              <a:t>próximos = similares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5120640" y="2926080"/>
            <a:ext cx="273960" cy="273960"/>
          </a:xfrm>
          <a:prstGeom prst="ellipse">
            <a:avLst/>
          </a:prstGeom>
          <a:solidFill>
            <a:srgbClr val="3A47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5394960" y="4937760"/>
            <a:ext cx="273960" cy="273960"/>
          </a:xfrm>
          <a:prstGeom prst="ellipse">
            <a:avLst/>
          </a:prstGeom>
          <a:solidFill>
            <a:srgbClr val="3A47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914400" y="4846320"/>
            <a:ext cx="273960" cy="273960"/>
          </a:xfrm>
          <a:prstGeom prst="ellipse">
            <a:avLst/>
          </a:prstGeom>
          <a:solidFill>
            <a:srgbClr val="3A478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4023360" y="51206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9FBCE8"/>
                </a:solidFill>
                <a:latin typeface="Calibri"/>
                <a:ea typeface="Calibri"/>
              </a:rPr>
              <a:t>distantes = diferentes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6309360" y="2514600"/>
            <a:ext cx="5303160" cy="3017160"/>
          </a:xfrm>
          <a:prstGeom prst="roundRect">
            <a:avLst>
              <a:gd name="adj" fmla="val 2424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6583680" y="269748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Pontos-chave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6583680" y="3108960"/>
            <a:ext cx="47545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A métrica de distância (cosseno, L2) define o que é "próximo"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r>
              <a:rPr lang="en-US" sz="1350" b="0" strike="noStrike" spc="-1">
                <a:solidFill>
                  <a:srgbClr val="CADCFC"/>
                </a:solidFill>
                <a:latin typeface="Calibri"/>
                <a:ea typeface="Calibri"/>
              </a:rPr>
              <a:t>Ela depende do modelo de embedding usado para criar a collection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endParaRPr lang="en-US" sz="1350" b="0" strike="noStrike" spc="-1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F2B84A"/>
                </a:solidFill>
                <a:latin typeface="Calibri"/>
                <a:ea typeface="Calibri"/>
              </a:rPr>
              <a:t>Retorna os top-k mais similares — a base do retrieval no RAG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153C60B-F429-90CD-E295-EE79F794A176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6F5994D9-A9EB-107F-E055-8139D9A04507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57200" y="3474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Bancos de Dados Vetoriais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/>
          <p:cNvSpPr/>
          <p:nvPr/>
        </p:nvSpPr>
        <p:spPr>
          <a:xfrm>
            <a:off x="475560" y="102420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Os principais do mercado — e por que começamos pelo ChromaDB.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hape 2"/>
          <p:cNvSpPr/>
          <p:nvPr/>
        </p:nvSpPr>
        <p:spPr>
          <a:xfrm>
            <a:off x="548640" y="1600200"/>
            <a:ext cx="5120280" cy="416016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3"/>
          <p:cNvSpPr/>
          <p:nvPr/>
        </p:nvSpPr>
        <p:spPr>
          <a:xfrm>
            <a:off x="548640" y="1600200"/>
            <a:ext cx="5120280" cy="145800"/>
          </a:xfrm>
          <a:prstGeom prst="roundRect">
            <a:avLst>
              <a:gd name="adj" fmla="val 18750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4"/>
          <p:cNvSpPr/>
          <p:nvPr/>
        </p:nvSpPr>
        <p:spPr>
          <a:xfrm>
            <a:off x="3703320" y="1920240"/>
            <a:ext cx="1691280" cy="411120"/>
          </a:xfrm>
          <a:prstGeom prst="roundRect">
            <a:avLst>
              <a:gd name="adj" fmla="val 48889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703320" y="192024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E2761"/>
                </a:solidFill>
                <a:latin typeface="Calibri"/>
                <a:ea typeface="Calibri"/>
              </a:rPr>
              <a:t>NOSSO ESCOLHIDO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1051560" y="2103120"/>
            <a:ext cx="456840" cy="45684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1618560" y="2103120"/>
            <a:ext cx="456840" cy="456840"/>
          </a:xfrm>
          <a:prstGeom prst="ellipse">
            <a:avLst/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2185560" y="2103120"/>
            <a:ext cx="456840" cy="456840"/>
          </a:xfrm>
          <a:prstGeom prst="ellipse">
            <a:avLst/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005840" y="2743200"/>
            <a:ext cx="42058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FFFFFF"/>
                </a:solidFill>
                <a:latin typeface="Cambria"/>
                <a:ea typeface="Cambria"/>
              </a:rPr>
              <a:t>ChromaDB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051560" y="342900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F2B84A"/>
                </a:solidFill>
                <a:latin typeface="Calibri"/>
                <a:ea typeface="Calibri"/>
              </a:rPr>
              <a:t>Open-source · roda local · persistente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051560" y="3886200"/>
            <a:ext cx="4205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Um pip install e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funciona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(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sem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conta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/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cartão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)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Salva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em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disco: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indexa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uma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vez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,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usa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sempre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700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Usa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o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modelo</a:t>
            </a:r>
            <a:r>
              <a:rPr lang="en-US" sz="1350" b="0" strike="noStrike" spc="-1" dirty="0">
                <a:solidFill>
                  <a:srgbClr val="CADCFC"/>
                </a:solidFill>
                <a:latin typeface="Calibri"/>
                <a:ea typeface="Calibri"/>
              </a:rPr>
              <a:t> de embedding que </a:t>
            </a:r>
            <a:r>
              <a:rPr lang="en-US" sz="1350" b="0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quiser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2B84A"/>
              </a:buClr>
              <a:buFont typeface="Symbol" charset="2"/>
              <a:buChar char=""/>
            </a:pPr>
            <a:r>
              <a:rPr lang="en-US" sz="1350" b="1" strike="noStrike" spc="-1" dirty="0">
                <a:solidFill>
                  <a:srgbClr val="F2B84A"/>
                </a:solidFill>
                <a:latin typeface="Calibri"/>
                <a:ea typeface="Calibri"/>
              </a:rPr>
              <a:t>Ideal para </a:t>
            </a:r>
            <a:r>
              <a:rPr lang="en-US" sz="1350" b="1" strike="noStrike" spc="-1" dirty="0" err="1">
                <a:solidFill>
                  <a:srgbClr val="F2B84A"/>
                </a:solidFill>
                <a:latin typeface="Calibri"/>
                <a:ea typeface="Calibri"/>
              </a:rPr>
              <a:t>aprender</a:t>
            </a:r>
            <a:r>
              <a:rPr lang="en-US" sz="1350" b="1" strike="noStrike" spc="-1" dirty="0">
                <a:solidFill>
                  <a:srgbClr val="F2B84A"/>
                </a:solidFill>
                <a:latin typeface="Calibri"/>
                <a:ea typeface="Calibri"/>
              </a:rPr>
              <a:t> e para o </a:t>
            </a:r>
            <a:r>
              <a:rPr lang="en-US" sz="1350" b="1" strike="noStrike" spc="-1" dirty="0" err="1">
                <a:solidFill>
                  <a:srgbClr val="F2B84A"/>
                </a:solidFill>
                <a:latin typeface="Calibri"/>
                <a:ea typeface="Calibri"/>
              </a:rPr>
              <a:t>desafio</a:t>
            </a:r>
            <a:r>
              <a:rPr lang="en-US" sz="1350" b="1" strike="noStrike" spc="-1" dirty="0">
                <a:solidFill>
                  <a:srgbClr val="F2B84A"/>
                </a:solidFill>
                <a:latin typeface="Calibri"/>
                <a:ea typeface="Calibri"/>
              </a:rPr>
              <a:t> API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5943600" y="1600200"/>
            <a:ext cx="2788560" cy="1965600"/>
          </a:xfrm>
          <a:prstGeom prst="roundRect">
            <a:avLst>
              <a:gd name="adj" fmla="val 372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144840" y="1801440"/>
            <a:ext cx="502560" cy="502560"/>
          </a:xfrm>
          <a:prstGeom prst="roundRect">
            <a:avLst>
              <a:gd name="adj" fmla="val 21818"/>
            </a:avLst>
          </a:prstGeom>
          <a:solidFill>
            <a:srgbClr val="1C7DD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614484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P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766560" y="18014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Pinecone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766560" y="2103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C7DD4"/>
                </a:solidFill>
                <a:latin typeface="Calibri"/>
                <a:ea typeface="Calibri"/>
              </a:rPr>
              <a:t>Gerenciado na nuvem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144840" y="2423160"/>
            <a:ext cx="23860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072"/>
                </a:solidFill>
                <a:latin typeface="Calibri"/>
                <a:ea typeface="Calibri"/>
              </a:rPr>
              <a:t>Simples e escalável; pago por uso. Forte em produção.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915400" y="1600200"/>
            <a:ext cx="2788560" cy="1965600"/>
          </a:xfrm>
          <a:prstGeom prst="roundRect">
            <a:avLst>
              <a:gd name="adj" fmla="val 372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9116640" y="1801440"/>
            <a:ext cx="502560" cy="502560"/>
          </a:xfrm>
          <a:prstGeom prst="roundRect">
            <a:avLst>
              <a:gd name="adj" fmla="val 21818"/>
            </a:avLst>
          </a:prstGeom>
          <a:solidFill>
            <a:srgbClr val="3B599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9116640" y="1801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F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9738360" y="18014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FAISS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9738360" y="21031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3B5998"/>
                </a:solidFill>
                <a:latin typeface="Calibri"/>
                <a:ea typeface="Calibri"/>
              </a:rPr>
              <a:t>Biblioteca (Meta AI)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9116640" y="2423160"/>
            <a:ext cx="23860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072"/>
                </a:solidFill>
                <a:latin typeface="Calibri"/>
                <a:ea typeface="Calibri"/>
              </a:rPr>
              <a:t>Busca vetorial de alta performance; sem servidor próprio.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5943600" y="3794760"/>
            <a:ext cx="2788560" cy="1965600"/>
          </a:xfrm>
          <a:prstGeom prst="roundRect">
            <a:avLst>
              <a:gd name="adj" fmla="val 372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6144840" y="3996000"/>
            <a:ext cx="502560" cy="502560"/>
          </a:xfrm>
          <a:prstGeom prst="roundRect">
            <a:avLst>
              <a:gd name="adj" fmla="val 21818"/>
            </a:avLst>
          </a:prstGeom>
          <a:solidFill>
            <a:srgbClr val="D6336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6144840" y="3996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Q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766560" y="39960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Qdrant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6766560" y="4297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D6336C"/>
                </a:solidFill>
                <a:latin typeface="Calibri"/>
                <a:ea typeface="Calibri"/>
              </a:rPr>
              <a:t>Open-source + nuvem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144840" y="4617720"/>
            <a:ext cx="23860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072"/>
                </a:solidFill>
                <a:latin typeface="Calibri"/>
                <a:ea typeface="Calibri"/>
              </a:rPr>
              <a:t>Busca híbrida (vetor + filtro por atributo); em Rust.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30"/>
          <p:cNvSpPr/>
          <p:nvPr/>
        </p:nvSpPr>
        <p:spPr>
          <a:xfrm>
            <a:off x="8915400" y="3794760"/>
            <a:ext cx="2788560" cy="1965600"/>
          </a:xfrm>
          <a:prstGeom prst="roundRect">
            <a:avLst>
              <a:gd name="adj" fmla="val 3721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9116640" y="3996000"/>
            <a:ext cx="502560" cy="502560"/>
          </a:xfrm>
          <a:prstGeom prst="roundRect">
            <a:avLst>
              <a:gd name="adj" fmla="val 21818"/>
            </a:avLst>
          </a:prstGeom>
          <a:solidFill>
            <a:srgbClr val="1AA68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9116640" y="3996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W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9738360" y="39960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Weaviate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9738360" y="42976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A683"/>
                </a:solidFill>
                <a:latin typeface="Calibri"/>
                <a:ea typeface="Calibri"/>
              </a:rPr>
              <a:t>Open-source + nuvem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9116640" y="4617720"/>
            <a:ext cx="23860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5A6072"/>
                </a:solidFill>
                <a:latin typeface="Calibri"/>
                <a:ea typeface="Calibri"/>
              </a:rPr>
              <a:t>Módulos de ML embutidos; GraphQL. Forte em escala.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36"/>
          <p:cNvSpPr/>
          <p:nvPr/>
        </p:nvSpPr>
        <p:spPr>
          <a:xfrm>
            <a:off x="548640" y="5897880"/>
            <a:ext cx="11063880" cy="502560"/>
          </a:xfrm>
          <a:prstGeom prst="roundRect">
            <a:avLst>
              <a:gd name="adj" fmla="val 10909"/>
            </a:avLst>
          </a:prstGeom>
          <a:solidFill>
            <a:srgbClr val="FDF4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37"/>
          <p:cNvSpPr/>
          <p:nvPr/>
        </p:nvSpPr>
        <p:spPr>
          <a:xfrm>
            <a:off x="822960" y="589788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9A6B00"/>
                </a:solidFill>
                <a:latin typeface="Calibri"/>
              </a:rPr>
              <a:t>Regra prática:  </a:t>
            </a:r>
            <a:r>
              <a:rPr lang="en-US" sz="1250" b="0" strike="noStrike" spc="-1">
                <a:solidFill>
                  <a:srgbClr val="5A6072"/>
                </a:solidFill>
                <a:latin typeface="Calibri"/>
              </a:rPr>
              <a:t>para aprender e prototipar → ChromaDB (local, grátis). Para produção em escala → os gerenciados (Pinecone, Qdrant, Weaviate).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BECFDE-F3D5-05BB-9AD1-E1C063721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962" y="2680675"/>
            <a:ext cx="1042665" cy="6795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4F6BEB4-CED4-7655-8BF3-AD6401873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736" y="3159713"/>
            <a:ext cx="1238306" cy="315007"/>
          </a:xfrm>
          <a:prstGeom prst="rect">
            <a:avLst/>
          </a:prstGeom>
        </p:spPr>
      </p:pic>
      <p:pic>
        <p:nvPicPr>
          <p:cNvPr id="45" name="Imagem 44">
            <a:extLst>
              <a:ext uri="{FF2B5EF4-FFF2-40B4-BE49-F238E27FC236}">
                <a16:creationId xmlns:a16="http://schemas.microsoft.com/office/drawing/2014/main" id="{0772D100-0892-3490-3970-08FB29CC1A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2824" y="3009273"/>
            <a:ext cx="913712" cy="447338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6536E025-26B7-51C9-05C7-49DFE769F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736" y="5153984"/>
            <a:ext cx="1252226" cy="419611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24C8C489-5549-B5A6-AD29-4407E271B6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482" y="5125796"/>
            <a:ext cx="875707" cy="5483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O NOSSO ESCOLHIDO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ChromaDB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Open-source, roda local, feito para começar rápido — ideal para o projeto.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8D97608-FB67-C2AA-DBD4-5FA6FE235B98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18FC4AB-2B51-AC19-B2F2-6E23B7BFC9E5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7</a:t>
            </a:fld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9B075E-8A24-6B9C-DF9E-499AB9B65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9974" y="2971800"/>
            <a:ext cx="1042665" cy="679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Por que ChromaDB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Um BD vetorial open-source, simples de usar e que roda na sua máquina.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"/>
          <p:cNvSpPr/>
          <p:nvPr/>
        </p:nvSpPr>
        <p:spPr>
          <a:xfrm>
            <a:off x="548640" y="1965960"/>
            <a:ext cx="5394600" cy="1371240"/>
          </a:xfrm>
          <a:prstGeom prst="roundRect">
            <a:avLst>
              <a:gd name="adj" fmla="val 5333"/>
            </a:avLst>
          </a:prstGeom>
          <a:solidFill>
            <a:srgbClr val="FDF6E7"/>
          </a:solidFill>
          <a:ln w="19050">
            <a:solidFill>
              <a:srgbClr val="F2B8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822960" y="21672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Open-source e grátis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822960" y="2624400"/>
            <a:ext cx="4891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sem custo, sem cadastro, sem cartão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5"/>
          <p:cNvSpPr/>
          <p:nvPr/>
        </p:nvSpPr>
        <p:spPr>
          <a:xfrm>
            <a:off x="6172200" y="1965960"/>
            <a:ext cx="5394600" cy="1371240"/>
          </a:xfrm>
          <a:prstGeom prst="roundRect">
            <a:avLst>
              <a:gd name="adj" fmla="val 5333"/>
            </a:avLst>
          </a:prstGeom>
          <a:solidFill>
            <a:srgbClr val="FDF6E7"/>
          </a:solidFill>
          <a:ln w="19050">
            <a:solidFill>
              <a:srgbClr val="F2B8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6446520" y="21672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Roda local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7"/>
          <p:cNvSpPr/>
          <p:nvPr/>
        </p:nvSpPr>
        <p:spPr>
          <a:xfrm>
            <a:off x="6446520" y="2624400"/>
            <a:ext cx="4891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um pip install e funciona — ótimo para aprender e prototipar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548640" y="3566160"/>
            <a:ext cx="5394600" cy="1371240"/>
          </a:xfrm>
          <a:prstGeom prst="roundRect">
            <a:avLst>
              <a:gd name="adj" fmla="val 5333"/>
            </a:avLst>
          </a:prstGeom>
          <a:solidFill>
            <a:srgbClr val="FDF6E7"/>
          </a:solidFill>
          <a:ln w="19050">
            <a:solidFill>
              <a:srgbClr val="F2B8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822960" y="37674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Persistente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822960" y="4224600"/>
            <a:ext cx="4891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salva em disco: indexa uma vez, usa sempre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6172200" y="3566160"/>
            <a:ext cx="5394600" cy="1371240"/>
          </a:xfrm>
          <a:prstGeom prst="roundRect">
            <a:avLst>
              <a:gd name="adj" fmla="val 5333"/>
            </a:avLst>
          </a:prstGeom>
          <a:solidFill>
            <a:srgbClr val="FDF6E7"/>
          </a:solidFill>
          <a:ln w="19050">
            <a:solidFill>
              <a:srgbClr val="F2B8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6446520" y="376740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Embedding flexível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6446520" y="4224600"/>
            <a:ext cx="4891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usa o modelo que você quiser (ex.: o sentence-transformers do Lab 6)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548640" y="52578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Outros BDs (Pinecone, Qdrant, FAISS) são ótimos em produção/escala — mas para aprender e construir o desafio, o Chroma é o caminho mais rápido.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B437D028-CFD0-5A40-5700-A72C76E8C53C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A0BF5EBB-C2E1-15D0-D65C-85612FBFF18A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8</a:t>
            </a:fld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B720A6-7BB8-5686-643C-7CF1A37AA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87" y="382377"/>
            <a:ext cx="1042665" cy="679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ChromaDB na prática (1/2)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Instalar, criar o cliente persistente e uma collection.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548640" y="1874520"/>
            <a:ext cx="6674760" cy="3291480"/>
          </a:xfrm>
          <a:prstGeom prst="roundRect">
            <a:avLst>
              <a:gd name="adj" fmla="val 1667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749880" y="2011680"/>
            <a:ext cx="627228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instalar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pip install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chromadb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sentence-transformers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chromadb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chromadb.utils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embedding_functions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cliente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que SALVA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em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disco (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persistente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)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client =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chromadb.PersistentClient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(path=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"./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meu_db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"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#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pode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usar o MESMO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modelo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que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já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usamos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anteriormente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para </a:t>
            </a:r>
            <a:r>
              <a:rPr lang="en-US" sz="1150" b="0" strike="noStrike" spc="-1" dirty="0" err="1">
                <a:solidFill>
                  <a:srgbClr val="6E79A0"/>
                </a:solidFill>
                <a:latin typeface="Consolas"/>
                <a:ea typeface="Consolas"/>
              </a:rPr>
              <a:t>os</a:t>
            </a:r>
            <a:r>
              <a:rPr lang="en-US" sz="1150" b="0" strike="noStrike" spc="-1" dirty="0">
                <a:solidFill>
                  <a:srgbClr val="6E79A0"/>
                </a:solidFill>
                <a:latin typeface="Consolas"/>
                <a:ea typeface="Consolas"/>
              </a:rPr>
              <a:t> embeddings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emb_fn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 = </a:t>
            </a:r>
            <a:r>
              <a:rPr lang="en-US" sz="1150" b="0" strike="noStrike" spc="-1" dirty="0" err="1">
                <a:solidFill>
                  <a:srgbClr val="CADCFC"/>
                </a:solidFill>
                <a:latin typeface="Consolas"/>
                <a:ea typeface="Consolas"/>
              </a:rPr>
              <a:t>embedding_functions.SentenceTransformerEmbeddingFunction</a:t>
            </a:r>
            <a:r>
              <a:rPr lang="en-US" sz="1150" b="0" strike="noStrike" spc="-1" dirty="0">
                <a:solidFill>
                  <a:srgbClr val="CADCFC"/>
                </a:solidFill>
                <a:latin typeface="Consolas"/>
                <a:ea typeface="Consolas"/>
              </a:rPr>
              <a:t>(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    </a:t>
            </a:r>
            <a:r>
              <a:rPr lang="en-US" sz="1150" b="0" strike="noStrike" spc="-1" dirty="0" err="1">
                <a:solidFill>
                  <a:srgbClr val="7FD1A8"/>
                </a:solidFill>
                <a:latin typeface="Consolas"/>
                <a:ea typeface="Consolas"/>
              </a:rPr>
              <a:t>model_name</a:t>
            </a:r>
            <a:r>
              <a:rPr lang="en-US" sz="1150" b="0" strike="noStrike" spc="-1" dirty="0">
                <a:solidFill>
                  <a:srgbClr val="7FD1A8"/>
                </a:solidFill>
                <a:latin typeface="Consolas"/>
                <a:ea typeface="Consolas"/>
              </a:rPr>
              <a:t>="paraphrase-multilingual-MiniLM-L12-v2")</a:t>
            </a: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7452360" y="1874520"/>
            <a:ext cx="4160160" cy="3291480"/>
          </a:xfrm>
          <a:prstGeom prst="roundRect">
            <a:avLst>
              <a:gd name="adj" fmla="val 2222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7726680" y="20574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Criar a collection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7635240" y="2514600"/>
            <a:ext cx="3840120" cy="2468520"/>
          </a:xfrm>
          <a:prstGeom prst="roundRect">
            <a:avLst>
              <a:gd name="adj" fmla="val 2222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7836480" y="2651760"/>
            <a:ext cx="343764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col = client.\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get_or_create_collection(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    name="curso_ia",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embedding_function=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  emb_fn)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a collection já sabe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como embedar sozinha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43975E26-3DFE-0710-6A57-4D2A4FD129C0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EB8B2D8-1670-29E0-7AF4-7B4DD33FCA55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9</a:t>
            </a:fld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F75DABE-1882-2956-9EAB-3348E948E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019" y="473817"/>
            <a:ext cx="1042665" cy="679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ChromaDB na prática (2/2)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Adicionar documentos e consultar por similaridade.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548640" y="1874520"/>
            <a:ext cx="11063880" cy="2011320"/>
          </a:xfrm>
          <a:prstGeom prst="roundRect">
            <a:avLst>
              <a:gd name="adj" fmla="val 2727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749880" y="2011680"/>
            <a:ext cx="1066140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ADICIONAR — o Chroma gera o embedding automaticamente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col.add(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documents=[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"Machine Learning aprende padrões de dados", ...],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ids=[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"doc_1", "doc_2", "doc_3"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],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metadatas=[{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"pagina": 1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}, {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"pagina": 2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}, ...]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payload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48640" y="4023360"/>
            <a:ext cx="11063880" cy="1737000"/>
          </a:xfrm>
          <a:prstGeom prst="roundRect">
            <a:avLst>
              <a:gd name="adj" fmla="val 3158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749880" y="4160520"/>
            <a:ext cx="106614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CONSULTAR — passa o texto da pergunta, recebe os mais próximos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resultado = col.query(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query_texts=[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"O que é aprendizado de máquina?"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],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n_results=</a:t>
            </a:r>
            <a:r>
              <a:rPr lang="en-US" sz="1150" b="0" strike="noStrike" spc="-1">
                <a:solidFill>
                  <a:srgbClr val="7FB4F0"/>
                </a:solidFill>
                <a:latin typeface="Consolas"/>
                <a:ea typeface="Consolas"/>
              </a:rPr>
              <a:t>3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)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top-3 chunks mais similares (com documento + metadados)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FDCDBF5-6B65-96DC-4B33-9A5DFBAE8813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BA24517E-12A3-72B3-167C-9EC332BE6967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10</a:t>
            </a:fld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DC6BA3F-B65A-CFD5-5127-481D396C5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470" y="510796"/>
            <a:ext cx="1042665" cy="6795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JUNTANDO TUDO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strike="noStrike" spc="-1">
                <a:solidFill>
                  <a:srgbClr val="FFFFFF"/>
                </a:solidFill>
                <a:latin typeface="Cambria"/>
                <a:ea typeface="Cambria"/>
              </a:rPr>
              <a:t>RAG com ChromaDB</a:t>
            </a:r>
            <a:endParaRPr lang="en-US" sz="3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O Chroma faz a recuperação; o LLM gera a resposta fundamentada.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1E85087-57A8-00EA-36B9-EEA5B7BF8D87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E78902A-ABE7-94C2-EF43-698A4F258E7C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11</a:t>
            </a:fld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A244E1-DE7B-8700-C119-097034781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647" y="2997597"/>
            <a:ext cx="1042665" cy="679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strike="noStrike" spc="-1">
                <a:solidFill>
                  <a:srgbClr val="1E2761"/>
                </a:solidFill>
                <a:latin typeface="Cambria"/>
                <a:ea typeface="Cambria"/>
              </a:rPr>
              <a:t>RAG com ChromaDB</a:t>
            </a:r>
            <a:endParaRPr lang="en-US" sz="2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75560" y="111564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O Chroma substitui a busca manual — o resto do RAG é o mesmo.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548640" y="1874520"/>
            <a:ext cx="3382920" cy="137124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548640" y="1874520"/>
            <a:ext cx="3382920" cy="91080"/>
          </a:xfrm>
          <a:prstGeom prst="roundRect">
            <a:avLst>
              <a:gd name="adj" fmla="val 20000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77724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Indexar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777240" y="2450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F7BE8"/>
                </a:solidFill>
                <a:latin typeface="Consolas"/>
                <a:ea typeface="Consolas"/>
              </a:rPr>
              <a:t>col.add(documentos)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777240" y="28162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1 vez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7"/>
          <p:cNvSpPr/>
          <p:nvPr/>
        </p:nvSpPr>
        <p:spPr>
          <a:xfrm>
            <a:off x="3794760" y="1874520"/>
            <a:ext cx="3196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4251960" y="1874520"/>
            <a:ext cx="3382920" cy="137124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9"/>
          <p:cNvSpPr/>
          <p:nvPr/>
        </p:nvSpPr>
        <p:spPr>
          <a:xfrm>
            <a:off x="4251960" y="1874520"/>
            <a:ext cx="3382920" cy="91080"/>
          </a:xfrm>
          <a:prstGeom prst="roundRect">
            <a:avLst>
              <a:gd name="adj" fmla="val 20000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448056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Recuperar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1"/>
          <p:cNvSpPr/>
          <p:nvPr/>
        </p:nvSpPr>
        <p:spPr>
          <a:xfrm>
            <a:off x="4480560" y="2450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49B3A0"/>
                </a:solidFill>
                <a:latin typeface="Consolas"/>
                <a:ea typeface="Consolas"/>
              </a:rPr>
              <a:t>col.query(pergunta)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12"/>
          <p:cNvSpPr/>
          <p:nvPr/>
        </p:nvSpPr>
        <p:spPr>
          <a:xfrm>
            <a:off x="4480560" y="28162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por pergunta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7498080" y="1874520"/>
            <a:ext cx="3196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4F7BE8"/>
                </a:solidFill>
                <a:latin typeface="Calibri"/>
                <a:ea typeface="Calibri"/>
              </a:rPr>
              <a:t>→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4"/>
          <p:cNvSpPr/>
          <p:nvPr/>
        </p:nvSpPr>
        <p:spPr>
          <a:xfrm>
            <a:off x="7955280" y="1874520"/>
            <a:ext cx="3382920" cy="1371240"/>
          </a:xfrm>
          <a:prstGeom prst="roundRect">
            <a:avLst>
              <a:gd name="adj" fmla="val 5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5"/>
          <p:cNvSpPr/>
          <p:nvPr/>
        </p:nvSpPr>
        <p:spPr>
          <a:xfrm>
            <a:off x="7955280" y="1874520"/>
            <a:ext cx="3382920" cy="91080"/>
          </a:xfrm>
          <a:prstGeom prst="roundRect">
            <a:avLst>
              <a:gd name="adj" fmla="val 20000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0" rIns="90000" bIns="36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6"/>
          <p:cNvSpPr/>
          <p:nvPr/>
        </p:nvSpPr>
        <p:spPr>
          <a:xfrm>
            <a:off x="8183880" y="2030040"/>
            <a:ext cx="2925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Gerar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7"/>
          <p:cNvSpPr/>
          <p:nvPr/>
        </p:nvSpPr>
        <p:spPr>
          <a:xfrm>
            <a:off x="8183880" y="24505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F2B84A"/>
                </a:solidFill>
                <a:latin typeface="Consolas"/>
                <a:ea typeface="Consolas"/>
              </a:rPr>
              <a:t>LLM + contexto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8183880" y="28162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por pergunta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19"/>
          <p:cNvSpPr/>
          <p:nvPr/>
        </p:nvSpPr>
        <p:spPr>
          <a:xfrm>
            <a:off x="548640" y="3520440"/>
            <a:ext cx="11063880" cy="2239920"/>
          </a:xfrm>
          <a:prstGeom prst="roundRect">
            <a:avLst>
              <a:gd name="adj" fmla="val 2449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749880" y="3657600"/>
            <a:ext cx="1066140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50" b="0" strike="noStrike" spc="-1">
                <a:solidFill>
                  <a:srgbClr val="C79BF0"/>
                </a:solidFill>
                <a:latin typeface="Consolas"/>
                <a:ea typeface="Consolas"/>
              </a:rPr>
              <a:t>def 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responder(pergunta):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    # 1. RECUPERAR — o Chroma busca e já devolve o texto + metadados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res = col.query(query_texts=[pergunta], n_results=</a:t>
            </a:r>
            <a:r>
              <a:rPr lang="en-US" sz="1150" b="0" strike="noStrike" spc="-1">
                <a:solidFill>
                  <a:srgbClr val="7FB4F0"/>
                </a:solidFill>
                <a:latin typeface="Consolas"/>
                <a:ea typeface="Consolas"/>
              </a:rPr>
              <a:t>3</a:t>
            </a:r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contexto = 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"\n".join(res["documents"][0])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    # 2. GERAR — monta o prompt com grounding e chama o LLM (Groq, Lab 7)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prompt = f</a:t>
            </a:r>
            <a:r>
              <a:rPr lang="en-US" sz="1150" b="0" strike="noStrike" spc="-1">
                <a:solidFill>
                  <a:srgbClr val="7FD1A8"/>
                </a:solidFill>
                <a:latin typeface="Consolas"/>
                <a:ea typeface="Consolas"/>
              </a:rPr>
              <a:t>"Responda usando só o contexto:\n{contexto}\n\nPergunta: {pergunta}"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150" b="0" strike="noStrike" spc="-1">
                <a:solidFill>
                  <a:srgbClr val="CADCFC"/>
                </a:solidFill>
                <a:latin typeface="Consolas"/>
                <a:ea typeface="Consolas"/>
              </a:rPr>
              <a:t>    return client_groq.chat.completions.create(...)   </a:t>
            </a:r>
            <a:r>
              <a:rPr lang="en-US" sz="1150" b="0" strike="noStrike" spc="-1">
                <a:solidFill>
                  <a:srgbClr val="6E79A0"/>
                </a:solidFill>
                <a:latin typeface="Consolas"/>
                <a:ea typeface="Consolas"/>
              </a:rPr>
              <a:t># ver Lab 7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FD5C8C6-6A4B-D3FD-6C72-EEDB5AD12F70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3BE12BD3-6E66-D41A-0CDB-326CBD1245E5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12</a:t>
            </a:fld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5C682F0-BA26-AE52-146F-65239F5E0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440" y="457193"/>
            <a:ext cx="1042665" cy="6795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1"/>
          <p:cNvSpPr/>
          <p:nvPr/>
        </p:nvSpPr>
        <p:spPr>
          <a:xfrm>
            <a:off x="640080" y="666473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199" dirty="0">
                <a:solidFill>
                  <a:srgbClr val="F2B84A"/>
                </a:solidFill>
                <a:latin typeface="Calibri"/>
                <a:ea typeface="Calibri"/>
              </a:rPr>
              <a:t>O QUE FICA, RESUMINDO..</a:t>
            </a:r>
            <a:endParaRPr lang="en-US" sz="1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594360" y="1123673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BD Vetorial + ChromaDB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640080" y="2266673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914400" y="2266673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BD Vetorial 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guarda vetores e busca por similaridade (não por valor exato)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640080" y="3135353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914400" y="3135353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Estrutura 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vetor + ID + payload + documento, numa collection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640080" y="4004033"/>
            <a:ext cx="10972440" cy="749520"/>
          </a:xfrm>
          <a:prstGeom prst="roundRect">
            <a:avLst>
              <a:gd name="adj" fmla="val 7317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914400" y="4004033"/>
            <a:ext cx="104238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2B84A"/>
                </a:solidFill>
                <a:latin typeface="Calibri"/>
              </a:rPr>
              <a:t>ChromaDB   </a:t>
            </a:r>
            <a:r>
              <a:rPr lang="en-US" sz="1400" b="0" strike="noStrike" spc="-1">
                <a:solidFill>
                  <a:srgbClr val="CADCFC"/>
                </a:solidFill>
                <a:latin typeface="Calibri"/>
              </a:rPr>
              <a:t>local, grátis, persistente — add() e query() resolvem o RAG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9"/>
          <p:cNvSpPr/>
          <p:nvPr/>
        </p:nvSpPr>
        <p:spPr>
          <a:xfrm>
            <a:off x="640080" y="4872713"/>
            <a:ext cx="10972440" cy="776880"/>
          </a:xfrm>
          <a:prstGeom prst="roundRect">
            <a:avLst>
              <a:gd name="adj" fmla="val 7059"/>
            </a:avLst>
          </a:prstGeom>
          <a:solidFill>
            <a:srgbClr val="141A45"/>
          </a:solidFill>
          <a:ln w="12700">
            <a:solidFill>
              <a:srgbClr val="34407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914400" y="4872713"/>
            <a:ext cx="104238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2B84A"/>
                </a:solidFill>
                <a:latin typeface="Calibri"/>
              </a:rPr>
              <a:t>Grounding e guardrails:  </a:t>
            </a:r>
            <a:r>
              <a:rPr lang="en-US" sz="1350" b="0" strike="noStrike" spc="-1">
                <a:solidFill>
                  <a:srgbClr val="CADCFC"/>
                </a:solidFill>
                <a:latin typeface="Calibri"/>
              </a:rPr>
              <a:t>como tornar a resposta confiável e segura é tema do deck "RAG, Grounding e Guardrails". Aqui focamos no armazenamento e na busca.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317A4B4-A58F-A920-9C36-22CB082D589E}"/>
              </a:ext>
            </a:extLst>
          </p:cNvPr>
          <p:cNvSpPr txBox="1"/>
          <p:nvPr/>
        </p:nvSpPr>
        <p:spPr>
          <a:xfrm>
            <a:off x="546924" y="6496525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9B39B924-8B5E-52F5-0179-977006A71BEB}"/>
              </a:ext>
            </a:extLst>
          </p:cNvPr>
          <p:cNvSpPr txBox="1"/>
          <p:nvPr/>
        </p:nvSpPr>
        <p:spPr>
          <a:xfrm>
            <a:off x="10919892" y="6535368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>
              <a:defRPr sz="900">
                <a:solidFill>
                  <a:srgbClr val="94A3B8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Slide </a:t>
            </a:r>
            <a:fld id="{7290D235-C2D4-4290-85EC-134EBAF84FCB}" type="slidenum">
              <a:rPr lang="pt-BR"/>
              <a:pPr/>
              <a:t>13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B378E15-7BD7-441B-8238-6986143A0F45}"/>
</file>

<file path=customXml/itemProps2.xml><?xml version="1.0" encoding="utf-8"?>
<ds:datastoreItem xmlns:ds="http://schemas.openxmlformats.org/officeDocument/2006/customXml" ds:itemID="{CA0B7646-DAD7-4EBB-8A41-B5FAEE9A8061}"/>
</file>

<file path=customXml/itemProps3.xml><?xml version="1.0" encoding="utf-8"?>
<ds:datastoreItem xmlns:ds="http://schemas.openxmlformats.org/officeDocument/2006/customXml" ds:itemID="{F152C5C1-EF75-43BE-A592-036EF9B0AB6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1311</Words>
  <Application>Microsoft Office PowerPoint</Application>
  <PresentationFormat>Widescreen</PresentationFormat>
  <Paragraphs>186</Paragraphs>
  <Slides>13</Slides>
  <Notes>13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Paintbrush Picture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5</cp:revision>
  <dcterms:modified xsi:type="dcterms:W3CDTF">2026-10-05T23:22:43Z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2026-09-23T00:49:50Z</dcterms:created>
  <dc:creator>PptxGenJS</dc:creator>
  <dc:description/>
  <dc:language>en-US</dc:language>
  <cp:lastModifiedBy>PptxGenJS</cp:lastModifiedBy>
  <dcterms:modified xsi:type="dcterms:W3CDTF">2026-09-23T00:49:50Z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  <property fmtid="{D5CDD505-2E9C-101B-9397-08002B2CF9AE}" pid="5" name="ContentTypeId">
    <vt:lpwstr>0x01010078A2D2C2733B7342A34F941B973AA6E6</vt:lpwstr>
  </property>
</Properties>
</file>