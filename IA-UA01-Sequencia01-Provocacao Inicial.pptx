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3189970"/>
            <a:ext cx="4471160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rPr lang="pt-BR" dirty="0"/>
              <a:t>PROVOCAÇÃO..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4432078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8BDF8"/>
                </a:solidFill>
              </a:defRPr>
            </a:pPr>
            <a:r>
              <a:t>A máquina que parece pensar: O que acontece por baixo do que você usa todo dia?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7F9582FD-19F8-F7A6-272E-FDDC083BC2CF}"/>
              </a:ext>
            </a:extLst>
          </p:cNvPr>
          <p:cNvSpPr txBox="1"/>
          <p:nvPr/>
        </p:nvSpPr>
        <p:spPr>
          <a:xfrm>
            <a:off x="11156907" y="652462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FDBF4FD4-6DDC-A705-E4AE-7FFB5CEBC3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02" t="20731" r="18964" b="13989"/>
          <a:stretch/>
        </p:blipFill>
        <p:spPr>
          <a:xfrm>
            <a:off x="1163970" y="610748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Como vai ser hoje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8BDF8"/>
                </a:solidFill>
              </a:rPr>
              <a:t>01  </a:t>
            </a:r>
            <a:r>
              <a:rPr sz="1800" b="1">
                <a:solidFill>
                  <a:srgbClr val="FFFFFF"/>
                </a:solidFill>
              </a:rPr>
              <a:t>O choque  —  </a:t>
            </a:r>
            <a:r>
              <a:rPr sz="1600">
                <a:solidFill>
                  <a:srgbClr val="94A3B8"/>
                </a:solidFill>
              </a:rPr>
              <a:t>Duas demos que quebram a intuição de quem já usa 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8BDF8"/>
                </a:solidFill>
              </a:rPr>
              <a:t>02  </a:t>
            </a:r>
            <a:r>
              <a:rPr sz="1800" b="1">
                <a:solidFill>
                  <a:srgbClr val="FFFFFF"/>
                </a:solidFill>
              </a:rPr>
              <a:t>O mapa  —  </a:t>
            </a:r>
            <a:r>
              <a:rPr sz="1600">
                <a:solidFill>
                  <a:srgbClr val="94A3B8"/>
                </a:solidFill>
              </a:rPr>
              <a:t>Onde a IA que você usa mora: IA → ML → Deep Learning → GenAI.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6984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8BDF8"/>
                </a:solidFill>
              </a:rPr>
              <a:t>03  </a:t>
            </a:r>
            <a:r>
              <a:rPr sz="1800" b="1">
                <a:solidFill>
                  <a:srgbClr val="FFFFFF"/>
                </a:solidFill>
              </a:rPr>
              <a:t>A ponte  —  </a:t>
            </a:r>
            <a:r>
              <a:rPr sz="1600">
                <a:solidFill>
                  <a:srgbClr val="94A3B8"/>
                </a:solidFill>
              </a:rPr>
              <a:t>O que isso tem a ver com o desafio real que vocês vão construir.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8BDF8"/>
                </a:solidFill>
              </a:rPr>
              <a:t>04  </a:t>
            </a:r>
            <a:r>
              <a:rPr sz="1800" b="1">
                <a:solidFill>
                  <a:srgbClr val="FFFFFF"/>
                </a:solidFill>
              </a:rPr>
              <a:t>A provocação  —  </a:t>
            </a:r>
            <a:r>
              <a:rPr sz="1600">
                <a:solidFill>
                  <a:srgbClr val="94A3B8"/>
                </a:solidFill>
              </a:rPr>
              <a:t>Uma pergunta que só o semestre inteiro responde.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BF5E9-6035-F6AE-4EBA-0CACA4235257}"/>
              </a:ext>
            </a:extLst>
          </p:cNvPr>
          <p:cNvSpPr txBox="1"/>
          <p:nvPr/>
        </p:nvSpPr>
        <p:spPr>
          <a:xfrm>
            <a:off x="11156907" y="652462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01 · O choque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2932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pt-BR" dirty="0"/>
              <a:t>ATIVIDADE – PARTE 1</a:t>
            </a:r>
            <a:r>
              <a:rPr dirty="0"/>
              <a:t>: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pergunta</a:t>
            </a:r>
            <a:r>
              <a:rPr dirty="0"/>
              <a:t>, </a:t>
            </a:r>
            <a:r>
              <a:rPr dirty="0" err="1"/>
              <a:t>respostas</a:t>
            </a:r>
            <a:r>
              <a:rPr dirty="0"/>
              <a:t> </a:t>
            </a:r>
            <a:r>
              <a:rPr dirty="0" err="1"/>
              <a:t>diferentes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2255315"/>
            <a:ext cx="1069848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lang="pt-BR" dirty="0"/>
              <a:t>Exemplo de Pergunta: “Qual foi a arquitetura exata do módulo de </a:t>
            </a:r>
            <a:r>
              <a:rPr lang="pt-BR" i="1" dirty="0" err="1"/>
              <a:t>Semantic</a:t>
            </a:r>
            <a:r>
              <a:rPr lang="pt-BR" i="1" dirty="0"/>
              <a:t> </a:t>
            </a:r>
            <a:r>
              <a:rPr lang="pt-BR" i="1" dirty="0" err="1"/>
              <a:t>Temperature</a:t>
            </a:r>
            <a:r>
              <a:rPr lang="pt-BR" i="1" dirty="0"/>
              <a:t> </a:t>
            </a:r>
            <a:r>
              <a:rPr lang="pt-BR" i="1" dirty="0" err="1"/>
              <a:t>Scaling</a:t>
            </a:r>
            <a:r>
              <a:rPr lang="pt-BR" dirty="0"/>
              <a:t> usado no GPT-4 para reduzir alucinações?”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endParaRPr lang="pt-BR"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Aluno</a:t>
            </a:r>
            <a:r>
              <a:rPr dirty="0"/>
              <a:t> A </a:t>
            </a:r>
            <a:r>
              <a:rPr lang="pt-BR" dirty="0"/>
              <a:t>faz a pergunta</a:t>
            </a:r>
            <a:endParaRPr dirty="0"/>
          </a:p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Aluno</a:t>
            </a:r>
            <a:r>
              <a:rPr dirty="0"/>
              <a:t> B </a:t>
            </a:r>
            <a:r>
              <a:rPr dirty="0" err="1"/>
              <a:t>pergunta</a:t>
            </a:r>
            <a:r>
              <a:rPr dirty="0"/>
              <a:t> o </a:t>
            </a:r>
            <a:r>
              <a:rPr dirty="0" err="1"/>
              <a:t>mesmo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38BDF8"/>
                </a:solidFill>
              </a:defRPr>
            </a:pPr>
            <a:r>
              <a:rPr dirty="0"/>
              <a:t>A </a:t>
            </a:r>
            <a:r>
              <a:rPr dirty="0" err="1"/>
              <a:t>pergunta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cabeça</a:t>
            </a:r>
            <a:r>
              <a:rPr dirty="0"/>
              <a:t> de </a:t>
            </a:r>
            <a:r>
              <a:rPr dirty="0" err="1"/>
              <a:t>vocês</a:t>
            </a:r>
            <a:r>
              <a:rPr dirty="0"/>
              <a:t>: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rPr dirty="0"/>
              <a:t>Se é a MESMA </a:t>
            </a:r>
            <a:r>
              <a:rPr dirty="0" err="1"/>
              <a:t>pergunta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que a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muda</a:t>
            </a:r>
            <a:r>
              <a:rPr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FF84C-31CC-68FE-7104-FA61644A031A}"/>
              </a:ext>
            </a:extLst>
          </p:cNvPr>
          <p:cNvSpPr txBox="1"/>
          <p:nvPr/>
        </p:nvSpPr>
        <p:spPr>
          <a:xfrm>
            <a:off x="731520" y="621792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E25F5-847E-FD66-85F0-2B012724D066}"/>
              </a:ext>
            </a:extLst>
          </p:cNvPr>
          <p:cNvSpPr txBox="1"/>
          <p:nvPr/>
        </p:nvSpPr>
        <p:spPr>
          <a:xfrm>
            <a:off x="11156907" y="652462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3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01 · O choque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09724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pt-BR" dirty="0"/>
              <a:t>ATIVIDADE – PARTE 2</a:t>
            </a:r>
            <a:r>
              <a:rPr dirty="0"/>
              <a:t>: </a:t>
            </a:r>
            <a:r>
              <a:rPr dirty="0" err="1"/>
              <a:t>Errando</a:t>
            </a:r>
            <a:r>
              <a:rPr dirty="0"/>
              <a:t> com total </a:t>
            </a:r>
            <a:r>
              <a:rPr dirty="0" err="1"/>
              <a:t>confiança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rPr dirty="0" err="1"/>
              <a:t>Pergunta</a:t>
            </a:r>
            <a:r>
              <a:rPr dirty="0"/>
              <a:t> com </a:t>
            </a:r>
            <a:r>
              <a:rPr dirty="0" err="1"/>
              <a:t>pegadinha</a:t>
            </a:r>
            <a:r>
              <a:rPr dirty="0"/>
              <a:t> →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impecável</a:t>
            </a:r>
            <a:r>
              <a:rPr dirty="0"/>
              <a:t>... e </a:t>
            </a:r>
            <a:r>
              <a:rPr dirty="0" err="1"/>
              <a:t>errada</a:t>
            </a:r>
            <a:r>
              <a:rPr dirty="0"/>
              <a:t>: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38BDF8"/>
                </a:solidFill>
              </a:defRPr>
            </a:pPr>
            <a:r>
              <a:rPr dirty="0"/>
              <a:t>“Com </a:t>
            </a:r>
            <a:r>
              <a:rPr dirty="0" err="1"/>
              <a:t>toda</a:t>
            </a:r>
            <a:r>
              <a:rPr dirty="0"/>
              <a:t> a </a:t>
            </a:r>
            <a:r>
              <a:rPr dirty="0" err="1"/>
              <a:t>certeza</a:t>
            </a:r>
            <a:r>
              <a:rPr dirty="0"/>
              <a:t>, </a:t>
            </a:r>
            <a:r>
              <a:rPr lang="pt-BR" dirty="0"/>
              <a:t>se eu configurar </a:t>
            </a:r>
            <a:r>
              <a:rPr lang="pt-BR" dirty="0" err="1"/>
              <a:t>temperature</a:t>
            </a:r>
            <a:r>
              <a:rPr lang="pt-BR" dirty="0"/>
              <a:t>=0, um LLM deixa de alucinar porque passa a selecionar sempre o token mais provável?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82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O INCÔMODO: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Ele não sabe que não sabe.</a:t>
            </a:r>
            <a:br/>
            <a:r>
              <a:t>Por que uma máquina tão boa erra sem hesitar — e como a gente vai perceber quando isso acontecer no projeto de vocês?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18199-2A54-6668-3556-4F3DE4AF8E60}"/>
              </a:ext>
            </a:extLst>
          </p:cNvPr>
          <p:cNvSpPr txBox="1"/>
          <p:nvPr/>
        </p:nvSpPr>
        <p:spPr>
          <a:xfrm>
            <a:off x="731520" y="621792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A5149-6D4F-D9E9-CA41-E2A440E4441B}"/>
              </a:ext>
            </a:extLst>
          </p:cNvPr>
          <p:cNvSpPr txBox="1"/>
          <p:nvPr/>
        </p:nvSpPr>
        <p:spPr>
          <a:xfrm>
            <a:off x="11156907" y="652462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4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02 · O mapa: Uma caixa dentro da outra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8BDF8"/>
                </a:solidFill>
              </a:rPr>
              <a:t>Nível 1 — </a:t>
            </a:r>
            <a:r>
              <a:rPr sz="1800" b="1">
                <a:solidFill>
                  <a:srgbClr val="FFFFFF"/>
                </a:solidFill>
              </a:rPr>
              <a:t>INTELIGÊNCIA ARTIFICIAL
</a:t>
            </a:r>
            <a:r>
              <a:rPr sz="1400">
                <a:solidFill>
                  <a:srgbClr val="94A3B8"/>
                </a:solidFill>
              </a:rPr>
              <a:t>O campo inteiro: fazer máquinas resolverem o que exigiria inteligência.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8BDF8"/>
                </a:solidFill>
              </a:rPr>
              <a:t>Nível 2 — </a:t>
            </a:r>
            <a:r>
              <a:rPr sz="1800" b="1">
                <a:solidFill>
                  <a:srgbClr val="FFFFFF"/>
                </a:solidFill>
              </a:rPr>
              <a:t>MACHINE LEARNING
</a:t>
            </a:r>
            <a:r>
              <a:rPr sz="1400">
                <a:solidFill>
                  <a:srgbClr val="94A3B8"/>
                </a:solidFill>
              </a:rPr>
              <a:t>Em vez de programar regras, o sistema aprende padrões a partir de dados.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69848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8BDF8"/>
                </a:solidFill>
              </a:rPr>
              <a:t>Nível 3 — </a:t>
            </a:r>
            <a:r>
              <a:rPr sz="1800" b="1">
                <a:solidFill>
                  <a:srgbClr val="FFFFFF"/>
                </a:solidFill>
              </a:rPr>
              <a:t>DEEP LEARNING
</a:t>
            </a:r>
            <a:r>
              <a:rPr sz="1400">
                <a:solidFill>
                  <a:srgbClr val="94A3B8"/>
                </a:solidFill>
              </a:rPr>
              <a:t>Redes neurais profundas — aprendem representações, não só regras.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8BDF8"/>
                </a:solidFill>
              </a:rPr>
              <a:t>Nível 4 — </a:t>
            </a:r>
            <a:r>
              <a:rPr sz="1800" b="1">
                <a:solidFill>
                  <a:srgbClr val="FFFFFF"/>
                </a:solidFill>
              </a:rPr>
              <a:t>IA GENERATIVA
</a:t>
            </a:r>
            <a:r>
              <a:rPr sz="1400">
                <a:solidFill>
                  <a:srgbClr val="94A3B8"/>
                </a:solidFill>
              </a:rPr>
              <a:t>O que você usa: o que impressiona vocês mora aqui dentro. Vamos abrir todas as caixas.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9DA5412C-6251-8FCD-C974-3D8B798816E5}"/>
              </a:ext>
            </a:extLst>
          </p:cNvPr>
          <p:cNvSpPr txBox="1"/>
          <p:nvPr/>
        </p:nvSpPr>
        <p:spPr>
          <a:xfrm>
            <a:off x="731520" y="621792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D83CE69-64DB-A8F2-A358-7D86320C769A}"/>
              </a:ext>
            </a:extLst>
          </p:cNvPr>
          <p:cNvSpPr txBox="1"/>
          <p:nvPr/>
        </p:nvSpPr>
        <p:spPr>
          <a:xfrm>
            <a:off x="11156907" y="652462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5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03 · A ponte: Isto não é só teoria. Vocês vão construir.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474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AGORA</a:t>
            </a:r>
          </a:p>
          <a:p>
            <a:pPr>
              <a:spcBef>
                <a:spcPts val="1400"/>
              </a:spcBef>
              <a:defRPr sz="2200" b="1">
                <a:solidFill>
                  <a:srgbClr val="FFFFFF"/>
                </a:solidFill>
              </a:defRPr>
            </a:pPr>
            <a:r>
              <a:t>Repertório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Entender o que dá pra construir com IA e GenAI.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3474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2. SPRINTS</a:t>
            </a:r>
          </a:p>
          <a:p>
            <a:pPr>
              <a:spcBef>
                <a:spcPts val="1400"/>
              </a:spcBef>
              <a:defRPr sz="2200" b="1">
                <a:solidFill>
                  <a:srgbClr val="FFFFFF"/>
                </a:solidFill>
              </a:defRPr>
            </a:pPr>
            <a:r>
              <a:t>Construção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LLM → Conhecimento (RAG) → Ação (agentes).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3474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rPr dirty="0"/>
              <a:t>3. FEIRA</a:t>
            </a:r>
          </a:p>
          <a:p>
            <a:pPr>
              <a:spcBef>
                <a:spcPts val="1400"/>
              </a:spcBef>
              <a:defRPr sz="2200" b="1">
                <a:solidFill>
                  <a:srgbClr val="FFFFFF"/>
                </a:solidFill>
              </a:defRPr>
            </a:pPr>
            <a:r>
              <a:rPr dirty="0"/>
              <a:t>Feira de </a:t>
            </a:r>
            <a:r>
              <a:rPr dirty="0" err="1"/>
              <a:t>Soluções</a:t>
            </a:r>
            <a:endParaRPr dirty="0"/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rPr dirty="0"/>
              <a:t>Sua </a:t>
            </a:r>
            <a:r>
              <a:rPr dirty="0" err="1"/>
              <a:t>solução</a:t>
            </a:r>
            <a:r>
              <a:rPr dirty="0"/>
              <a:t>, </a:t>
            </a:r>
            <a:r>
              <a:rPr dirty="0" err="1"/>
              <a:t>funcionando</a:t>
            </a:r>
            <a:r>
              <a:rPr dirty="0"/>
              <a:t>, </a:t>
            </a:r>
            <a:r>
              <a:rPr dirty="0" err="1"/>
              <a:t>diante</a:t>
            </a:r>
            <a:r>
              <a:rPr dirty="0"/>
              <a:t> do </a:t>
            </a:r>
            <a:r>
              <a:rPr dirty="0" err="1"/>
              <a:t>parceiro</a:t>
            </a:r>
            <a:r>
              <a:rPr dirty="0"/>
              <a:t> real.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57905-5CF2-C5B7-7222-029666E837ED}"/>
              </a:ext>
            </a:extLst>
          </p:cNvPr>
          <p:cNvSpPr txBox="1"/>
          <p:nvPr/>
        </p:nvSpPr>
        <p:spPr>
          <a:xfrm>
            <a:off x="731520" y="621792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4F153-5BB1-C9DC-7FF8-DE9061D8DE0E}"/>
              </a:ext>
            </a:extLst>
          </p:cNvPr>
          <p:cNvSpPr txBox="1"/>
          <p:nvPr/>
        </p:nvSpPr>
        <p:spPr>
          <a:xfrm>
            <a:off x="11156907" y="652462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6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03 · Usar não é construir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7171"/>
                </a:solidFill>
              </a:defRPr>
            </a:pPr>
            <a:r>
              <a:t>USAR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• Escrever um prompt e aceitar a resposta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• Não saber por que a resposta mudou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• Não perceber quando o modelo alucina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• Ficar dependente da ferramenta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ENTENDER E CONSTRUIR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• Saber o mecanismo por baixo da resposta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• Escolher a abordagem certa para o problema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• Avaliar a saída — e confiar com critério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• Construir uma solução que resolve algo real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5EF1BC9-EDD7-54FD-B19C-BEA16EC7848B}"/>
              </a:ext>
            </a:extLst>
          </p:cNvPr>
          <p:cNvSpPr txBox="1"/>
          <p:nvPr/>
        </p:nvSpPr>
        <p:spPr>
          <a:xfrm>
            <a:off x="731520" y="621792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B8AE4DE-0841-76F0-E9EF-CF23988AEA71}"/>
              </a:ext>
            </a:extLst>
          </p:cNvPr>
          <p:cNvSpPr txBox="1"/>
          <p:nvPr/>
        </p:nvSpPr>
        <p:spPr>
          <a:xfrm>
            <a:off x="11156907" y="652462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7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04 · A provocação para levar para casa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2286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Como um sistema que só prevê a próxima palavra consegue parecer que raciocina?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rPr lang="pt-BR"/>
              <a:t>Vocês ainda não têm como responder! </a:t>
            </a:r>
            <a:r>
              <a:rPr lang="pt-BR" dirty="0"/>
              <a:t>É exatamente por isso que voltamos em outra aula!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EAE7A59-8D4C-B2CF-4A79-29FF72955CE8}"/>
              </a:ext>
            </a:extLst>
          </p:cNvPr>
          <p:cNvSpPr txBox="1"/>
          <p:nvPr/>
        </p:nvSpPr>
        <p:spPr>
          <a:xfrm>
            <a:off x="731520" y="621792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161F565-60D3-CBCF-C0E8-2CE4C4C60B43}"/>
              </a:ext>
            </a:extLst>
          </p:cNvPr>
          <p:cNvSpPr txBox="1"/>
          <p:nvPr/>
        </p:nvSpPr>
        <p:spPr>
          <a:xfrm>
            <a:off x="11156907" y="652462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8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F283028-D984-4985-86BF-5B63827A0827}"/>
</file>

<file path=customXml/itemProps2.xml><?xml version="1.0" encoding="utf-8"?>
<ds:datastoreItem xmlns:ds="http://schemas.openxmlformats.org/officeDocument/2006/customXml" ds:itemID="{5574B482-26A7-4DC4-9E87-E185D90194A4}"/>
</file>

<file path=customXml/itemProps3.xml><?xml version="1.0" encoding="utf-8"?>
<ds:datastoreItem xmlns:ds="http://schemas.openxmlformats.org/officeDocument/2006/customXml" ds:itemID="{31DBE664-CAAA-45CD-94E2-B33AA6BF7B34}"/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542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 WALMIR GONCALVES DUQUE</cp:lastModifiedBy>
  <cp:revision>8</cp:revision>
  <dcterms:created xsi:type="dcterms:W3CDTF">2013-01-27T09:14:16Z</dcterms:created>
  <dcterms:modified xsi:type="dcterms:W3CDTF">2026-08-13T01:29:02Z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</Properties>
</file>