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71" r:id="rId11"/>
    <p:sldId id="263" r:id="rId12"/>
    <p:sldId id="264" r:id="rId13"/>
    <p:sldId id="265" r:id="rId14"/>
    <p:sldId id="266" r:id="rId15"/>
    <p:sldId id="267" r:id="rId16"/>
    <p:sldId id="272" r:id="rId17"/>
    <p:sldId id="268" r:id="rId18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A2C8F72-DB37-4258-98BA-1E5B5DDF84A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F2DF7F-B2AD-4851-A48A-6793839904A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EF3B4A-14C2-487B-9CD0-E5B3FE1EAF5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483AE2-DB57-4FCA-B151-C7A6205867F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5A6045-B45E-4317-A0F4-7C91A41C5EA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945C36-D695-41A7-A523-B7A5EC51232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9AC253-1BD4-47CB-A8EF-D1CCB2863B2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51D192-FABC-401C-8343-12A2A3A25FE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44832E-4DA1-4F6F-9AFA-66D1502F6C4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581A26-13C5-414F-AAD9-0A6AB763BA5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9487BA-1477-40FC-9988-3C8583DA91B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8CA4D0-8892-480E-B371-BF64811E9F0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D57A31-69EF-4517-B0C0-03F8BBBDCC8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07470A-36E0-40E6-AEF3-BFF80493B09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9B02AF-6940-4962-9C29-55C8EDF0E7A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C0963C-4E92-4842-BC46-FBFC235B47C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2A9D1A-3B4E-4AAA-B649-9F2F49F8056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1B8FB-2ACF-474F-A86A-CAAB64E63CA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2"/>
          <p:cNvSpPr/>
          <p:nvPr/>
        </p:nvSpPr>
        <p:spPr>
          <a:xfrm>
            <a:off x="594360" y="2015671"/>
            <a:ext cx="73148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Grounding e Guardrails</a:t>
            </a:r>
            <a:endParaRPr lang="en-US" sz="3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640080" y="3337560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Fundamentar</a:t>
            </a: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(grounding) e </a:t>
            </a:r>
            <a:r>
              <a:rPr lang="en-US" sz="16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proteger</a:t>
            </a: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(guardrail) — RAG </a:t>
            </a:r>
            <a:r>
              <a:rPr lang="en-US" sz="16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confiável</a:t>
            </a:r>
            <a:r>
              <a:rPr lang="en-US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!!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AA554CC-2626-CB80-CE0D-6F2B1B7D5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Dois pilares da confiança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Um RAG confiável precisa dos dois — fundamentar E proteger.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1965960"/>
            <a:ext cx="5440320" cy="3565800"/>
          </a:xfrm>
          <a:prstGeom prst="roundRect">
            <a:avLst>
              <a:gd name="adj" fmla="val 2051"/>
            </a:avLst>
          </a:prstGeom>
          <a:solidFill>
            <a:srgbClr val="EDF1FA"/>
          </a:solidFill>
          <a:ln w="1905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22960" y="21488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1E2761"/>
                </a:solidFill>
                <a:latin typeface="Cambria"/>
                <a:ea typeface="Cambria"/>
              </a:rPr>
              <a:t>Grounding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22960" y="26060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strike="noStrike" spc="-1">
                <a:solidFill>
                  <a:srgbClr val="3E9E6E"/>
                </a:solidFill>
                <a:latin typeface="Calibri"/>
                <a:ea typeface="Calibri"/>
              </a:rPr>
              <a:t>fundamentar a resposta no dado real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822960" y="3108960"/>
            <a:ext cx="493740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Responde SÓ com base no que recuperou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Cita a fonte (rastreável)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Admite quando não sabe — não inventa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6172200" y="1965960"/>
            <a:ext cx="5440320" cy="35658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446520" y="21488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Guardrails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446520" y="26060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strike="noStrike" spc="-1">
                <a:solidFill>
                  <a:srgbClr val="F2B84A"/>
                </a:solidFill>
                <a:latin typeface="Calibri"/>
                <a:ea typeface="Calibri"/>
              </a:rPr>
              <a:t>proteger o que entra, sai e o que faz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446520" y="3108960"/>
            <a:ext cx="493740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Filtra entradas inválidas ou maliciosas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Checa a saída antes de entregar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Mantém o agente no escopo definido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548640" y="56692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Sem grounding, o agente não entende. Sem guardrails, ele entende — mas pode causar danos.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1EC9983-F915-C9B1-9D9F-1E4705956177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20DAD28-B4B6-6E86-B087-B96FF4428981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CONFIANÇA · PARTE 1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Grounding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Ligar o que o modelo "diz" ao que realmente existe no dado.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B8FB0BC-D1A0-513C-ACD8-4E95DE1006E0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4DEDAE0-8DA5-44E6-F14F-9966BE94C883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é grounding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Ligar o raciocínio do agente ao mundo real — dar significado ancorado à realidade.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548640" y="1920240"/>
            <a:ext cx="11063880" cy="1234080"/>
          </a:xfrm>
          <a:prstGeom prst="roundRect">
            <a:avLst>
              <a:gd name="adj" fmla="val 5926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822960" y="19202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E2761"/>
                </a:solidFill>
                <a:latin typeface="Calibri"/>
              </a:rPr>
              <a:t>A intuição (agentes): </a:t>
            </a:r>
            <a:r>
              <a:rPr lang="en-US" sz="1450" b="0" strike="noStrike" spc="-1">
                <a:solidFill>
                  <a:srgbClr val="5A6072"/>
                </a:solidFill>
                <a:latin typeface="Calibri"/>
              </a:rPr>
              <a:t>um agente sabe que "maçã" é algo vermelho e comestível porque associou o símbolo à experiência real (o que viu pelos sensores). O símbolo está </a:t>
            </a:r>
            <a:r>
              <a:rPr lang="en-US" sz="1450" b="1" strike="noStrike" spc="-1">
                <a:solidFill>
                  <a:srgbClr val="3E9E6E"/>
                </a:solidFill>
                <a:latin typeface="Calibri"/>
              </a:rPr>
              <a:t>ancorado (grounded)</a:t>
            </a:r>
            <a:r>
              <a:rPr lang="en-US" sz="1450" b="0" strike="noStrike" spc="-1">
                <a:solidFill>
                  <a:srgbClr val="5A6072"/>
                </a:solidFill>
                <a:latin typeface="Calibri"/>
              </a:rPr>
              <a:t> na realidade.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548640" y="3383280"/>
            <a:ext cx="11063880" cy="123408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822960" y="338328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2B84A"/>
                </a:solidFill>
                <a:latin typeface="Calibri"/>
              </a:rPr>
              <a:t>No RAG (o nosso caso):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o LLM responde com base em </a:t>
            </a:r>
            <a:r>
              <a:rPr lang="en-US" sz="1450" b="1" strike="noStrike" spc="-1">
                <a:solidFill>
                  <a:srgbClr val="FFFFFF"/>
                </a:solidFill>
                <a:latin typeface="Calibri"/>
              </a:rPr>
              <a:t>conhecimento real — documentos, dados atualizados, contexto recuperado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 — em vez de "inventar" a partir do que ele acha que sabe.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548640" y="48920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Sem grounding, um LLM pode alucinar com total confiança. Com grounding, a resposta está presa ao dado.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BDC87D1-64BF-A25E-D73E-2B677DBBD8D0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F6F2DB9-3E19-A94A-6609-328BB38CCE5E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Grounding em ação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fluxo: pergunta → buscar dado real → responder fundamentado.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548640" y="1920240"/>
            <a:ext cx="3382920" cy="1279800"/>
          </a:xfrm>
          <a:prstGeom prst="roundRect">
            <a:avLst>
              <a:gd name="adj" fmla="val 5714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548640" y="1920240"/>
            <a:ext cx="3382920" cy="91080"/>
          </a:xfrm>
          <a:prstGeom prst="roundRect">
            <a:avLst>
              <a:gd name="adj" fmla="val 20000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777240" y="208476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Pergunta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777240" y="2514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"Qual o preço do Bitcoin?"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3794760" y="1920240"/>
            <a:ext cx="31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4251960" y="1920240"/>
            <a:ext cx="3382920" cy="1279800"/>
          </a:xfrm>
          <a:prstGeom prst="roundRect">
            <a:avLst>
              <a:gd name="adj" fmla="val 5714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4251960" y="1920240"/>
            <a:ext cx="3382920" cy="91080"/>
          </a:xfrm>
          <a:prstGeom prst="roundRect">
            <a:avLst>
              <a:gd name="adj" fmla="val 20000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4480560" y="208476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Buscar dado real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4480560" y="2514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consulta API / base / </a:t>
            </a:r>
            <a:r>
              <a:rPr lang="en-US" sz="12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documento</a:t>
            </a:r>
            <a:endParaRPr lang="en-US" sz="1200" b="0" strike="noStrike" spc="-1" dirty="0">
              <a:solidFill>
                <a:srgbClr val="5A6072"/>
              </a:solidFill>
              <a:latin typeface="Calibri"/>
              <a:ea typeface="Calibri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spc="-1" dirty="0">
                <a:solidFill>
                  <a:srgbClr val="5A6072"/>
                </a:solidFill>
                <a:latin typeface="Calibri"/>
                <a:ea typeface="Calibri"/>
              </a:rPr>
              <a:t>(</a:t>
            </a:r>
            <a:r>
              <a:rPr lang="en-US" sz="1200" spc="-1" dirty="0" err="1">
                <a:solidFill>
                  <a:srgbClr val="5A6072"/>
                </a:solidFill>
                <a:latin typeface="Calibri"/>
                <a:ea typeface="Calibri"/>
              </a:rPr>
              <a:t>traz</a:t>
            </a:r>
            <a:r>
              <a:rPr lang="en-US" sz="1200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200" spc="-1" dirty="0" err="1">
                <a:solidFill>
                  <a:srgbClr val="5A6072"/>
                </a:solidFill>
                <a:latin typeface="Calibri"/>
                <a:ea typeface="Calibri"/>
              </a:rPr>
              <a:t>também</a:t>
            </a:r>
            <a:r>
              <a:rPr lang="en-US" sz="1200" spc="-1" dirty="0">
                <a:solidFill>
                  <a:srgbClr val="5A6072"/>
                </a:solidFill>
                <a:latin typeface="Calibri"/>
                <a:ea typeface="Calibri"/>
              </a:rPr>
              <a:t> a </a:t>
            </a:r>
            <a:r>
              <a:rPr lang="en-US" sz="1200" spc="-1" dirty="0" err="1">
                <a:solidFill>
                  <a:srgbClr val="5A6072"/>
                </a:solidFill>
                <a:latin typeface="Calibri"/>
                <a:ea typeface="Calibri"/>
              </a:rPr>
              <a:t>fonte</a:t>
            </a:r>
            <a:r>
              <a:rPr lang="en-US" sz="1200" spc="-1" dirty="0">
                <a:solidFill>
                  <a:srgbClr val="5A6072"/>
                </a:solidFill>
                <a:latin typeface="Calibri"/>
                <a:ea typeface="Calibri"/>
              </a:rPr>
              <a:t> e a data)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7498080" y="1920240"/>
            <a:ext cx="31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2"/>
          <p:cNvSpPr/>
          <p:nvPr/>
        </p:nvSpPr>
        <p:spPr>
          <a:xfrm>
            <a:off x="7955280" y="1920240"/>
            <a:ext cx="3382920" cy="1279800"/>
          </a:xfrm>
          <a:prstGeom prst="roundRect">
            <a:avLst>
              <a:gd name="adj" fmla="val 5714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7955280" y="1920240"/>
            <a:ext cx="3382920" cy="91080"/>
          </a:xfrm>
          <a:prstGeom prst="roundRect">
            <a:avLst>
              <a:gd name="adj" fmla="val 20000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8183880" y="208476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Responder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8183880" y="2514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usa o dado recuperado, cita a fonte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548640" y="3520440"/>
            <a:ext cx="11063880" cy="214848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822960" y="3703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Exemplo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822960" y="4114800"/>
            <a:ext cx="105152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50" b="1" strike="noStrike" spc="-1">
                <a:solidFill>
                  <a:srgbClr val="9FBCE8"/>
                </a:solidFill>
                <a:latin typeface="Calibri"/>
                <a:ea typeface="Calibri"/>
              </a:rPr>
              <a:t>Usuário: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"Qual é o preço atual do Bitcoin?"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2B84A"/>
                </a:solidFill>
                <a:latin typeface="Calibri"/>
                <a:ea typeface="Calibri"/>
              </a:rPr>
              <a:t>Chatbot (com grounding): </a:t>
            </a:r>
            <a:r>
              <a:rPr lang="en-US" sz="1450" b="0" strike="noStrike" spc="-1">
                <a:solidFill>
                  <a:srgbClr val="FFFFFF"/>
                </a:solidFill>
                <a:latin typeface="Calibri"/>
                <a:ea typeface="Calibri"/>
              </a:rPr>
              <a:t>"O preço atual é US$ 64.300, segundo a API CoinGecko (atualizado há 2 min)."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1E462F8-B52C-9392-C96A-14B6A8BCA5DD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76F366B9-E917-9335-85BE-B531C0325F3B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457200" y="3841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1E2761"/>
                </a:solidFill>
                <a:latin typeface="Cambria"/>
                <a:ea typeface="Cambria"/>
              </a:rPr>
              <a:t>Os cinco tipos de grounding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475560" y="106056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Fundamentar a resposta pode vir de fontes diferentes de "realidade".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1426220" y="1691640"/>
            <a:ext cx="2102760" cy="502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1554380" y="1691640"/>
            <a:ext cx="1883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Tipo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3529340" y="1691640"/>
            <a:ext cx="3291480" cy="502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3657500" y="1691640"/>
            <a:ext cx="3071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Fonte de realidade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6821180" y="1691640"/>
            <a:ext cx="4023000" cy="502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6949340" y="1691640"/>
            <a:ext cx="3803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Exemplo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1426220" y="2194560"/>
            <a:ext cx="210276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1426220" y="2194560"/>
            <a:ext cx="82080" cy="749520"/>
          </a:xfrm>
          <a:prstGeom prst="rect">
            <a:avLst/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1590740" y="219456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Factual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3529340" y="2194560"/>
            <a:ext cx="329148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3693860" y="2194560"/>
            <a:ext cx="3035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bases de conhecimento, APIs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6821180" y="2194560"/>
            <a:ext cx="402300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6985700" y="219456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5A6072"/>
                </a:solidFill>
                <a:latin typeface="Consolas"/>
                <a:ea typeface="Consolas"/>
              </a:rPr>
              <a:t>"Qual o </a:t>
            </a:r>
            <a:r>
              <a:rPr lang="en-US" sz="1050" b="0" strike="noStrike" spc="-1" dirty="0" err="1">
                <a:solidFill>
                  <a:srgbClr val="5A6072"/>
                </a:solidFill>
                <a:latin typeface="Consolas"/>
                <a:ea typeface="Consolas"/>
              </a:rPr>
              <a:t>preço</a:t>
            </a:r>
            <a:r>
              <a:rPr lang="en-US" sz="1050" b="0" strike="noStrike" spc="-1" dirty="0">
                <a:solidFill>
                  <a:srgbClr val="5A6072"/>
                </a:solidFill>
                <a:latin typeface="Consolas"/>
                <a:ea typeface="Consolas"/>
              </a:rPr>
              <a:t> do Bitcoin?" → </a:t>
            </a:r>
            <a:r>
              <a:rPr lang="en-US" sz="1050" b="0" strike="noStrike" spc="-1" dirty="0" err="1">
                <a:solidFill>
                  <a:srgbClr val="5A6072"/>
                </a:solidFill>
                <a:latin typeface="Consolas"/>
                <a:ea typeface="Consolas"/>
              </a:rPr>
              <a:t>CoinGecko</a:t>
            </a:r>
            <a:r>
              <a:rPr lang="en-US" sz="1050" b="0" strike="noStrike" spc="-1" dirty="0">
                <a:solidFill>
                  <a:srgbClr val="5A6072"/>
                </a:solidFill>
                <a:latin typeface="Consolas"/>
                <a:ea typeface="Consolas"/>
              </a:rPr>
              <a:t> (API)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1426220" y="2944440"/>
            <a:ext cx="2102760" cy="749520"/>
          </a:xfrm>
          <a:prstGeom prst="rect">
            <a:avLst/>
          </a:prstGeom>
          <a:solidFill>
            <a:srgbClr val="EAF0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1426220" y="2944440"/>
            <a:ext cx="82080" cy="749520"/>
          </a:xfrm>
          <a:prstGeom prst="rect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1590740" y="294444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Documental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3529340" y="2944440"/>
            <a:ext cx="3291480" cy="749520"/>
          </a:xfrm>
          <a:prstGeom prst="rect">
            <a:avLst/>
          </a:prstGeom>
          <a:solidFill>
            <a:srgbClr val="EAF0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3693860" y="2944440"/>
            <a:ext cx="3035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documentos (PDF, manuais)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4"/>
          <p:cNvSpPr/>
          <p:nvPr/>
        </p:nvSpPr>
        <p:spPr>
          <a:xfrm>
            <a:off x="6821180" y="2944440"/>
            <a:ext cx="4023000" cy="749520"/>
          </a:xfrm>
          <a:prstGeom prst="rect">
            <a:avLst/>
          </a:prstGeom>
          <a:solidFill>
            <a:srgbClr val="EAF0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6985700" y="294444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A6072"/>
                </a:solidFill>
                <a:latin typeface="Consolas"/>
                <a:ea typeface="Consolas"/>
              </a:rPr>
              <a:t>"O que diz o manual?" → chunk do PDF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8"/>
          <p:cNvSpPr/>
          <p:nvPr/>
        </p:nvSpPr>
        <p:spPr>
          <a:xfrm>
            <a:off x="1426220" y="3694320"/>
            <a:ext cx="210276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9"/>
          <p:cNvSpPr/>
          <p:nvPr/>
        </p:nvSpPr>
        <p:spPr>
          <a:xfrm>
            <a:off x="1426220" y="3694320"/>
            <a:ext cx="82080" cy="749520"/>
          </a:xfrm>
          <a:prstGeom prst="rect">
            <a:avLst/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1590740" y="369432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Contextual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31"/>
          <p:cNvSpPr/>
          <p:nvPr/>
        </p:nvSpPr>
        <p:spPr>
          <a:xfrm>
            <a:off x="3529340" y="3694320"/>
            <a:ext cx="329148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2"/>
          <p:cNvSpPr/>
          <p:nvPr/>
        </p:nvSpPr>
        <p:spPr>
          <a:xfrm>
            <a:off x="3693860" y="3694320"/>
            <a:ext cx="3035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histórico da conversa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3"/>
          <p:cNvSpPr/>
          <p:nvPr/>
        </p:nvSpPr>
        <p:spPr>
          <a:xfrm>
            <a:off x="6821180" y="3694320"/>
            <a:ext cx="402300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6985700" y="369432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A6072"/>
                </a:solidFill>
                <a:latin typeface="Consolas"/>
                <a:ea typeface="Consolas"/>
              </a:rPr>
              <a:t>"quanto custa o suporte?" → produto X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7"/>
          <p:cNvSpPr/>
          <p:nvPr/>
        </p:nvSpPr>
        <p:spPr>
          <a:xfrm>
            <a:off x="1426220" y="4443840"/>
            <a:ext cx="210276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38"/>
          <p:cNvSpPr/>
          <p:nvPr/>
        </p:nvSpPr>
        <p:spPr>
          <a:xfrm>
            <a:off x="1426220" y="4443840"/>
            <a:ext cx="82080" cy="749520"/>
          </a:xfrm>
          <a:prstGeom prst="rect">
            <a:avLst/>
          </a:prstGeom>
          <a:solidFill>
            <a:srgbClr val="6E79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39"/>
          <p:cNvSpPr/>
          <p:nvPr/>
        </p:nvSpPr>
        <p:spPr>
          <a:xfrm>
            <a:off x="1590740" y="444384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Sensorial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40"/>
          <p:cNvSpPr/>
          <p:nvPr/>
        </p:nvSpPr>
        <p:spPr>
          <a:xfrm>
            <a:off x="3529340" y="4443840"/>
            <a:ext cx="329148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41"/>
          <p:cNvSpPr/>
          <p:nvPr/>
        </p:nvSpPr>
        <p:spPr>
          <a:xfrm>
            <a:off x="3693860" y="4443840"/>
            <a:ext cx="3035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câmera, GPS, microfone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42"/>
          <p:cNvSpPr/>
          <p:nvPr/>
        </p:nvSpPr>
        <p:spPr>
          <a:xfrm>
            <a:off x="6821180" y="4443840"/>
            <a:ext cx="402300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43"/>
          <p:cNvSpPr/>
          <p:nvPr/>
        </p:nvSpPr>
        <p:spPr>
          <a:xfrm>
            <a:off x="6985700" y="444384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A6072"/>
                </a:solidFill>
                <a:latin typeface="Consolas"/>
                <a:ea typeface="Consolas"/>
              </a:rPr>
              <a:t>"está chovendo?" → sensor / visão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46"/>
          <p:cNvSpPr/>
          <p:nvPr/>
        </p:nvSpPr>
        <p:spPr>
          <a:xfrm>
            <a:off x="1426220" y="5193720"/>
            <a:ext cx="210276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47"/>
          <p:cNvSpPr/>
          <p:nvPr/>
        </p:nvSpPr>
        <p:spPr>
          <a:xfrm>
            <a:off x="1426220" y="5193720"/>
            <a:ext cx="82080" cy="749520"/>
          </a:xfrm>
          <a:prstGeom prst="rect">
            <a:avLst/>
          </a:prstGeom>
          <a:solidFill>
            <a:srgbClr val="6E79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48"/>
          <p:cNvSpPr/>
          <p:nvPr/>
        </p:nvSpPr>
        <p:spPr>
          <a:xfrm>
            <a:off x="1590740" y="519372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Interativo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49"/>
          <p:cNvSpPr/>
          <p:nvPr/>
        </p:nvSpPr>
        <p:spPr>
          <a:xfrm>
            <a:off x="3529340" y="5193720"/>
            <a:ext cx="329148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50"/>
          <p:cNvSpPr/>
          <p:nvPr/>
        </p:nvSpPr>
        <p:spPr>
          <a:xfrm>
            <a:off x="3693860" y="5193720"/>
            <a:ext cx="3035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feedback do usuário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51"/>
          <p:cNvSpPr/>
          <p:nvPr/>
        </p:nvSpPr>
        <p:spPr>
          <a:xfrm>
            <a:off x="6821180" y="5193720"/>
            <a:ext cx="402300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52"/>
          <p:cNvSpPr/>
          <p:nvPr/>
        </p:nvSpPr>
        <p:spPr>
          <a:xfrm>
            <a:off x="6985700" y="519372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A6072"/>
                </a:solidFill>
                <a:latin typeface="Consolas"/>
                <a:ea typeface="Consolas"/>
              </a:rPr>
              <a:t>"não, eu quis dizer Y" → corrige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55"/>
          <p:cNvSpPr/>
          <p:nvPr/>
        </p:nvSpPr>
        <p:spPr>
          <a:xfrm>
            <a:off x="1426220" y="5806440"/>
            <a:ext cx="9417960" cy="548280"/>
          </a:xfrm>
          <a:prstGeom prst="roundRect">
            <a:avLst>
              <a:gd name="adj" fmla="val 10000"/>
            </a:avLst>
          </a:prstGeom>
          <a:solidFill>
            <a:srgbClr val="FDF4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56"/>
          <p:cNvSpPr/>
          <p:nvPr/>
        </p:nvSpPr>
        <p:spPr>
          <a:xfrm>
            <a:off x="1700540" y="5806440"/>
            <a:ext cx="8805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9A6B00"/>
                </a:solidFill>
                <a:latin typeface="Calibri"/>
              </a:rPr>
              <a:t>Para o </a:t>
            </a:r>
            <a:r>
              <a:rPr lang="en-US" sz="1300" b="1" strike="noStrike" spc="-1" dirty="0" err="1">
                <a:solidFill>
                  <a:srgbClr val="9A6B00"/>
                </a:solidFill>
                <a:latin typeface="Calibri"/>
              </a:rPr>
              <a:t>projeto</a:t>
            </a:r>
            <a:r>
              <a:rPr lang="en-US" sz="1300" b="1" strike="noStrike" spc="-1" dirty="0">
                <a:solidFill>
                  <a:srgbClr val="9A6B00"/>
                </a:solidFill>
                <a:latin typeface="Calibri"/>
              </a:rPr>
              <a:t>:  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o grounding do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seu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 RAG é o documental. Factual e contextual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também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aparecem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Sensorial e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interativo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são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cultura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geral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 —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não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 </a:t>
            </a:r>
            <a:r>
              <a:rPr lang="en-US" sz="1250" b="0" strike="noStrike" spc="-1" dirty="0" err="1">
                <a:solidFill>
                  <a:srgbClr val="5A6072"/>
                </a:solidFill>
                <a:latin typeface="Calibri"/>
              </a:rPr>
              <a:t>decorar</a:t>
            </a:r>
            <a:r>
              <a:rPr lang="en-US" sz="1250" b="0" strike="noStrike" spc="-1" dirty="0">
                <a:solidFill>
                  <a:srgbClr val="5A6072"/>
                </a:solidFill>
                <a:latin typeface="Calibri"/>
              </a:rPr>
              <a:t>.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2389E3F3-5E3D-BA31-04E1-804D46FD42F7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D653615-E8F0-F0F2-5EDE-540AAEC614C4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6</a:t>
            </a:fld>
            <a:endParaRPr dirty="0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D8E961AC-A94C-73CB-779F-A09035EFA24A}"/>
              </a:ext>
            </a:extLst>
          </p:cNvPr>
          <p:cNvSpPr/>
          <p:nvPr/>
        </p:nvSpPr>
        <p:spPr>
          <a:xfrm>
            <a:off x="423451" y="2939579"/>
            <a:ext cx="945085" cy="7456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38412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1E2761"/>
                </a:solidFill>
                <a:latin typeface="Cambria"/>
                <a:ea typeface="Cambria"/>
              </a:rPr>
              <a:t>Grounding contextual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75560" y="106056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Ancorar a resposta no histórico da conversa — lembrar o que já foi dito.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48640" y="1828800"/>
            <a:ext cx="6766200" cy="3748680"/>
          </a:xfrm>
          <a:prstGeom prst="roundRect">
            <a:avLst>
              <a:gd name="adj" fmla="val 243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196596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6E79A0"/>
                </a:solidFill>
                <a:latin typeface="Calibri"/>
                <a:ea typeface="Calibri"/>
              </a:rPr>
              <a:t>CONVERSA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926080" y="2377440"/>
            <a:ext cx="4023000" cy="639720"/>
          </a:xfrm>
          <a:prstGeom prst="roundRect">
            <a:avLst>
              <a:gd name="adj" fmla="val 14286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090600" y="2377440"/>
            <a:ext cx="36939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Quero abrir um chamado sobre o produto X.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68680" y="3154680"/>
            <a:ext cx="4205880" cy="6397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33200" y="3154680"/>
            <a:ext cx="3876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Claro! Qual o problema com o produto X?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926080" y="3931920"/>
            <a:ext cx="4023000" cy="639720"/>
          </a:xfrm>
          <a:prstGeom prst="roundRect">
            <a:avLst>
              <a:gd name="adj" fmla="val 14286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090600" y="3931920"/>
            <a:ext cx="36939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Ele trava ao salvar. E quanto custa o suporte?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868680" y="4709160"/>
            <a:ext cx="4480200" cy="685440"/>
          </a:xfrm>
          <a:prstGeom prst="roundRect">
            <a:avLst>
              <a:gd name="adj" fmla="val 13333"/>
            </a:avLst>
          </a:prstGeom>
          <a:solidFill>
            <a:srgbClr val="E7F3EC"/>
          </a:solidFill>
          <a:ln w="1905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033200" y="470916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</a:rPr>
              <a:t>O suporte para o </a:t>
            </a:r>
            <a:r>
              <a:rPr lang="en-US" sz="1200" b="1" strike="noStrike" spc="-1">
                <a:solidFill>
                  <a:srgbClr val="3E9E6E"/>
                </a:solidFill>
                <a:latin typeface="Calibri"/>
              </a:rPr>
              <a:t>produto X</a:t>
            </a:r>
            <a:r>
              <a:rPr lang="en-US" sz="1200" b="0" strike="noStrike" spc="-1">
                <a:solidFill>
                  <a:srgbClr val="5A6072"/>
                </a:solidFill>
                <a:latin typeface="Calibri"/>
              </a:rPr>
              <a:t> (o que você citou) custa R$ 90/mês.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498080" y="1828800"/>
            <a:ext cx="4114440" cy="374868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772400" y="20116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mbria"/>
                <a:ea typeface="Cambria"/>
              </a:rPr>
              <a:t>O que aconteceu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772400" y="2423160"/>
            <a:ext cx="356580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Na última pergunta, o usuário disse só </a:t>
            </a:r>
            <a:r>
              <a:rPr lang="en-US" sz="1350" b="0" i="1" strike="noStrike" spc="-1">
                <a:solidFill>
                  <a:srgbClr val="F2B84A"/>
                </a:solidFill>
                <a:latin typeface="Calibri"/>
                <a:ea typeface="Calibri"/>
              </a:rPr>
              <a:t>"e quanto custa o suporte?"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— sem dizer de qual produto.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O agente ancorou no </a:t>
            </a:r>
            <a:r>
              <a:rPr lang="en-US" sz="1350" b="1" strike="noStrike" spc="-1">
                <a:solidFill>
                  <a:srgbClr val="FFFFFF"/>
                </a:solidFill>
                <a:latin typeface="Calibri"/>
                <a:ea typeface="Calibri"/>
              </a:rPr>
              <a:t>histórico da conversa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 (produto X, dito antes) para entender a pergunta incompleta.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9FBCE8"/>
                </a:solidFill>
                <a:latin typeface="Calibri"/>
                <a:ea typeface="Calibri"/>
              </a:rPr>
              <a:t>Sem esse grounding, ele perguntaria "qual suporte?" — ou chutaria.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3F720EE-3900-0F27-F53D-B816990C0B79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7F22276E-62B0-A01E-073A-B872645B9B92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7</a:t>
            </a:fld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10BD23-C7B3-BFC9-FEBC-FF1B15E29634}"/>
              </a:ext>
            </a:extLst>
          </p:cNvPr>
          <p:cNvSpPr txBox="1"/>
          <p:nvPr/>
        </p:nvSpPr>
        <p:spPr>
          <a:xfrm>
            <a:off x="7589520" y="5797440"/>
            <a:ext cx="4114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Tecnicamente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: o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histórico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entra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na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janela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de </a:t>
            </a:r>
            <a:r>
              <a:rPr lang="en-US" sz="1800" b="0" strike="noStrike" spc="-1" dirty="0" err="1">
                <a:solidFill>
                  <a:srgbClr val="FF0000"/>
                </a:solidFill>
                <a:latin typeface="Arial"/>
              </a:rPr>
              <a:t>contexto</a:t>
            </a:r>
            <a:r>
              <a:rPr lang="en-US" sz="1800" b="0" strike="noStrike" spc="-1" dirty="0">
                <a:solidFill>
                  <a:srgbClr val="FF0000"/>
                </a:solidFill>
                <a:latin typeface="Arial"/>
              </a:rPr>
              <a:t> do prompt!</a:t>
            </a:r>
            <a:endParaRPr lang="pt-B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Grounding no código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 chave é a instrução no prompt — obrigar o modelo a usar só o contexto.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548640" y="1874520"/>
            <a:ext cx="11063880" cy="2468520"/>
          </a:xfrm>
          <a:prstGeom prst="roundRect">
            <a:avLst>
              <a:gd name="adj" fmla="val 2222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749880" y="2011680"/>
            <a:ext cx="106614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a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instrução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de grounding — o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coração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do RAG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confiável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(</a:t>
            </a:r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Grounding Documental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)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prompt = f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"""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Responda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a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pergunta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usando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APENAS o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contexto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abaixo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Cite o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documento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de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onde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tirou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a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resposta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Se a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resposta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NÃO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estiver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no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contexto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,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responda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: '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Não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encontrei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essa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informação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'.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CONTEXTO:\n{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contexto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}\n\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nPERGUNTA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: {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pergunta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}"""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548640" y="4572000"/>
            <a:ext cx="5440320" cy="1096920"/>
          </a:xfrm>
          <a:prstGeom prst="roundRect">
            <a:avLst>
              <a:gd name="adj" fmla="val 6667"/>
            </a:avLst>
          </a:prstGeom>
          <a:solidFill>
            <a:srgbClr val="F7E9EC"/>
          </a:solidFill>
          <a:ln w="12700">
            <a:solidFill>
              <a:srgbClr val="C450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777240" y="47091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C4506B"/>
                </a:solidFill>
                <a:latin typeface="Cambria"/>
                <a:ea typeface="Cambria"/>
              </a:rPr>
              <a:t>✗ Sem grounding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77240" y="502920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mistura o dado com o que "acha" → pode inventar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172200" y="4572000"/>
            <a:ext cx="5440320" cy="1096920"/>
          </a:xfrm>
          <a:prstGeom prst="roundRect">
            <a:avLst>
              <a:gd name="adj" fmla="val 6667"/>
            </a:avLst>
          </a:prstGeom>
          <a:solidFill>
            <a:srgbClr val="E7F3EC"/>
          </a:solidFill>
          <a:ln w="1270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6400800" y="47091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E9E6E"/>
                </a:solidFill>
                <a:latin typeface="Cambria"/>
                <a:ea typeface="Cambria"/>
              </a:rPr>
              <a:t>✓ Com grounding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6400800" y="502920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responde do contexto, cita a fonte, admite não saber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FA12E0C-C394-5036-B0E4-18F7FB3CABF8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EE7E65B2-F37D-3B9F-A5EC-17AD684055F1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 dirty="0">
                <a:solidFill>
                  <a:srgbClr val="4F7BE8"/>
                </a:solidFill>
                <a:latin typeface="Calibri"/>
                <a:ea typeface="Calibri"/>
              </a:rPr>
              <a:t>GROUNDING VERIFICÁVEL (GUARDRAIL DE GROUNDING)</a:t>
            </a:r>
            <a:endParaRPr lang="en-US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Detectar por número quando NÃO há contexto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17830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ADCFC"/>
                </a:solidFill>
                <a:latin typeface="Calibri"/>
                <a:ea typeface="Calibri"/>
              </a:rPr>
              <a:t>Se a pergunta não tem resposta no dado, os chunks recuperados serão distantes. Dá para checar isso — e cortar antes de o LLM inventar.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548640" y="2514600"/>
            <a:ext cx="11063880" cy="2285640"/>
          </a:xfrm>
          <a:prstGeom prst="roundRect">
            <a:avLst>
              <a:gd name="adj" fmla="val 2400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749880" y="2651760"/>
            <a:ext cx="10661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LIMIAR = 1.2 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distância máxima aceitável (calibrar por modelo)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def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contexto_relevante(scores):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    # se nem o chunk mais próximo é perto o bastante, não há grounding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    return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len(scores) &gt; </a:t>
            </a:r>
            <a:r>
              <a:rPr lang="en-US" sz="1150" b="0" strike="noStrike" spc="-1">
                <a:solidFill>
                  <a:srgbClr val="7FB4F0"/>
                </a:solidFill>
                <a:latin typeface="Consolas"/>
                <a:ea typeface="Consolas"/>
              </a:rPr>
              <a:t>0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and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scores[</a:t>
            </a:r>
            <a:r>
              <a:rPr lang="en-US" sz="1150" b="0" strike="noStrike" spc="-1">
                <a:solidFill>
                  <a:srgbClr val="7FB4F0"/>
                </a:solidFill>
                <a:latin typeface="Consolas"/>
                <a:ea typeface="Consolas"/>
              </a:rPr>
              <a:t>0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] &lt; LIMIAR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548640" y="50292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9FBCE8"/>
                </a:solidFill>
                <a:latin typeface="Calibri"/>
                <a:ea typeface="Calibri"/>
              </a:rPr>
              <a:t>Groundedness deixa de ser opinião e vira métrica: a distância do embedding diz se a resposta pode ser fundamentada.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C99581E0-5C02-219C-5972-7096507A29D3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04D369B2-65BC-FABD-E457-106E98E1A9CC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Grounding — resposta fundamentada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Fazer o modelo responder SÓ com base no que foi recuperado — e admitir quando não sabe.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548640" y="1920240"/>
            <a:ext cx="5440320" cy="2377080"/>
          </a:xfrm>
          <a:prstGeom prst="roundRect">
            <a:avLst>
              <a:gd name="adj" fmla="val 307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822960" y="21031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4506B"/>
                </a:solidFill>
                <a:latin typeface="Cambria"/>
                <a:ea typeface="Cambria"/>
              </a:rPr>
              <a:t>Sem grounding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822960" y="2514600"/>
            <a:ext cx="493740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O modelo mistura o dado com o que "acha" que sabe.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C4506B"/>
                </a:solidFill>
                <a:latin typeface="Calibri"/>
                <a:ea typeface="Calibri"/>
              </a:rPr>
              <a:t>→ pode inventar (alucinar) mesmo tendo o dado certo à mão.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6172200" y="1920240"/>
            <a:ext cx="5440320" cy="2377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6446520" y="21031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3E9E6E"/>
                </a:solidFill>
                <a:latin typeface="Cambria"/>
                <a:ea typeface="Cambria"/>
              </a:rPr>
              <a:t>Com grounding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6446520" y="2514600"/>
            <a:ext cx="493740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Instrução explícita: use apenas o contexto; cite a fonte; se não estiver lá, diga "não sei".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F2B84A"/>
                </a:solidFill>
                <a:latin typeface="Calibri"/>
                <a:ea typeface="Calibri"/>
              </a:rPr>
              <a:t>→ resposta verificável e honesta.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548640" y="4526280"/>
            <a:ext cx="11063880" cy="1371240"/>
          </a:xfrm>
          <a:prstGeom prst="roundRect">
            <a:avLst>
              <a:gd name="adj" fmla="val 4000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749880" y="4663440"/>
            <a:ext cx="10661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# instrução de grounding no prompt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"Responda APENAS com base no contexto abaixo. Cite o documento.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 Se a resposta não estiver no contexto, responda: 'Não encontrei essa informação'."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43F912F9-FC9A-F739-6712-D0F146EC2F32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24FA0111-8763-2BA1-EB37-E5C195EC3705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CONFIANÇA · PARTE 2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Guardrails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Os "trilhos de segurança" que mantêm o agente na estrada certa.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82B1438-E515-B5F1-EEB8-34B5039AABA1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23AA761F-1342-A97F-7CF4-08FB80AE5B32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são guardrails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Mecanismos de controle que limitam o que o agente pode dizer ou fazer.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548640" y="1783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Um LLM tem enorme capacidade de gerar — o que é ótimo, mas pode produzir: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548640" y="2286000"/>
            <a:ext cx="5394600" cy="914040"/>
          </a:xfrm>
          <a:prstGeom prst="roundRect">
            <a:avLst>
              <a:gd name="adj" fmla="val 7000"/>
            </a:avLst>
          </a:prstGeom>
          <a:solidFill>
            <a:srgbClr val="F7E9EC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548640" y="2286000"/>
            <a:ext cx="91080" cy="914040"/>
          </a:xfrm>
          <a:prstGeom prst="roundRect">
            <a:avLst>
              <a:gd name="adj" fmla="val 20000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804600" y="23958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mbria"/>
                <a:ea typeface="Cambria"/>
              </a:rPr>
              <a:t>✗ Alucinações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804600" y="2788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respostas incorretas ou inventadas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6172200" y="2286000"/>
            <a:ext cx="5394600" cy="914040"/>
          </a:xfrm>
          <a:prstGeom prst="roundRect">
            <a:avLst>
              <a:gd name="adj" fmla="val 7000"/>
            </a:avLst>
          </a:prstGeom>
          <a:solidFill>
            <a:srgbClr val="F7E9EC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6172200" y="2286000"/>
            <a:ext cx="91080" cy="914040"/>
          </a:xfrm>
          <a:prstGeom prst="roundRect">
            <a:avLst>
              <a:gd name="adj" fmla="val 20000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6428160" y="23958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mbria"/>
                <a:ea typeface="Cambria"/>
              </a:rPr>
              <a:t>✗ Conteúdo tóxico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6428160" y="2788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linguagem ofensiva ou imprópria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548640" y="3337560"/>
            <a:ext cx="5394600" cy="914040"/>
          </a:xfrm>
          <a:prstGeom prst="roundRect">
            <a:avLst>
              <a:gd name="adj" fmla="val 7000"/>
            </a:avLst>
          </a:prstGeom>
          <a:solidFill>
            <a:srgbClr val="F7E9EC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548640" y="3337560"/>
            <a:ext cx="91080" cy="914040"/>
          </a:xfrm>
          <a:prstGeom prst="roundRect">
            <a:avLst>
              <a:gd name="adj" fmla="val 20000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804600" y="34473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mbria"/>
                <a:ea typeface="Cambria"/>
              </a:rPr>
              <a:t>✗ Vazamentos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804600" y="3840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violação de privacidade ou segurança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6172200" y="3337560"/>
            <a:ext cx="5394600" cy="914040"/>
          </a:xfrm>
          <a:prstGeom prst="roundRect">
            <a:avLst>
              <a:gd name="adj" fmla="val 7000"/>
            </a:avLst>
          </a:prstGeom>
          <a:solidFill>
            <a:srgbClr val="F7E9EC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6"/>
          <p:cNvSpPr/>
          <p:nvPr/>
        </p:nvSpPr>
        <p:spPr>
          <a:xfrm>
            <a:off x="6172200" y="3337560"/>
            <a:ext cx="91080" cy="914040"/>
          </a:xfrm>
          <a:prstGeom prst="roundRect">
            <a:avLst>
              <a:gd name="adj" fmla="val 20000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6428160" y="34473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mbria"/>
                <a:ea typeface="Cambria"/>
              </a:rPr>
              <a:t>✗ Ações indevidas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6428160" y="3840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executar algo errado num sistema integrado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9"/>
          <p:cNvSpPr/>
          <p:nvPr/>
        </p:nvSpPr>
        <p:spPr>
          <a:xfrm>
            <a:off x="548640" y="45720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Guardrails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são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os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trilhos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de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segurança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que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mantêm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o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agente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numa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estrada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segura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de </a:t>
            </a:r>
            <a:r>
              <a:rPr lang="en-US" sz="135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comportamento</a:t>
            </a:r>
            <a:r>
              <a:rPr lang="en-US" sz="135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.</a:t>
            </a:r>
            <a:endParaRPr lang="en-US" sz="135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94ADBFF-D120-8025-59B0-1FF6D7F63E74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9CF965C-AB6C-39C9-6E2E-AFD9FEB564AB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Onde as proteções agem: entrada, saída, escopo e verificação.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548640" y="1965960"/>
            <a:ext cx="5394600" cy="159984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48640" y="1965960"/>
            <a:ext cx="109440" cy="1599840"/>
          </a:xfrm>
          <a:prstGeom prst="roundRect">
            <a:avLst>
              <a:gd name="adj" fmla="val 16667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822960" y="213048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Entrada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822960" y="258768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filtrar pedidos fora do escopo ou maliciosos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822960" y="299016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"não responda fora do domínio de suporte"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7"/>
          <p:cNvSpPr/>
          <p:nvPr/>
        </p:nvSpPr>
        <p:spPr>
          <a:xfrm>
            <a:off x="6172200" y="1965960"/>
            <a:ext cx="5394600" cy="159984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6172200" y="1965960"/>
            <a:ext cx="109440" cy="1599840"/>
          </a:xfrm>
          <a:prstGeom prst="roundRect">
            <a:avLst>
              <a:gd name="adj" fmla="val 16667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6446520" y="213048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Saída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6446520" y="258768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checar a resposta antes de entregar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6446520" y="299016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bloquear dados sensíveis, tom impróprio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548640" y="3840480"/>
            <a:ext cx="5394600" cy="159984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3"/>
          <p:cNvSpPr/>
          <p:nvPr/>
        </p:nvSpPr>
        <p:spPr>
          <a:xfrm>
            <a:off x="548640" y="3840480"/>
            <a:ext cx="109440" cy="1599840"/>
          </a:xfrm>
          <a:prstGeom prst="roundRect">
            <a:avLst>
              <a:gd name="adj" fmla="val 16667"/>
            </a:avLst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822960" y="40050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Escopo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822960" y="44622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manter o agente no que ele deve fazer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822960" y="486468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recusar: "isso está fora do que posso ajudar"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7"/>
          <p:cNvSpPr/>
          <p:nvPr/>
        </p:nvSpPr>
        <p:spPr>
          <a:xfrm>
            <a:off x="6172200" y="3840480"/>
            <a:ext cx="5394600" cy="159984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6172200" y="3840480"/>
            <a:ext cx="109440" cy="1599840"/>
          </a:xfrm>
          <a:prstGeom prst="roundRect">
            <a:avLst>
              <a:gd name="adj" fmla="val 16667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9"/>
          <p:cNvSpPr/>
          <p:nvPr/>
        </p:nvSpPr>
        <p:spPr>
          <a:xfrm>
            <a:off x="6446520" y="40050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Verificação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6446520" y="44622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conferir se a resposta bate com a fonte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6446520" y="486468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comparar a saída com o trecho (groundedness)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2164395-0820-7C2F-927D-36084C896B2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C6FCEE5C-112B-CBFF-8F24-C2E642A35363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13</a:t>
            </a:fld>
            <a:endParaRPr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0956E0A-3FB7-3E83-A3D6-E5B8B8555E00}"/>
              </a:ext>
            </a:extLst>
          </p:cNvPr>
          <p:cNvSpPr/>
          <p:nvPr/>
        </p:nvSpPr>
        <p:spPr>
          <a:xfrm>
            <a:off x="457200" y="36576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Tipos</a:t>
            </a:r>
            <a:r>
              <a:rPr lang="en-US" sz="28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guardrails — </a:t>
            </a:r>
            <a:r>
              <a:rPr lang="en-US" sz="28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por</a:t>
            </a:r>
            <a:r>
              <a:rPr lang="en-US" sz="28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local de </a:t>
            </a:r>
            <a:r>
              <a:rPr lang="en-US" sz="28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proteção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Guardrails no código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Proteções simples que já mudam tudo — entrada e grounding.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48640" y="1874520"/>
            <a:ext cx="5440320" cy="3291480"/>
          </a:xfrm>
          <a:prstGeom prst="roundRect">
            <a:avLst>
              <a:gd name="adj" fmla="val 1667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749880" y="2011680"/>
            <a:ext cx="503784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GUARDRAIL de ENTRADA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def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guardrail_entrada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pergunta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):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    if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len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pergunta.strip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()) &lt; </a:t>
            </a:r>
            <a:r>
              <a:rPr lang="en-US" sz="1150" b="0" strike="noStrike" spc="-1" dirty="0">
                <a:solidFill>
                  <a:srgbClr val="7FB4F0"/>
                </a:solidFill>
                <a:latin typeface="Consolas"/>
                <a:ea typeface="Consolas"/>
              </a:rPr>
              <a:t>5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: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        return 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False, 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Pergunta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inválida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    return 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True, </a:t>
            </a:r>
            <a:r>
              <a:rPr lang="en-US" sz="1150" b="0" strike="noStrike" spc="-1" dirty="0">
                <a:solidFill>
                  <a:srgbClr val="7FB4F0"/>
                </a:solidFill>
                <a:latin typeface="Consolas"/>
                <a:ea typeface="Consolas"/>
              </a:rPr>
              <a:t>None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# barra ANTES de </a:t>
            </a:r>
            <a:r>
              <a:rPr lang="en-US" sz="1150" b="0" strike="noStrike" spc="-1" dirty="0" err="1">
                <a:solidFill>
                  <a:srgbClr val="FF0000"/>
                </a:solidFill>
                <a:latin typeface="Consolas"/>
                <a:ea typeface="Consolas"/>
              </a:rPr>
              <a:t>gastar</a:t>
            </a:r>
            <a:endParaRPr lang="en-US" sz="1150" b="0" strike="noStrike" spc="-1" dirty="0">
              <a:solidFill>
                <a:srgbClr val="FF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# </a:t>
            </a:r>
            <a:r>
              <a:rPr lang="en-US" sz="1150" b="0" strike="noStrike" spc="-1" dirty="0" err="1">
                <a:solidFill>
                  <a:srgbClr val="FF0000"/>
                </a:solidFill>
                <a:latin typeface="Consolas"/>
                <a:ea typeface="Consolas"/>
              </a:rPr>
              <a:t>uma</a:t>
            </a:r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FF0000"/>
                </a:solidFill>
                <a:latin typeface="Consolas"/>
                <a:ea typeface="Consolas"/>
              </a:rPr>
              <a:t>chamada</a:t>
            </a:r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FF0000"/>
                </a:solidFill>
                <a:latin typeface="Consolas"/>
                <a:ea typeface="Consolas"/>
              </a:rPr>
              <a:t>ao</a:t>
            </a:r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 LLM</a:t>
            </a:r>
            <a:endParaRPr lang="en-US" sz="1150" b="0" strike="noStrike" spc="-1" dirty="0">
              <a:solidFill>
                <a:srgbClr val="FF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6172200" y="1874520"/>
            <a:ext cx="5440320" cy="3291480"/>
          </a:xfrm>
          <a:prstGeom prst="roundRect">
            <a:avLst>
              <a:gd name="adj" fmla="val 1667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6373440" y="2011680"/>
            <a:ext cx="503784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GUARDRAIL de GROUNDING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def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responder_protegido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(p):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  ok, msg =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guardrail_entrada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(p)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  if not 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ok: </a:t>
            </a:r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return 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msg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  docs, scores =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recuperar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(p)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  if not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contexto_relevante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(scores):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    return 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Não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encontrei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..."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 </a:t>
            </a:r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# ... </a:t>
            </a:r>
            <a:r>
              <a:rPr lang="en-US" sz="1150" b="0" strike="noStrike" spc="-1" dirty="0" err="1">
                <a:solidFill>
                  <a:srgbClr val="FF0000"/>
                </a:solidFill>
                <a:latin typeface="Consolas"/>
                <a:ea typeface="Consolas"/>
              </a:rPr>
              <a:t>gera</a:t>
            </a:r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 com grounding (</a:t>
            </a:r>
            <a:r>
              <a:rPr lang="en-US" sz="1150" b="0" strike="noStrike" spc="-1" dirty="0" err="1">
                <a:solidFill>
                  <a:srgbClr val="FF0000"/>
                </a:solidFill>
                <a:latin typeface="Consolas"/>
                <a:ea typeface="Consolas"/>
              </a:rPr>
              <a:t>Groq</a:t>
            </a:r>
            <a:r>
              <a:rPr lang="en-US" sz="1150" b="0" strike="noStrike" spc="-1" dirty="0">
                <a:solidFill>
                  <a:srgbClr val="FF0000"/>
                </a:solidFill>
                <a:latin typeface="Consolas"/>
                <a:ea typeface="Consolas"/>
              </a:rPr>
              <a:t>)</a:t>
            </a:r>
            <a:endParaRPr lang="en-US" sz="1150" b="0" strike="noStrike" spc="-1" dirty="0">
              <a:solidFill>
                <a:srgbClr val="FF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548640" y="53492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Encadeamento: entrada → recuperar → grounding → gerar. Cada guardrail pode barrar antes de seguir. (Ver Lab 8.)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B522B67-4EE9-BB7A-DDC5-E8E13BE5D3D0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66AB4E06-8D75-F052-3069-AE69BA11E3F1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AS PROTEÇÕES AGINDO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Testando os guardrails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548640" y="1920240"/>
            <a:ext cx="11063880" cy="1554120"/>
          </a:xfrm>
          <a:prstGeom prst="roundRect">
            <a:avLst>
              <a:gd name="adj" fmla="val 3529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749880" y="2057400"/>
            <a:ext cx="1066140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responder_protegido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"O que é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aprendizado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de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máquina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?"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)   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</a:t>
            </a:r>
            <a:r>
              <a:rPr lang="en-US" sz="1150" spc="-1" dirty="0" err="1">
                <a:solidFill>
                  <a:srgbClr val="6E79A0"/>
                </a:solidFill>
                <a:latin typeface="Consolas"/>
                <a:ea typeface="Consolas"/>
              </a:rPr>
              <a:t>tem</a:t>
            </a:r>
            <a:r>
              <a:rPr lang="en-US" sz="1150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spc="-1" dirty="0" err="1">
                <a:solidFill>
                  <a:srgbClr val="6E79A0"/>
                </a:solidFill>
                <a:latin typeface="Consolas"/>
                <a:ea typeface="Consolas"/>
              </a:rPr>
              <a:t>correspondência</a:t>
            </a:r>
            <a:r>
              <a:rPr lang="en-US" sz="1150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no PDF</a:t>
            </a:r>
            <a:endParaRPr lang="en-US" sz="1150" b="0" strike="noStrike" spc="-1" dirty="0">
              <a:solidFill>
                <a:srgbClr val="FFFFFF"/>
              </a:solidFill>
              <a:latin typeface="Arial"/>
            </a:endParaRPr>
          </a:p>
          <a:p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responder_protegido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"oi"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)                                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pergunta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muito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curta</a:t>
            </a:r>
            <a:endParaRPr lang="en-US" sz="1150" b="0" strike="noStrike" spc="-1" dirty="0">
              <a:solidFill>
                <a:srgbClr val="FFFFFF"/>
              </a:solidFill>
              <a:latin typeface="Arial"/>
            </a:endParaRPr>
          </a:p>
          <a:p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responder_protegido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"Qual a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receita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de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lasanha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?"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)        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não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spc="-1" dirty="0" err="1">
                <a:solidFill>
                  <a:srgbClr val="6E79A0"/>
                </a:solidFill>
                <a:latin typeface="Consolas"/>
                <a:ea typeface="Consolas"/>
              </a:rPr>
              <a:t>tem</a:t>
            </a:r>
            <a:r>
              <a:rPr lang="en-US" sz="1150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spc="-1" dirty="0" err="1">
                <a:solidFill>
                  <a:srgbClr val="6E79A0"/>
                </a:solidFill>
                <a:latin typeface="Consolas"/>
                <a:ea typeface="Consolas"/>
              </a:rPr>
              <a:t>correspondência</a:t>
            </a:r>
            <a:r>
              <a:rPr lang="en-US" sz="1150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no PDF</a:t>
            </a:r>
            <a:endParaRPr lang="en-US" sz="115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548640" y="3749040"/>
            <a:ext cx="3931560" cy="658080"/>
          </a:xfrm>
          <a:prstGeom prst="roundRect">
            <a:avLst>
              <a:gd name="adj" fmla="val 8333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374904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9E6E"/>
                </a:solidFill>
                <a:latin typeface="Calibri"/>
                <a:ea typeface="Calibri"/>
              </a:rPr>
              <a:t>✓ no domínio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4663440" y="3749040"/>
            <a:ext cx="6949080" cy="658080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 w="12700">
            <a:solidFill>
              <a:srgbClr val="34407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4892040" y="3749040"/>
            <a:ext cx="6583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"Aprendizado de máquina é um ramo da IA..."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8"/>
          <p:cNvSpPr/>
          <p:nvPr/>
        </p:nvSpPr>
        <p:spPr>
          <a:xfrm>
            <a:off x="548640" y="4507920"/>
            <a:ext cx="3931560" cy="658080"/>
          </a:xfrm>
          <a:prstGeom prst="roundRect">
            <a:avLst>
              <a:gd name="adj" fmla="val 8333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777240" y="450792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2B84A"/>
                </a:solidFill>
                <a:latin typeface="Calibri"/>
                <a:ea typeface="Calibri"/>
              </a:rPr>
              <a:t>✗ guardrail de entrada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4663440" y="4507920"/>
            <a:ext cx="6949080" cy="658080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 w="12700">
            <a:solidFill>
              <a:srgbClr val="34407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4892040" y="4507920"/>
            <a:ext cx="6583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"Pergunta inválida"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2"/>
          <p:cNvSpPr/>
          <p:nvPr/>
        </p:nvSpPr>
        <p:spPr>
          <a:xfrm>
            <a:off x="548640" y="5266800"/>
            <a:ext cx="3931560" cy="658080"/>
          </a:xfrm>
          <a:prstGeom prst="roundRect">
            <a:avLst>
              <a:gd name="adj" fmla="val 8333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777240" y="526680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2B84A"/>
                </a:solidFill>
                <a:latin typeface="Calibri"/>
                <a:ea typeface="Calibri"/>
              </a:rPr>
              <a:t>✗ guardrail de grounding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4663440" y="5266800"/>
            <a:ext cx="6949080" cy="658080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 w="12700">
            <a:solidFill>
              <a:srgbClr val="34407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4892040" y="5266800"/>
            <a:ext cx="6583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"Não encontrei essa informação"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548640" y="59436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9FBCE8"/>
                </a:solidFill>
                <a:latin typeface="Calibri"/>
                <a:ea typeface="Calibri"/>
              </a:rPr>
              <a:t>O agente responde no domínio, recusa entrada inválida e não inventa fora do escopo. Isto é confiabilidade.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CE3E707-3EC2-F9CE-00B6-B40962CBF8B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41C74106-5853-D3DF-BEF5-1E622C29C631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57200" y="36576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Tipos</a:t>
            </a:r>
            <a:r>
              <a:rPr lang="en-US" sz="28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guardrails — </a:t>
            </a:r>
            <a:r>
              <a:rPr lang="en-US" sz="28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por</a:t>
            </a:r>
            <a:r>
              <a:rPr lang="en-US" sz="28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28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finalidade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475560" y="104256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Cinco categorias pelo que cada proteção evita — do conteúdo à conformidade legal.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2"/>
          <p:cNvSpPr/>
          <p:nvPr/>
        </p:nvSpPr>
        <p:spPr>
          <a:xfrm>
            <a:off x="548640" y="1572840"/>
            <a:ext cx="2742840" cy="502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3"/>
          <p:cNvSpPr/>
          <p:nvPr/>
        </p:nvSpPr>
        <p:spPr>
          <a:xfrm>
            <a:off x="694800" y="1572840"/>
            <a:ext cx="2486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Tipo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3291840" y="1572840"/>
            <a:ext cx="3657240" cy="502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5"/>
          <p:cNvSpPr/>
          <p:nvPr/>
        </p:nvSpPr>
        <p:spPr>
          <a:xfrm>
            <a:off x="3438000" y="1572840"/>
            <a:ext cx="34012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Função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6949440" y="1572840"/>
            <a:ext cx="4663080" cy="502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095600" y="1572840"/>
            <a:ext cx="4407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Exemplo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548640" y="2075760"/>
            <a:ext cx="274284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548640" y="2075760"/>
            <a:ext cx="91080" cy="749520"/>
          </a:xfrm>
          <a:prstGeom prst="rect">
            <a:avLst/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31520" y="207576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1E2761"/>
                </a:solidFill>
                <a:latin typeface="Calibri"/>
                <a:ea typeface="Calibri"/>
              </a:rPr>
              <a:t>Linguísticos / Conteúdo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3291840" y="2075760"/>
            <a:ext cx="365724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3474720" y="2075760"/>
            <a:ext cx="3364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Controlam o que o modelo pode dizer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949440" y="2075760"/>
            <a:ext cx="466308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132320" y="2075760"/>
            <a:ext cx="43704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Evitar discurso de ódio, informações confidenciais ou conteúdo sexual.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548640" y="2825640"/>
            <a:ext cx="274284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548640" y="2825640"/>
            <a:ext cx="91080" cy="749520"/>
          </a:xfrm>
          <a:prstGeom prst="rect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31520" y="282564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1E2761"/>
                </a:solidFill>
                <a:latin typeface="Calibri"/>
                <a:ea typeface="Calibri"/>
              </a:rPr>
              <a:t>Política / Conformidade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91840" y="2825640"/>
            <a:ext cx="365724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3474720" y="2825640"/>
            <a:ext cx="3364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Garantem aderência a normas (LGPD, GDPR, leis)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6949440" y="2825640"/>
            <a:ext cx="466308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132320" y="2825640"/>
            <a:ext cx="43704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Impedir que o agente divulgue dados pessoais.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548640" y="3575160"/>
            <a:ext cx="274284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48640" y="3575160"/>
            <a:ext cx="91080" cy="749520"/>
          </a:xfrm>
          <a:prstGeom prst="rect">
            <a:avLst/>
          </a:prstGeom>
          <a:solidFill>
            <a:srgbClr val="D98B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731520" y="357516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1E2761"/>
                </a:solidFill>
                <a:latin typeface="Calibri"/>
                <a:ea typeface="Calibri"/>
              </a:rPr>
              <a:t>Segurança operacional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3291840" y="3575160"/>
            <a:ext cx="365724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3474720" y="3575160"/>
            <a:ext cx="3364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Limitam ações em sistemas integrados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949440" y="3575160"/>
            <a:ext cx="466308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7132320" y="3575160"/>
            <a:ext cx="43704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Impedir que um agente autônomo apague arquivos críticos.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548640" y="4325040"/>
            <a:ext cx="274284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548640" y="4325040"/>
            <a:ext cx="91080" cy="749520"/>
          </a:xfrm>
          <a:prstGeom prst="rect">
            <a:avLst/>
          </a:prstGeom>
          <a:solidFill>
            <a:srgbClr val="9B5BB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731520" y="432504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1E2761"/>
                </a:solidFill>
                <a:latin typeface="Calibri"/>
                <a:ea typeface="Calibri"/>
              </a:rPr>
              <a:t>Contexto / Escopo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3291840" y="4325040"/>
            <a:ext cx="365724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3474720" y="4325040"/>
            <a:ext cx="3364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Mantêm o agente dentro de seu domínio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6949440" y="4325040"/>
            <a:ext cx="4663080" cy="749520"/>
          </a:xfrm>
          <a:prstGeom prst="rect">
            <a:avLst/>
          </a:prstGeom>
          <a:solidFill>
            <a:srgbClr val="F4F6FB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7132320" y="4325040"/>
            <a:ext cx="43704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Um agente financeiro não deve dar diagnósticos médicos.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548640" y="5074920"/>
            <a:ext cx="274284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548640" y="5074920"/>
            <a:ext cx="91080" cy="749520"/>
          </a:xfrm>
          <a:prstGeom prst="rect">
            <a:avLst/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731520" y="507492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1E2761"/>
                </a:solidFill>
                <a:latin typeface="Calibri"/>
                <a:ea typeface="Calibri"/>
              </a:rPr>
              <a:t>Alinhamento ético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9"/>
          <p:cNvSpPr/>
          <p:nvPr/>
        </p:nvSpPr>
        <p:spPr>
          <a:xfrm>
            <a:off x="3291840" y="5074920"/>
            <a:ext cx="365724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40"/>
          <p:cNvSpPr/>
          <p:nvPr/>
        </p:nvSpPr>
        <p:spPr>
          <a:xfrm>
            <a:off x="3474720" y="5074920"/>
            <a:ext cx="3364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Asseguram comportamento moral e imparcial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41"/>
          <p:cNvSpPr/>
          <p:nvPr/>
        </p:nvSpPr>
        <p:spPr>
          <a:xfrm>
            <a:off x="6949440" y="5074920"/>
            <a:ext cx="4663080" cy="7495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7132320" y="5074920"/>
            <a:ext cx="43704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Evitar respostas preconceituosas ou discriminatórias.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43"/>
          <p:cNvSpPr/>
          <p:nvPr/>
        </p:nvSpPr>
        <p:spPr>
          <a:xfrm>
            <a:off x="548640" y="5852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FDF4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44"/>
          <p:cNvSpPr/>
          <p:nvPr/>
        </p:nvSpPr>
        <p:spPr>
          <a:xfrm>
            <a:off x="822960" y="585216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9A6B00"/>
                </a:solidFill>
                <a:latin typeface="Calibri"/>
              </a:rPr>
              <a:t>Duas lentes:  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esta tabela diz CONTRA O QUE proteger (finalidade); os 4 tipos (entrada/saída/escopo/verificação) dizem ONDE colocar a proteção (posição).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Juntos: um agente confiável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Grounding + guardrails no mesmo sistema — o exemplo corporativo.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548640" y="1920240"/>
            <a:ext cx="11063880" cy="914040"/>
          </a:xfrm>
          <a:prstGeom prst="roundRect">
            <a:avLst>
              <a:gd name="adj" fmla="val 80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822960" y="192024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Imagine um agente que responde e-mails e acessa bancos de dados internos da empresa: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548640" y="301752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1905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822960" y="32004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3E9E6E"/>
                </a:solidFill>
                <a:latin typeface="Cambria"/>
                <a:ea typeface="Cambria"/>
              </a:rPr>
              <a:t>Grounding garante...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822960" y="3611880"/>
            <a:ext cx="493740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que ele entenda corretamente o contexto e os dados ("pedido de reembolso", "cliente X") — respondendo com base na informação real.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6172200" y="301752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6446520" y="32004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mbria"/>
                <a:ea typeface="Cambria"/>
              </a:rPr>
              <a:t>Guardrails garantem...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6446520" y="3611880"/>
            <a:ext cx="493740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que ele NÃO envie dados confidenciais nem execute ações fora de permissão — protegendo a empresa.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548640" y="5074920"/>
            <a:ext cx="11063880" cy="776880"/>
          </a:xfrm>
          <a:prstGeom prst="roundRect">
            <a:avLst>
              <a:gd name="adj" fmla="val 8235"/>
            </a:avLst>
          </a:prstGeom>
          <a:solidFill>
            <a:srgbClr val="FDF4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868680" y="507492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9A6B00"/>
                </a:solidFill>
                <a:latin typeface="Calibri"/>
              </a:rPr>
              <a:t>A frase que resume tudo:  </a:t>
            </a:r>
            <a:r>
              <a:rPr lang="en-US" sz="1450" b="0" strike="noStrike" spc="-1">
                <a:solidFill>
                  <a:srgbClr val="5A6072"/>
                </a:solidFill>
                <a:latin typeface="Calibri"/>
              </a:rPr>
              <a:t>sem grounding, ele não entende. Sem guardrails, ele entende — mas pode causar danos.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47CD7B1-D63A-F4E8-5AC1-CBC3DDD199D2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A0F1E15F-62BE-A58D-1CCF-6A8E1D50DFF0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73B9A61-66FA-47FF-AB99-8CFB28DB3CBF}"/>
</file>

<file path=customXml/itemProps2.xml><?xml version="1.0" encoding="utf-8"?>
<ds:datastoreItem xmlns:ds="http://schemas.openxmlformats.org/officeDocument/2006/customXml" ds:itemID="{97BC45D2-EF72-4A13-8393-FE85249F4699}"/>
</file>

<file path=customXml/itemProps3.xml><?xml version="1.0" encoding="utf-8"?>
<ds:datastoreItem xmlns:ds="http://schemas.openxmlformats.org/officeDocument/2006/customXml" ds:itemID="{FAB2AEC1-BA32-4F10-9A37-FA1EC5E814A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1702</Words>
  <Application>Microsoft Office PowerPoint</Application>
  <PresentationFormat>Widescreen</PresentationFormat>
  <Paragraphs>249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WALMIR GONCALVES DUQUE</cp:lastModifiedBy>
  <cp:revision>12</cp:revision>
  <dcterms:modified xsi:type="dcterms:W3CDTF">2026-09-23T20:37:17Z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2026-09-23T12:03:46Z</dcterms:created>
  <dc:creator>PptxGenJS</dc:creator>
  <dc:description/>
  <dc:language>en-US</dc:language>
  <cp:lastModifiedBy>PptxGenJS</cp:lastModifiedBy>
  <dcterms:modified xsi:type="dcterms:W3CDTF">2026-09-23T12:03:46Z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  <property fmtid="{D5CDD505-2E9C-101B-9397-08002B2CF9AE}" pid="5" name="ContentTypeId">
    <vt:lpwstr>0x01010078A2D2C2733B7342A34F941B973AA6E6</vt:lpwstr>
  </property>
</Properties>
</file>