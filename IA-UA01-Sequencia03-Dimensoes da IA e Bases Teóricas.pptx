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76" r:id="rId7"/>
    <p:sldId id="258" r:id="rId8"/>
    <p:sldId id="277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349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2 — o núcleo conceitual da introdução: o que é inteligência, as 4 dimensões da IA, as bases científicas, Turing e agentes.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de abertura. Mostrar 1-2 vídeos ao vivo. Criar o espanto antes de definir. Links mantidos como apoio para você abrir na 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de abertura. Mostrar 1-2 vídeos ao vivo. Criar o espanto antes de definir. Links mantidos como apoio para você abrir na 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3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 os slides 4 e 5 do original. A 3ª questão (Alexa atualizada) já planta a ideia de recuperação de informação — semente do RAG mais adiante na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Dinâmica de 20 min. Passo 1 (3'): definição relâmpago individual, guardar. Passo 2 (7'): duplas classificam os 10 casos — o objetivo é DISCORDAREM. Passo 3 (7'): plenária, puxar 3-4 casos polêmicos, sempre perguntar 'depende de quê?'; anotar no quadro os critérios que ELES levantam (aprendizado, generalização, autonomia, Turing) — são os eixos de Russell &amp; Norvig. Passo 4 (3'): reescrever a frase; comparar com a inicial torna o aprendizado visível. Cuidado: segurar o passo 3 em no máximo 4 casos para não estourar o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 slides 6,7,8 numa matriz 2x2 limpa. Este é O enquadramento canônico de Russell &amp; Norvig. Cada quadrante = uma corrente histórica que os próximos slides desenvolvem.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Reorganiza o slide 9 (que era muito denso) em duas colunas legíveis: numérico/extensional vs simbólico/intensional. Robôs no meio porque integram as duas representações.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 slides 10,11,12. Objetivos (compreender/reproduzir/construir) à esquerda; capacidades de um sistema inteligente à direita. Percepção/raciocínio/aprendizado/comunicação/ação/planejamento pode ser citado oralmente.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original. Boa ponte com a Parte 1 (que detalha cada paradigma). Aqui o enquadramento é 'metáfora'.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— a IA como confluência de disciplinas. Os próximos slides percorrem Filosofia, Matemática, Psicologia, Computação, Linguística.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15. A pergunta filosófica: a mente pode ser descrita por regras? É a raiz da IA simbólica.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 slides 16 e 17 numa linha do tempo em duas colunas. Destaque: Gödel (limites), Turing/Church (computabilidade), Bayes (probabilidade — base do ML estatístico).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 18 e 19. A trajetória introspecção → behaviorismo → cognição é o que aproxima psicologia e IA (a mente como processador de representações).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 20 e 21. Ligar a linguística ao PLN moderno: é a base direta dos LLMs que a disciplina vai explorar.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Turing (1950) desloca a pergunta 'a máquina pensa?' para 'a máquina age de forma indistinguível?'.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 23 e 24. Link mantido como apoio. Se houver tempo, comentar debates modernos (um chatbot 'passar' no teste não significa compreensão).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25. As 4 capacidades mapeiam quase 1:1 nos componentes de um LLM (PLN, conhecimento, raciocínio, aprendizado). Bom gancho para a ênfase generativa.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 26 e 27. O limite da lógica pura (incerteza + senso comum) motiva as abordagens estatísticas e conexionistas — transição natural para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 28 e 29. Ciência cognitiva = IA + psicologia experimental. Uma retroalimenta a outra (ex.: visão computacional).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30. Deliberativo (raciocina com modelo) x reativo (responde à percepção). Ambos no ciclo percepção-ação. Prepara a ponte do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NOVO — a ponte pedida. Liga 'tipos de agente' clássicos aos agentes de IA modernos (LLM+ferramentas). Fecha a Parte 2 conectando com o desafio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94360" y="29286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 à IA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41173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Dimensões, bases </a:t>
            </a: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teóricas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Teste de Turing e os tipos de agente</a:t>
            </a:r>
            <a:endParaRPr lang="en-US" sz="1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0654C24-AAF3-52C4-3EE2-C525F98C8E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enche os olhos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232C6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iRobot — Roomba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aspirador doméstico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4160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irobotloja.com.br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82880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232C63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Boston Dynamics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81144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You Love Me?" — robôs dançando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04004" y="3027045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 → watch?v=fn3KWM1kuAw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1584" y="201168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232C63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Humanoides na China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57616" y="28803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Robôs humanoides </a:t>
            </a: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festival </a:t>
            </a: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China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3063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 → shorts/wW8YQFg2qXs</a:t>
            </a:r>
            <a:endParaRPr lang="en-US" sz="1100" dirty="0"/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73236E18-6984-EA91-4DED-1EBF9C2A0EE8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6D0A1514-2DEE-DECC-EADE-938B4747DCC6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FE9CBBD-10AE-67BC-E798-7B6B129B0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025" y="3754244"/>
            <a:ext cx="1905495" cy="1333005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A9C954AD-BE24-9822-B789-5235205F6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326" y="3477119"/>
            <a:ext cx="1363452" cy="1932995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5BF59D97-0E85-7F76-6284-606DAE984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6782" y="3474691"/>
            <a:ext cx="1476741" cy="19440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enche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olhos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 Walmir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</a:t>
            </a:r>
            <a:endParaRPr lang="en-US" sz="3200" dirty="0"/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73236E18-6984-EA91-4DED-1EBF9C2A0EE8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6D0A1514-2DEE-DECC-EADE-938B4747DCC6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3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C4C806E0-654C-EADB-3C0B-1950F736C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260" y="640080"/>
            <a:ext cx="2610709" cy="530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86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 FUNDO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Inteligência? Defina.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2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?????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66928" y="310896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definir IA, repare como é difícil definir "inteligência" — nem para humanos temos consenso.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187452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232C6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Algumas questões para provocar: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256032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tenta fazer só o que o ser humano faz?</a:t>
            </a:r>
            <a:endParaRPr lang="en-US" sz="17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confiaria em um carro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autônomo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>
              <a:spcAft>
                <a:spcPts val="1400"/>
              </a:spcAft>
              <a:buSzPct val="100000"/>
            </a:pPr>
            <a:endParaRPr lang="en-US" sz="1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400"/>
              </a:spcAft>
              <a:buSzPct val="100000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para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D751645B-BA57-53E9-B52A-199C6F1B0B84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A7FE32F6-B2A0-A5F2-3DFB-319A4EF84398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4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ATIVIDADE: DEFINIÇÃO DE IA 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Isto é IA?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16001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</a:t>
            </a:r>
            <a:r>
              <a:rPr lang="en-US" sz="15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duplas</a:t>
            </a:r>
            <a:r>
              <a:rPr lang="en-US" sz="15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</a:t>
            </a:r>
            <a:r>
              <a:rPr lang="en-US" sz="1500" i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5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precisa acertar — </a:t>
            </a:r>
            <a:r>
              <a:rPr lang="en-US" sz="1500" i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</a:t>
            </a:r>
            <a:r>
              <a:rPr lang="en-US" sz="15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discordar</a:t>
            </a:r>
            <a:r>
              <a:rPr lang="en-US" sz="15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736090"/>
            <a:ext cx="7452360" cy="3246120"/>
          </a:xfrm>
          <a:prstGeom prst="roundRect">
            <a:avLst>
              <a:gd name="adj" fmla="val 2254"/>
            </a:avLst>
          </a:prstGeom>
          <a:solidFill>
            <a:srgbClr val="232C6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1897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CASOS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431034"/>
            <a:ext cx="128016" cy="128016"/>
          </a:xfrm>
          <a:prstGeom prst="ellipse">
            <a:avLst/>
          </a:prstGeom>
          <a:solidFill>
            <a:srgbClr val="F2B84A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32130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14400" y="2915666"/>
            <a:ext cx="128016" cy="128016"/>
          </a:xfrm>
          <a:prstGeom prst="ellipse">
            <a:avLst/>
          </a:prstGeom>
          <a:solidFill>
            <a:srgbClr val="F2B84A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280593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Corretor do celular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14400" y="3400298"/>
            <a:ext cx="128016" cy="128016"/>
          </a:xfrm>
          <a:prstGeom prst="ellipse">
            <a:avLst/>
          </a:prstGeom>
          <a:solidFill>
            <a:srgbClr val="F2B84A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29057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Termostato do ar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14400" y="3884930"/>
            <a:ext cx="128016" cy="128016"/>
          </a:xfrm>
          <a:prstGeom prst="ellipse">
            <a:avLst/>
          </a:prstGeom>
          <a:solidFill>
            <a:srgbClr val="F2B84A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377520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14400" y="4369562"/>
            <a:ext cx="128016" cy="128016"/>
          </a:xfrm>
          <a:prstGeom prst="ellipse">
            <a:avLst/>
          </a:prstGeom>
          <a:solidFill>
            <a:srgbClr val="F2B84A"/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425983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spam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343400" y="2431034"/>
            <a:ext cx="128016" cy="128016"/>
          </a:xfrm>
          <a:prstGeom prst="ellipse">
            <a:avLst/>
          </a:prstGeom>
          <a:solidFill>
            <a:srgbClr val="F2B8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99432" y="232130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"Recomendado" da Netflix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343400" y="2915666"/>
            <a:ext cx="128016" cy="128016"/>
          </a:xfrm>
          <a:prstGeom prst="ellipse">
            <a:avLst/>
          </a:prstGeom>
          <a:solidFill>
            <a:srgbClr val="F2B8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99432" y="280593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Inimigo que foge no game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4343400" y="3400298"/>
            <a:ext cx="128016" cy="128016"/>
          </a:xfrm>
          <a:prstGeom prst="ellipse">
            <a:avLst/>
          </a:prstGeom>
          <a:solidFill>
            <a:srgbClr val="F2B84A"/>
          </a:solidFill>
          <a:ln/>
        </p:spPr>
      </p:sp>
      <p:sp>
        <p:nvSpPr>
          <p:cNvPr id="23" name="Text 21"/>
          <p:cNvSpPr/>
          <p:nvPr/>
        </p:nvSpPr>
        <p:spPr>
          <a:xfrm>
            <a:off x="4599432" y="329057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automático do carro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4343400" y="3884930"/>
            <a:ext cx="128016" cy="128016"/>
          </a:xfrm>
          <a:prstGeom prst="ellipse">
            <a:avLst/>
          </a:prstGeom>
          <a:solidFill>
            <a:srgbClr val="F2B84A"/>
          </a:solidFill>
          <a:ln/>
        </p:spPr>
      </p:sp>
      <p:sp>
        <p:nvSpPr>
          <p:cNvPr id="25" name="Text 23"/>
          <p:cNvSpPr/>
          <p:nvPr/>
        </p:nvSpPr>
        <p:spPr>
          <a:xfrm>
            <a:off x="4599432" y="377520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com muitos SE/IF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4343400" y="4369562"/>
            <a:ext cx="128016" cy="128016"/>
          </a:xfrm>
          <a:prstGeom prst="ellipse">
            <a:avLst/>
          </a:prstGeom>
          <a:solidFill>
            <a:srgbClr val="F2B84A"/>
          </a:solidFill>
          <a:ln/>
        </p:spPr>
      </p:sp>
      <p:sp>
        <p:nvSpPr>
          <p:cNvPr id="27" name="Text 25"/>
          <p:cNvSpPr/>
          <p:nvPr/>
        </p:nvSpPr>
        <p:spPr>
          <a:xfrm>
            <a:off x="4599432" y="425983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Desbloqueio facial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183880" y="173609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141A45"/>
          </a:solidFill>
          <a:ln w="12700">
            <a:solidFill>
              <a:srgbClr val="3440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191897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PERGUNTA-CHAVE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0" y="233045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"Depende de quê?"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8412480" y="310769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…se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(dados x regras)
…se lida com o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…se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obedece
…se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 humano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(Turing)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5165090"/>
            <a:ext cx="2670048" cy="777240"/>
          </a:xfrm>
          <a:prstGeom prst="roundRect">
            <a:avLst>
              <a:gd name="adj" fmla="val 8235"/>
            </a:avLst>
          </a:prstGeom>
          <a:solidFill>
            <a:srgbClr val="232C63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" y="5366258"/>
            <a:ext cx="384048" cy="384048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536625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07008" y="516509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"IA é ___" em 1 frase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3346704" y="5165090"/>
            <a:ext cx="2670048" cy="777240"/>
          </a:xfrm>
          <a:prstGeom prst="roundRect">
            <a:avLst>
              <a:gd name="adj" fmla="val 8235"/>
            </a:avLst>
          </a:prstGeom>
          <a:solidFill>
            <a:srgbClr val="232C63"/>
          </a:solidFill>
          <a:ln/>
        </p:spPr>
      </p:sp>
      <p:sp>
        <p:nvSpPr>
          <p:cNvPr id="37" name="Shape 35"/>
          <p:cNvSpPr/>
          <p:nvPr/>
        </p:nvSpPr>
        <p:spPr>
          <a:xfrm>
            <a:off x="3511296" y="5366258"/>
            <a:ext cx="384048" cy="384048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38" name="Text 36"/>
          <p:cNvSpPr/>
          <p:nvPr/>
        </p:nvSpPr>
        <p:spPr>
          <a:xfrm>
            <a:off x="3511296" y="536625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005072" y="516509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é IA </a:t>
            </a:r>
            <a:r>
              <a:rPr lang="en-US" sz="11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IA?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144768" y="5165090"/>
            <a:ext cx="2670048" cy="777240"/>
          </a:xfrm>
          <a:prstGeom prst="roundRect">
            <a:avLst>
              <a:gd name="adj" fmla="val 8235"/>
            </a:avLst>
          </a:prstGeom>
          <a:solidFill>
            <a:srgbClr val="232C63"/>
          </a:solidFill>
          <a:ln/>
        </p:spPr>
      </p:sp>
      <p:sp>
        <p:nvSpPr>
          <p:cNvPr id="41" name="Shape 39"/>
          <p:cNvSpPr/>
          <p:nvPr/>
        </p:nvSpPr>
        <p:spPr>
          <a:xfrm>
            <a:off x="6309360" y="5366258"/>
            <a:ext cx="384048" cy="384048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536625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803136" y="516509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Debata 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"depende de quê?"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8942832" y="5165090"/>
            <a:ext cx="2670048" cy="777240"/>
          </a:xfrm>
          <a:prstGeom prst="roundRect">
            <a:avLst>
              <a:gd name="adj" fmla="val 8235"/>
            </a:avLst>
          </a:prstGeom>
          <a:solidFill>
            <a:srgbClr val="232C63"/>
          </a:solidFill>
          <a:ln/>
        </p:spPr>
      </p:sp>
      <p:sp>
        <p:nvSpPr>
          <p:cNvPr id="45" name="Shape 43"/>
          <p:cNvSpPr/>
          <p:nvPr/>
        </p:nvSpPr>
        <p:spPr>
          <a:xfrm>
            <a:off x="9107424" y="5366258"/>
            <a:ext cx="384048" cy="384048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46" name="Text 44"/>
          <p:cNvSpPr/>
          <p:nvPr/>
        </p:nvSpPr>
        <p:spPr>
          <a:xfrm>
            <a:off x="9107424" y="536625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601200" y="516509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Reescreva 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frase, de novo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dimensões da 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11704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 &amp; Norvig cruzam dois eixos: pensar × agir, e como humanos × racionalmente.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880360" y="201168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36392" y="2194560"/>
            <a:ext cx="3602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como humanos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36392" y="2578608"/>
            <a:ext cx="3602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Ciência Cognitiva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136392" y="3154680"/>
            <a:ext cx="36027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como a mente humana funciona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23760" y="201168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79792" y="2194560"/>
            <a:ext cx="3602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racionalmente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79792" y="2578608"/>
            <a:ext cx="3602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Leis do Pensamento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79792" y="3154680"/>
            <a:ext cx="36027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lógica: raciocínio correto e formal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80360" y="406908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4251960"/>
            <a:ext cx="3602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como humanos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36392" y="4636008"/>
            <a:ext cx="3602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de Turing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136392" y="5212080"/>
            <a:ext cx="36027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indistinguível de uma pessoa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406908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9792" y="4251960"/>
            <a:ext cx="3602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racionalmente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79792" y="4636008"/>
            <a:ext cx="3602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Racionais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479792" y="5212080"/>
            <a:ext cx="36027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para o melhor resultado esperado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80360" y="5806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como humanos          racionalmente ↑</a:t>
            </a:r>
            <a:endParaRPr lang="en-US" sz="1200" dirty="0"/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D3DAFCAE-1DA0-883D-C70F-42E7F33B6962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E35EC611-3DA4-4A93-251A-877D359B9097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6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numérico ao simbólico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11704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abordagens da IA também se distribuem entre representação numérica e simbólica do conhecimento.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3474720"/>
          </a:xfrm>
          <a:prstGeom prst="roundRect">
            <a:avLst>
              <a:gd name="adj" fmla="val 2105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vindo de exemplos e dados (extensional)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Genéticos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Bayesianas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Nebulosos (fuzzy)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40680" cy="347472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SIMBÓLICO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2560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em regras explícitas (intensional)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31089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Especialistas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 simbólica indutiva</a:t>
            </a:r>
            <a:endParaRPr lang="en-US" sz="16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baseados em casos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Robôs (integram os dois lados)</a:t>
            </a:r>
            <a:endParaRPr lang="en-US" sz="1600" dirty="0"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7A8ED1C6-C6A1-F006-ED07-08C73E0D336B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9627EC32-453F-EA7A-06F4-3CA3E9ED5643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7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IA PERSEGUE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 comportamento inteligente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raciocinamos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6324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Reproduzir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 inteligente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resolvem o que máquinas ainda não resolvem bem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141A45"/>
          </a:solidFill>
          <a:ln w="12700">
            <a:solidFill>
              <a:srgbClr val="3440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INTELIGENTE É CAPAZ 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65176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Adaptar-se a novas situações</a:t>
            </a:r>
            <a:endParaRPr lang="en-US" sz="16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Raciocinar</a:t>
            </a:r>
            <a:endParaRPr lang="en-US" sz="16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relações entre fatos</a:t>
            </a:r>
            <a:endParaRPr lang="en-US" sz="16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significados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com a própria experiência</a:t>
            </a:r>
            <a:endParaRPr lang="en-US" sz="1600" dirty="0"/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5D2F901B-C5DA-C4C7-747E-0DCD1ED5D862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088A5E40-DE64-2FC0-D21A-7D4F1CFE559B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8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9D25B8D-FA3E-66EF-DD34-ADEF56E9A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830" y="4640580"/>
            <a:ext cx="3038786" cy="19964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paradigmas como metáforas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11704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paradigma é uma metáfora diferente de como a inteligência funciona.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Simbólico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5877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Metáfora linguística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986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especialistas, agentes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48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Conexionista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25877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Metáfora cerebral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8986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77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Evolucionista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44165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Metáfora da natureza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7274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genéticos, vida artificial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7947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977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Estatístico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44165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Metáfora probabilística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7274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Bayesianas, sistemas difusos</a:t>
            </a:r>
            <a:endParaRPr lang="en-US" sz="1300" dirty="0"/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77C12A39-053E-7BCF-A06F-CEC2323F6DC9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5F2F469D-95E8-C0C4-BF16-DA4222A6FE55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9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A IA VEM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bases científicas da 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49240" y="3063240"/>
            <a:ext cx="1463040" cy="1463040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30632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166360" y="2121408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232C63"/>
          </a:solidFill>
          <a:ln/>
        </p:spPr>
      </p:sp>
      <p:sp>
        <p:nvSpPr>
          <p:cNvPr id="7" name="Text 5"/>
          <p:cNvSpPr/>
          <p:nvPr/>
        </p:nvSpPr>
        <p:spPr>
          <a:xfrm>
            <a:off x="5166360" y="212140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05279" y="2536531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232C63"/>
          </a:solidFill>
          <a:ln/>
        </p:spPr>
      </p:sp>
      <p:sp>
        <p:nvSpPr>
          <p:cNvPr id="9" name="Text 7"/>
          <p:cNvSpPr/>
          <p:nvPr/>
        </p:nvSpPr>
        <p:spPr>
          <a:xfrm>
            <a:off x="8205279" y="2536531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464040" y="3538728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232C63"/>
          </a:solidFill>
          <a:ln/>
        </p:spPr>
      </p:sp>
      <p:sp>
        <p:nvSpPr>
          <p:cNvPr id="11" name="Text 9"/>
          <p:cNvSpPr/>
          <p:nvPr/>
        </p:nvSpPr>
        <p:spPr>
          <a:xfrm>
            <a:off x="9464040" y="353872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05279" y="4540925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232C63"/>
          </a:solidFill>
          <a:ln/>
        </p:spPr>
      </p:sp>
      <p:sp>
        <p:nvSpPr>
          <p:cNvPr id="13" name="Text 11"/>
          <p:cNvSpPr/>
          <p:nvPr/>
        </p:nvSpPr>
        <p:spPr>
          <a:xfrm>
            <a:off x="8205279" y="4540925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66360" y="4956048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232C63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495604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Linguística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27441" y="4540925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232C63"/>
          </a:solidFill>
          <a:ln/>
        </p:spPr>
      </p:sp>
      <p:sp>
        <p:nvSpPr>
          <p:cNvPr id="17" name="Text 15"/>
          <p:cNvSpPr/>
          <p:nvPr/>
        </p:nvSpPr>
        <p:spPr>
          <a:xfrm>
            <a:off x="2127441" y="4540925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Neurofisiologia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3538728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232C63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3872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Sociologia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27441" y="2536531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232C63"/>
          </a:solidFill>
          <a:ln/>
        </p:spPr>
      </p:sp>
      <p:sp>
        <p:nvSpPr>
          <p:cNvPr id="21" name="Text 19"/>
          <p:cNvSpPr/>
          <p:nvPr/>
        </p:nvSpPr>
        <p:spPr>
          <a:xfrm>
            <a:off x="2127441" y="2536531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Genética</a:t>
            </a:r>
            <a:endParaRPr lang="en-US" sz="1300" dirty="0"/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CB37DC36-5758-EC29-EDCD-965DEBF16597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8CE2364D-26D8-237A-F2B5-4E48CC61CD81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10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Base: Filosofia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789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Sócrates, Platão, Aristóteles</a:t>
            </a:r>
            <a:r>
              <a:rPr lang="en-US" sz="18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mente racional (400 a.C.)
</a:t>
            </a:r>
            <a:r>
              <a:rPr lang="en-US" sz="180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Descartes (1600)</a:t>
            </a:r>
            <a:r>
              <a:rPr lang="en-US" sz="18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dualismo: natureza física × mente, livre-arbítrio
</a:t>
            </a:r>
            <a:r>
              <a:rPr lang="en-US" sz="180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Materialismo</a:t>
            </a:r>
            <a:r>
              <a:rPr lang="en-US" sz="18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cérebro e mente seguem leis físicas
</a:t>
            </a:r>
            <a:r>
              <a:rPr lang="en-US" sz="180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Empirismo</a:t>
            </a:r>
            <a:r>
              <a:rPr lang="en-US" sz="18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conhecimento vem da observação e da generalização
</a:t>
            </a:r>
            <a:r>
              <a:rPr lang="en-US" sz="180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Positivismo lógico</a:t>
            </a:r>
            <a:r>
              <a:rPr lang="en-US" sz="18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conhecimento pode ser expresso em teorias lógicas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654F1-E771-45A8-0981-ABDE68F78EC7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23881-0A97-F29F-6E8B-87C8C65C40B7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11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Base: Matemática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11704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formalização da lógica e da computação tornou a IA possível.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Aristóteles  </a:t>
            </a: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dedutivo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803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 · 1840  </a:t>
            </a: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lógicas formalizadas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7490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Frege · 1880  </a:t>
            </a: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1ª ordem (termo, predicado)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617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· 1900  </a:t>
            </a: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da matemática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72200" y="201168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011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Gödel · 1930  </a:t>
            </a: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incompletude da aritmética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72200" y="288036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8803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&amp; Church · 1940  </a:t>
            </a: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computabilidade e complexidade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7490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Tarski · 1940  </a:t>
            </a: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ligada aos objetos do mundo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72200" y="461772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617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· 1760  </a:t>
            </a: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probabilidade</a:t>
            </a:r>
            <a:endParaRPr lang="en-US" sz="1450" dirty="0"/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19FD52B0-7544-7B28-5804-C8BAC08432BB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DD49055F-01BA-0837-02A8-7388C7A14FF8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12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Base: Psicologia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11704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introspecção à metáfora computacional da mente.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1850 — Psicologia experimental   </a:t>
            </a: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laboratório; estudo da visão por introspecção (subjetivismo)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26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 — Behaviorismo   </a:t>
            </a: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na ação e reação observáveis dos sujeitos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86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1900+ — Psicologia cognitiva   </a:t>
            </a: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metáfora computacional do cérebro: crenças, objetivos e raciocínio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baseado em conhecimento   </a:t>
            </a: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 → representação interna → processamento → nova ação</a:t>
            </a:r>
            <a:endParaRPr lang="en-US" sz="1500" dirty="0"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CC5B9DB0-88CA-EC7A-E0B0-168F2D3708D0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1DE214D1-EA46-DD98-4F59-296621AB71C6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13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Bases: Computação e Linguística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de processamento e memória crescentes
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linguagens, metodologias e interfaces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96596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LINGUÍSTICA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269748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Chomsky (1957)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sintáticas: sentença + conhecimento do mundo
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Filosofia da linguagem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do conhecimento
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híbrido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linguagem natural (PLN)</a:t>
            </a:r>
            <a:endParaRPr lang="en-US" sz="1500" dirty="0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EFCED2DA-BC25-66CD-1102-63566F772DE9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F05EB996-92BB-5388-0A93-D5BBD6DAC24B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14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HISTÓRICO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2926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Teste de Turing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máquina pode enganar um humano sobre sua própria natureza?</a:t>
            </a:r>
            <a:endParaRPr lang="en-US" sz="18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2B61692-678B-452F-0552-8E57936D789D}"/>
              </a:ext>
            </a:extLst>
          </p:cNvPr>
          <p:cNvSpPr txBox="1"/>
          <p:nvPr/>
        </p:nvSpPr>
        <p:spPr>
          <a:xfrm>
            <a:off x="5269380" y="5193258"/>
            <a:ext cx="685603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b="0" i="0" dirty="0">
                <a:solidFill>
                  <a:schemeClr val="bg1"/>
                </a:solidFill>
                <a:effectLst/>
                <a:latin typeface="Didact Gothic" panose="020F0502020204030204" pitchFamily="2" charset="0"/>
              </a:rPr>
              <a:t>Alan </a:t>
            </a:r>
            <a:r>
              <a:rPr lang="pt-BR" sz="1100" b="0" i="0" dirty="0" err="1">
                <a:solidFill>
                  <a:schemeClr val="bg1"/>
                </a:solidFill>
                <a:effectLst/>
                <a:latin typeface="Didact Gothic" panose="020F0502020204030204" pitchFamily="2" charset="0"/>
              </a:rPr>
              <a:t>Mathison</a:t>
            </a:r>
            <a:r>
              <a:rPr lang="pt-BR" sz="1100" b="0" i="0" dirty="0">
                <a:solidFill>
                  <a:schemeClr val="bg1"/>
                </a:solidFill>
                <a:effectLst/>
                <a:latin typeface="Didact Gothic" panose="020F0502020204030204" pitchFamily="2" charset="0"/>
              </a:rPr>
              <a:t> Turing (1912 – 1954) foi um matemático britânico brilhante (foto acima) que ficou conhecido como “Pai da Computação” . Concebeu, teoricamente, o dispositivo denominado </a:t>
            </a:r>
            <a:r>
              <a:rPr lang="pt-BR" sz="1100" b="0" i="1" dirty="0">
                <a:solidFill>
                  <a:schemeClr val="bg1"/>
                </a:solidFill>
                <a:effectLst/>
                <a:latin typeface="Didact Gothic" panose="020F0502020204030204" pitchFamily="2" charset="0"/>
              </a:rPr>
              <a:t>Máquina de Turing</a:t>
            </a:r>
            <a:r>
              <a:rPr lang="pt-BR" sz="1100" b="0" i="0" dirty="0">
                <a:solidFill>
                  <a:schemeClr val="bg1"/>
                </a:solidFill>
                <a:effectLst/>
                <a:latin typeface="Didact Gothic" panose="020F0502020204030204" pitchFamily="2" charset="0"/>
              </a:rPr>
              <a:t> que é um modelo abstrato de um computador. </a:t>
            </a:r>
          </a:p>
          <a:p>
            <a:pPr algn="just"/>
            <a:endParaRPr lang="pt-BR" sz="1100" b="0" i="0" dirty="0">
              <a:solidFill>
                <a:schemeClr val="bg1"/>
              </a:solidFill>
              <a:effectLst/>
              <a:latin typeface="Didact Gothic" panose="020F0502020204030204" pitchFamily="2" charset="0"/>
            </a:endParaRPr>
          </a:p>
          <a:p>
            <a:pPr algn="just"/>
            <a:r>
              <a:rPr lang="pt-BR" sz="1100" b="0" i="0" dirty="0">
                <a:solidFill>
                  <a:schemeClr val="bg1"/>
                </a:solidFill>
                <a:effectLst/>
                <a:latin typeface="Didact Gothic" panose="020F0502020204030204" pitchFamily="2" charset="0"/>
              </a:rPr>
              <a:t>Criptoanalista, ajudou a decifrar a máquina Enigma, amplamente utilizada pelo exército e marinha nazistas, para enviar mensagens secretas durante a Segunda Guerra Mundial.  Enigma é uma máquina eletromecânica patenteada em 1918 e que teve várias versões ao longo do tempo. Sua decodificação, pelos Aliados, permitiu encurtar a guerra na Europa e poupar milhares de vidas.</a:t>
            </a:r>
            <a:endParaRPr lang="pt-BR" sz="1100" dirty="0">
              <a:solidFill>
                <a:schemeClr val="bg1"/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38BDAE7-0AF1-4020-0780-42B8B2042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2" y="2454430"/>
            <a:ext cx="4538675" cy="25431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Teste de Turing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1" y="1902655"/>
            <a:ext cx="6455898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61663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quem interroga não consegue distinguir, de forma confiável, se conversa com uma pessoa ou com uma máquina — então a máquina possui inteligência artificial.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63644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remota: o avaliador troca mensagens sem ver o interlocutor e precisa adivinhar quem é humano.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IA se passou por humano no Teste de Turing — veja.abril.com.br/tecnologia</a:t>
            </a:r>
            <a:endParaRPr lang="en-US" sz="1300" dirty="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D53584EF-0B9A-0BA0-E320-7A62BD77CDE5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2A3C03FB-EFFC-EF75-02B1-AFC664C67A47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16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7F84D51-03E8-3EE8-5AC7-EBA10E7FC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366" y="1417320"/>
            <a:ext cx="4261672" cy="26083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TESTE EXIGE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capacidades para passar no teste de Turing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Processamento de linguagem natural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9077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 comunicar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240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Representação de conhecimento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9077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armazenar o que sabe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32C6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Raciocínio automático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5994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chegar a novas conclusões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703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32C63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931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de máquina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45994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adaptar o comportamento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são exatamente os pilares que a IA moderna — e os LLMs — precisam dominar.</a:t>
            </a:r>
            <a:endParaRPr lang="en-US" sz="1350" dirty="0"/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7CC5704D-F68C-6E5B-44F7-23DB610C9DF0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F882E01B-5DE6-6842-D14E-4013EFEBD593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17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Leis do Pensamento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11704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tradição lógica: raciocínio correto como base da inteligência.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Aristóteles — silogismos:  </a:t>
            </a: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de raciocínio irrefutáveis (premissas → conclusão). Deram origem à Lógica Matemática.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611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Tradição logicista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baseados em lógica formal para criar sistemas inteligentes.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34290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3611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406908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informal (incerto) é difícil em lógica formal → origem da Lógica Nebulosa (fuzzy). E poucos fatos já esgotam recursos (falta de senso comum).</a:t>
            </a:r>
            <a:endParaRPr lang="en-US" sz="1350" dirty="0"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2DF81A8C-E4D4-0DAA-AA39-BE0C9BA9C1D8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17128227-1C4B-44BA-E57D-D42D78F02506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18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Ciência Cognitiva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11704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seres humanos pensam — e como verificar modelos disso.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Introspecção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psicológicos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constroem uma teoria da mente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194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46520" y="269748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entrada, saída e tempo de um programa coincidem com o comportamento humano, isso é evidência de que mecanismos parecidos podem operar em nós.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interdisciplinar: une modelos computacionais da IA e métodos experimentais da psicologia.</a:t>
            </a:r>
            <a:endParaRPr lang="en-US" sz="1350" dirty="0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2670B71C-266C-FB4D-172B-DDB16611EA9F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484B9949-47E3-47CD-9906-C54434BA292C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19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Agentes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117043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formas de um agente decidir o que fazer no ambiente.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Deliberativos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simbólico do ambiente</a:t>
            </a:r>
            <a:endParaRPr lang="en-US" sz="15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lógico antes de agir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 com base em conhecimento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Reativos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específico da situação</a:t>
            </a:r>
            <a:endParaRPr lang="en-US" sz="15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Respondem direto à percepção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ajusta a resposta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operam no ciclo percepção → ação sobre o ambiente.</a:t>
            </a:r>
            <a:endParaRPr lang="en-US" sz="1350" dirty="0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97CD5FA2-3543-2CC4-7279-EAD3F599C62F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F73FF806-BFB5-4D79-71AB-34004E97C91A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20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CONCEITO CLÁSSICO À PRÁTICA ATUAL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agente racional ao agente de 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conceito de "agente" que Russell &amp; Norvig descreveram reaparece hoje — agora movido por LLMs.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232C6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880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Percepção → Ação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3657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clássico do agente permanece o mesmo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265176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232C63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2880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como "cérebro"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81144" y="3657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raciocínio agora vem de um modelo de linguagem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265176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232C63"/>
          </a:solidFill>
          <a:ln/>
        </p:spPr>
      </p:sp>
      <p:sp>
        <p:nvSpPr>
          <p:cNvPr id="13" name="Text 11"/>
          <p:cNvSpPr/>
          <p:nvPr/>
        </p:nvSpPr>
        <p:spPr>
          <a:xfrm>
            <a:off x="8357616" y="28803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e memória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57616" y="3657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busca dados (RAG) e usa APIs para agir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esse agente moderno — LLM + RAG + ferramentas (</a:t>
            </a:r>
            <a:r>
              <a:rPr lang="en-US" sz="1400" i="1" dirty="0" err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</a:t>
            </a:r>
            <a:r>
              <a:rPr lang="en-US" sz="1400" i="1" dirty="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400" i="1" dirty="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i="1" dirty="0" err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400" i="1" dirty="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r>
              <a:rPr lang="en-US" sz="1400" i="1" dirty="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framework Google ADK) — que vocês vão construir nas Sprints.</a:t>
            </a:r>
            <a:endParaRPr lang="en-US" sz="1400" dirty="0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81A31D4F-2E18-BC37-EF0C-A39227062890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06C93C86-7257-00FA-51D0-DF3BEB691282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21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D87434D-0706-42AE-9350-9C9826E165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9CCDC0-BEC4-46E0-B2F6-3B1D16839F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34e9f2-b7ec-4ccc-a69c-51d3e3635b48"/>
    <ds:schemaRef ds:uri="bf55bb95-0e2d-49eb-8730-bda5c0a73d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E4450C-7210-41EC-9BC1-B53D3BB91F86}">
  <ds:schemaRefs>
    <ds:schemaRef ds:uri="http://schemas.microsoft.com/office/2006/metadata/properties"/>
    <ds:schemaRef ds:uri="http://schemas.microsoft.com/office/infopath/2007/PartnerControls"/>
    <ds:schemaRef ds:uri="bf55bb95-0e2d-49eb-8730-bda5c0a73d75"/>
    <ds:schemaRef ds:uri="f534e9f2-b7ec-4ccc-a69c-51d3e3635b4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2081</Words>
  <Application>Microsoft Office PowerPoint</Application>
  <PresentationFormat>Widescreen</PresentationFormat>
  <Paragraphs>283</Paragraphs>
  <Slides>21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WALMIR GONCALVES DUQUE</cp:lastModifiedBy>
  <cp:revision>15</cp:revision>
  <dcterms:created xsi:type="dcterms:W3CDTF">2026-08-11T01:59:08Z</dcterms:created>
  <dcterms:modified xsi:type="dcterms:W3CDTF">2026-10-11T21:48:17Z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0x01010078A2D2C2733B7342A34F941B973AA6E6</vt:lpwstr>
  </property>
  <property fmtid="{D5CDD505-2E9C-101B-9397-08002B2CF9AE}" pid="3" name="MediaServiceImageTags">
    <vt:lpwstr/>
  </property>
</Properties>
</file>