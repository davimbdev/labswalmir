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metadata/core-properties" Target="docProps/core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1"/>
  </p:notesMasterIdLst>
  <p:sldIdLst>
    <p:sldId id="256" r:id="rId5"/>
    <p:sldId id="683" r:id="rId6"/>
    <p:sldId id="581" r:id="rId7"/>
    <p:sldId id="680" r:id="rId8"/>
    <p:sldId id="681" r:id="rId9"/>
    <p:sldId id="682" r:id="rId10"/>
    <p:sldId id="259" r:id="rId11"/>
    <p:sldId id="673" r:id="rId12"/>
    <p:sldId id="674" r:id="rId13"/>
    <p:sldId id="676" r:id="rId14"/>
    <p:sldId id="538" r:id="rId15"/>
    <p:sldId id="570" r:id="rId16"/>
    <p:sldId id="685" r:id="rId17"/>
    <p:sldId id="675" r:id="rId18"/>
    <p:sldId id="257" r:id="rId19"/>
    <p:sldId id="258" r:id="rId20"/>
    <p:sldId id="677" r:id="rId21"/>
    <p:sldId id="261" r:id="rId22"/>
    <p:sldId id="684" r:id="rId23"/>
    <p:sldId id="678" r:id="rId24"/>
    <p:sldId id="262" r:id="rId25"/>
    <p:sldId id="686" r:id="rId26"/>
    <p:sldId id="657" r:id="rId27"/>
    <p:sldId id="687" r:id="rId28"/>
    <p:sldId id="688" r:id="rId29"/>
    <p:sldId id="611" r:id="rId30"/>
  </p:sldIdLst>
  <p:sldSz cx="12192000" cy="6858000"/>
  <p:notesSz cx="6858000" cy="12192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N TOMASI GUARIENTE" userId="S::renan.guariente@aluno.cps.sp.gov.br::6ef1d22f-ed66-4cd0-8782-66174520f644" providerId="AD" clId="Web-{B51BCB03-72FF-9EAD-4E42-65C3B4475092}"/>
    <pc:docChg chg="modSld">
      <pc:chgData name="RENAN TOMASI GUARIENTE" userId="S::renan.guariente@aluno.cps.sp.gov.br::6ef1d22f-ed66-4cd0-8782-66174520f644" providerId="AD" clId="Web-{B51BCB03-72FF-9EAD-4E42-65C3B4475092}" dt="2026-09-22T11:19:30.208" v="0" actId="1076"/>
      <pc:docMkLst>
        <pc:docMk/>
      </pc:docMkLst>
      <pc:sldChg chg="modSp">
        <pc:chgData name="RENAN TOMASI GUARIENTE" userId="S::renan.guariente@aluno.cps.sp.gov.br::6ef1d22f-ed66-4cd0-8782-66174520f644" providerId="AD" clId="Web-{B51BCB03-72FF-9EAD-4E42-65C3B4475092}" dt="2026-09-22T11:19:30.208" v="0" actId="1076"/>
        <pc:sldMkLst>
          <pc:docMk/>
          <pc:sldMk cId="2497271050" sldId="538"/>
        </pc:sldMkLst>
        <pc:picChg chg="mod">
          <ac:chgData name="RENAN TOMASI GUARIENTE" userId="S::renan.guariente@aluno.cps.sp.gov.br::6ef1d22f-ed66-4cd0-8782-66174520f644" providerId="AD" clId="Web-{B51BCB03-72FF-9EAD-4E42-65C3B4475092}" dt="2026-09-22T11:19:30.208" v="0" actId="1076"/>
          <ac:picMkLst>
            <pc:docMk/>
            <pc:sldMk cId="2497271050" sldId="538"/>
            <ac:picMk id="3686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8919F5E-82D9-4022-8AFC-9B6E3203798D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8261FC-3336-4370-86E7-32ADCE57ECC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16ECA6-6B93-49A3-A488-23E3DFF7D83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55420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/>
          </a:p>
        </p:txBody>
      </p:sp>
      <p:sp>
        <p:nvSpPr>
          <p:cNvPr id="44035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  <p:extLst>
      <p:ext uri="{BB962C8B-B14F-4D97-AF65-F5344CB8AC3E}">
        <p14:creationId xmlns:p14="http://schemas.microsoft.com/office/powerpoint/2010/main" val="3111385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A5A0D1-5730-4A75-AAD3-92F5E07D7A7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2C32E4-D2DB-4927-A9FF-E964E668BA6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21F768-A4ED-4F89-A6DB-EF2C587E56A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16ECA6-6B93-49A3-A488-23E3DFF7D83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A93731-4E65-4898-85D5-47AEDF8B09F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E9B891-B114-43E0-9179-7CCE4A588E1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16587B-077B-476D-BC43-978B1251D0D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  <a:ln/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/>
          </a:p>
        </p:txBody>
      </p:sp>
      <p:sp>
        <p:nvSpPr>
          <p:cNvPr id="48131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  <p:extLst>
      <p:ext uri="{BB962C8B-B14F-4D97-AF65-F5344CB8AC3E}">
        <p14:creationId xmlns:p14="http://schemas.microsoft.com/office/powerpoint/2010/main" val="471410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/>
          </a:p>
        </p:txBody>
      </p:sp>
      <p:sp>
        <p:nvSpPr>
          <p:cNvPr id="50179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  <p:extLst>
      <p:ext uri="{BB962C8B-B14F-4D97-AF65-F5344CB8AC3E}">
        <p14:creationId xmlns:p14="http://schemas.microsoft.com/office/powerpoint/2010/main" val="32316872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AF0B6C-A0A7-426C-B018-402517074BA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0C3974-5592-4149-A9DC-B10BFB4024A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61939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A5E92E-3584-4D55-9478-1C417C0E9AA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09488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0C6869-3F4B-4E8A-9B1B-B2E9EE88629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4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AD3A20-49B5-4C4C-98F4-6F59C6A97A9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16ECA6-6B93-49A3-A488-23E3DFF7D83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164508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CEAD25-FADD-4104-A561-3CBC12EB285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411856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ED3E3D-2CD8-4EEB-8A41-97101CD4E01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  <p:extLst>
      <p:ext uri="{BB962C8B-B14F-4D97-AF65-F5344CB8AC3E}">
        <p14:creationId xmlns:p14="http://schemas.microsoft.com/office/powerpoint/2010/main" val="11303425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7DEB42-8447-4EED-8757-B845EE978B0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2"/>
          <p:cNvSpPr/>
          <p:nvPr/>
        </p:nvSpPr>
        <p:spPr>
          <a:xfrm>
            <a:off x="649593" y="2497106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strike="noStrike" spc="-1">
                <a:solidFill>
                  <a:srgbClr val="FFFFFF"/>
                </a:solidFill>
                <a:latin typeface="Cambria"/>
                <a:ea typeface="Cambria"/>
              </a:rPr>
              <a:t>RAG (Retrieved-Augmented Generation)</a:t>
            </a:r>
            <a:endParaRPr lang="en-US" sz="3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95313" y="3640106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800" b="0" i="1" strike="noStrike" spc="-1">
                <a:solidFill>
                  <a:srgbClr val="CADCFC"/>
                </a:solidFill>
                <a:latin typeface="Calibri"/>
                <a:ea typeface="Calibri"/>
              </a:rPr>
              <a:t>Respostas Fundamentadas nos dados do Parceiro</a:t>
            </a:r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FB31513-2DF3-5102-2468-553E8D8FCE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02" t="20731" r="18964" b="13989"/>
          <a:stretch/>
        </p:blipFill>
        <p:spPr>
          <a:xfrm>
            <a:off x="735492" y="697733"/>
            <a:ext cx="2923215" cy="16779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47A8D5E0-B0B9-CD16-166D-4585EC8543E7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9291ADD0-3B21-F5A5-F637-ACADA844AA69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2</a:t>
            </a:fld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C970169-BCE1-6B5E-BE26-5080DBFB3AE2}"/>
              </a:ext>
            </a:extLst>
          </p:cNvPr>
          <p:cNvSpPr/>
          <p:nvPr/>
        </p:nvSpPr>
        <p:spPr>
          <a:xfrm>
            <a:off x="594360" y="283464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strike="noStrike" spc="-1">
                <a:solidFill>
                  <a:srgbClr val="FFFFFF"/>
                </a:solidFill>
                <a:latin typeface="Cambria"/>
                <a:ea typeface="Cambria"/>
              </a:rPr>
              <a:t>RAG</a:t>
            </a:r>
            <a:endParaRPr lang="en-US" sz="3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D88DA30-1B3D-0C5C-061F-9CA256E22BC5}"/>
              </a:ext>
            </a:extLst>
          </p:cNvPr>
          <p:cNvSpPr/>
          <p:nvPr/>
        </p:nvSpPr>
        <p:spPr>
          <a:xfrm>
            <a:off x="640080" y="23774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199">
                <a:solidFill>
                  <a:srgbClr val="4F7BE8"/>
                </a:solidFill>
                <a:latin typeface="Calibri"/>
                <a:ea typeface="Calibri"/>
              </a:rPr>
              <a:t>DEFINIÇÂO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6860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Imagem 2" descr="Texto preto sobre fundo branco&#10;&#10;Descrição gerada automaticamente"/>
          <p:cNvPicPr>
            <a:picLocks noChangeAspect="1"/>
          </p:cNvPicPr>
          <p:nvPr/>
        </p:nvPicPr>
        <p:blipFill>
          <a:blip r:embed="rId3"/>
          <a:srcRect l="7088" t="-315" r="11012" b="27223"/>
          <a:stretch/>
        </p:blipFill>
        <p:spPr>
          <a:xfrm>
            <a:off x="1497012" y="1599405"/>
            <a:ext cx="9595631" cy="42870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4CCCA15-EBEE-EC28-77C6-B20BB937B915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err="1">
                <a:solidFill>
                  <a:srgbClr val="1E2761"/>
                </a:solidFill>
                <a:latin typeface="Cambria"/>
                <a:ea typeface="Cambria"/>
              </a:rPr>
              <a:t>Arquitetura</a:t>
            </a: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 RAG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7D7FA7-7F46-E2C6-68C6-3C3C33CC6733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Por André Almeida (Dom Rock)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D1BC0EF9-87C7-4F07-2466-67F4003D4958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C01CE778-535E-C206-3021-5D228FAC482C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069283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O </a:t>
            </a:r>
            <a:r>
              <a:rPr lang="en-US" sz="3000" b="1" strike="noStrike" spc="-1" err="1">
                <a:solidFill>
                  <a:srgbClr val="1E2761"/>
                </a:solidFill>
                <a:latin typeface="Cambria"/>
                <a:ea typeface="Cambria"/>
              </a:rPr>
              <a:t>problema</a:t>
            </a: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 que o RAG resolve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O LLM sabe muito do mundo — mas nada do dado do SEU parceiro.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548640" y="2011680"/>
            <a:ext cx="11063880" cy="1096920"/>
          </a:xfrm>
          <a:prstGeom prst="roundRect">
            <a:avLst>
              <a:gd name="adj" fmla="val 6667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822960" y="2194560"/>
            <a:ext cx="3931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C4506B"/>
                </a:solidFill>
                <a:latin typeface="Cambria"/>
                <a:ea typeface="Cambria"/>
              </a:rPr>
              <a:t>✗ Não conhece seus dados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4846320" y="2194560"/>
            <a:ext cx="65833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o modelo nunca viu o manual, a base ou os documentos da sua empresa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548640" y="3273480"/>
            <a:ext cx="11063880" cy="1096920"/>
          </a:xfrm>
          <a:prstGeom prst="roundRect">
            <a:avLst>
              <a:gd name="adj" fmla="val 6667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822960" y="3456360"/>
            <a:ext cx="3931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C4506B"/>
                </a:solidFill>
                <a:latin typeface="Cambria"/>
                <a:ea typeface="Cambria"/>
              </a:rPr>
              <a:t>✗ </a:t>
            </a:r>
            <a:r>
              <a:rPr lang="en-US" sz="1700" b="1" strike="noStrike" spc="-1" err="1">
                <a:solidFill>
                  <a:srgbClr val="C4506B"/>
                </a:solidFill>
                <a:latin typeface="Cambria"/>
                <a:ea typeface="Cambria"/>
              </a:rPr>
              <a:t>Alucina</a:t>
            </a:r>
            <a:r>
              <a:rPr lang="en-US" sz="1700" b="1" strike="noStrike" spc="-1">
                <a:solidFill>
                  <a:srgbClr val="C4506B"/>
                </a:solidFill>
                <a:latin typeface="Cambria"/>
                <a:ea typeface="Cambria"/>
              </a:rPr>
              <a:t> </a:t>
            </a:r>
            <a:r>
              <a:rPr lang="en-US" sz="1700" b="1" strike="noStrike" spc="-1" err="1">
                <a:solidFill>
                  <a:srgbClr val="C4506B"/>
                </a:solidFill>
                <a:latin typeface="Cambria"/>
                <a:ea typeface="Cambria"/>
              </a:rPr>
              <a:t>quando</a:t>
            </a:r>
            <a:r>
              <a:rPr lang="en-US" sz="1700" b="1" strike="noStrike" spc="-1">
                <a:solidFill>
                  <a:srgbClr val="C4506B"/>
                </a:solidFill>
                <a:latin typeface="Cambria"/>
                <a:ea typeface="Cambria"/>
              </a:rPr>
              <a:t> </a:t>
            </a:r>
            <a:r>
              <a:rPr lang="en-US" sz="1700" b="1" strike="noStrike" spc="-1" err="1">
                <a:solidFill>
                  <a:srgbClr val="C4506B"/>
                </a:solidFill>
                <a:latin typeface="Cambria"/>
                <a:ea typeface="Cambria"/>
              </a:rPr>
              <a:t>não</a:t>
            </a:r>
            <a:r>
              <a:rPr lang="en-US" sz="1700" b="1" strike="noStrike" spc="-1">
                <a:solidFill>
                  <a:srgbClr val="C4506B"/>
                </a:solidFill>
                <a:latin typeface="Cambria"/>
                <a:ea typeface="Cambria"/>
              </a:rPr>
              <a:t> sabe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4846320" y="3456360"/>
            <a:ext cx="65833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sem a informação, ele inventa uma resposta plausível — e errada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548640" y="4535280"/>
            <a:ext cx="11063880" cy="1096920"/>
          </a:xfrm>
          <a:prstGeom prst="roundRect">
            <a:avLst>
              <a:gd name="adj" fmla="val 6667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822960" y="4718160"/>
            <a:ext cx="3931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C4506B"/>
                </a:solidFill>
                <a:latin typeface="Cambria"/>
                <a:ea typeface="Cambria"/>
              </a:rPr>
              <a:t>✗ Não cabe tudo no prompt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4846320" y="4718160"/>
            <a:ext cx="65833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colar a base inteira estoura a janela de contexto (e custa caro)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567051" y="5755198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A ideia do RAG: em vez de o modelo "lembrar", ele BUSCA o pedaço relevante do seu dado e responde com base nele!</a:t>
            </a:r>
            <a:endParaRPr lang="pt-BR" sz="1400" b="0" strike="noStrike" spc="-1">
              <a:solidFill>
                <a:srgbClr val="FF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13CE1D54-2E5A-6083-211A-EDAE2B510619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9520A8F1-8FAD-898C-0276-357C980F4682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548640" y="4572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97">
                <a:solidFill>
                  <a:srgbClr val="4F7BE8"/>
                </a:solidFill>
                <a:latin typeface="Calibri"/>
                <a:ea typeface="Calibri"/>
              </a:rPr>
              <a:t>A IDEIA EM UMA FRASE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502920" y="822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strike="noStrike" spc="-1">
                <a:solidFill>
                  <a:srgbClr val="FFFFFF"/>
                </a:solidFill>
                <a:latin typeface="Cambria"/>
                <a:ea typeface="Cambria"/>
              </a:rPr>
              <a:t>O que é RAG</a:t>
            </a:r>
            <a:endParaRPr lang="en-US" sz="3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548640" y="17830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strike="noStrike" spc="-1" err="1">
                <a:solidFill>
                  <a:srgbClr val="FF0000"/>
                </a:solidFill>
                <a:latin typeface="Calibri"/>
                <a:ea typeface="Calibri"/>
              </a:rPr>
              <a:t>Retrieval-Augmented</a:t>
            </a:r>
            <a:r>
              <a:rPr lang="pt-BR" sz="1700" b="1" strike="noStrike" spc="-1">
                <a:solidFill>
                  <a:srgbClr val="FF0000"/>
                </a:solidFill>
                <a:latin typeface="Calibri"/>
                <a:ea typeface="Calibri"/>
              </a:rPr>
              <a:t> Generation:</a:t>
            </a:r>
            <a:r>
              <a:rPr lang="pt-BR" sz="1700" b="0" strike="noStrike" spc="-1">
                <a:solidFill>
                  <a:srgbClr val="FF0000"/>
                </a:solidFill>
                <a:latin typeface="Calibri"/>
                <a:ea typeface="Calibri"/>
              </a:rPr>
              <a:t> recuperar o trecho relevante e aumentar o prompt com ele antes de gerar a resposta</a:t>
            </a:r>
            <a:endParaRPr lang="pt-BR" sz="1700" b="0" strike="noStrike" spc="-1">
              <a:solidFill>
                <a:srgbClr val="FF0000"/>
              </a:solidFill>
              <a:latin typeface="Arial"/>
            </a:endParaRPr>
          </a:p>
        </p:txBody>
      </p:sp>
      <p:sp>
        <p:nvSpPr>
          <p:cNvPr id="31" name="Shape 3"/>
          <p:cNvSpPr/>
          <p:nvPr/>
        </p:nvSpPr>
        <p:spPr>
          <a:xfrm>
            <a:off x="548640" y="2514600"/>
            <a:ext cx="3611520" cy="2925720"/>
          </a:xfrm>
          <a:prstGeom prst="roundRect">
            <a:avLst>
              <a:gd name="adj" fmla="val 2813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4"/>
          <p:cNvSpPr/>
          <p:nvPr/>
        </p:nvSpPr>
        <p:spPr>
          <a:xfrm>
            <a:off x="548640" y="2514600"/>
            <a:ext cx="3611520" cy="127800"/>
          </a:xfrm>
          <a:prstGeom prst="roundRect">
            <a:avLst>
              <a:gd name="adj" fmla="val 21429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804600" y="274320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strike="noStrike" spc="-1">
                <a:solidFill>
                  <a:srgbClr val="FFFFFF"/>
                </a:solidFill>
                <a:latin typeface="Cambria"/>
                <a:ea typeface="Cambria"/>
              </a:rPr>
              <a:t>Retrieval</a:t>
            </a:r>
            <a:endParaRPr lang="en-US" sz="2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6"/>
          <p:cNvSpPr/>
          <p:nvPr/>
        </p:nvSpPr>
        <p:spPr>
          <a:xfrm>
            <a:off x="804600" y="324612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i="1" strike="noStrike" spc="-1">
                <a:solidFill>
                  <a:srgbClr val="4F7BE8"/>
                </a:solidFill>
                <a:latin typeface="Calibri"/>
                <a:ea typeface="Calibri"/>
              </a:rPr>
              <a:t>recuperar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804600" y="3749040"/>
            <a:ext cx="31543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CADCFC"/>
                </a:solidFill>
                <a:latin typeface="Calibri"/>
                <a:ea typeface="Calibri"/>
              </a:rPr>
              <a:t>busca o pedaço do dado que responde à pergunta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8"/>
          <p:cNvSpPr/>
          <p:nvPr/>
        </p:nvSpPr>
        <p:spPr>
          <a:xfrm>
            <a:off x="4325040" y="2514600"/>
            <a:ext cx="3611520" cy="2925720"/>
          </a:xfrm>
          <a:prstGeom prst="roundRect">
            <a:avLst>
              <a:gd name="adj" fmla="val 2813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9"/>
          <p:cNvSpPr/>
          <p:nvPr/>
        </p:nvSpPr>
        <p:spPr>
          <a:xfrm>
            <a:off x="4325040" y="2514600"/>
            <a:ext cx="3611520" cy="127800"/>
          </a:xfrm>
          <a:prstGeom prst="roundRect">
            <a:avLst>
              <a:gd name="adj" fmla="val 21429"/>
            </a:avLst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0"/>
          <p:cNvSpPr/>
          <p:nvPr/>
        </p:nvSpPr>
        <p:spPr>
          <a:xfrm>
            <a:off x="4581000" y="274320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strike="noStrike" spc="-1">
                <a:solidFill>
                  <a:srgbClr val="FFFFFF"/>
                </a:solidFill>
                <a:latin typeface="Cambria"/>
                <a:ea typeface="Cambria"/>
              </a:rPr>
              <a:t>Augmented</a:t>
            </a:r>
            <a:endParaRPr lang="en-US" sz="2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11"/>
          <p:cNvSpPr/>
          <p:nvPr/>
        </p:nvSpPr>
        <p:spPr>
          <a:xfrm>
            <a:off x="4581000" y="324612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i="1" strike="noStrike" spc="-1">
                <a:solidFill>
                  <a:srgbClr val="49B3A0"/>
                </a:solidFill>
                <a:latin typeface="Calibri"/>
                <a:ea typeface="Calibri"/>
              </a:rPr>
              <a:t>aumentar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2"/>
          <p:cNvSpPr/>
          <p:nvPr/>
        </p:nvSpPr>
        <p:spPr>
          <a:xfrm>
            <a:off x="4581000" y="3749040"/>
            <a:ext cx="31543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CADCFC"/>
                </a:solidFill>
                <a:latin typeface="Calibri"/>
                <a:ea typeface="Calibri"/>
              </a:rPr>
              <a:t>injeta esse pedaço no prompt como contexto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3"/>
          <p:cNvSpPr/>
          <p:nvPr/>
        </p:nvSpPr>
        <p:spPr>
          <a:xfrm>
            <a:off x="8101440" y="2514600"/>
            <a:ext cx="3611520" cy="2925720"/>
          </a:xfrm>
          <a:prstGeom prst="roundRect">
            <a:avLst>
              <a:gd name="adj" fmla="val 2813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14"/>
          <p:cNvSpPr/>
          <p:nvPr/>
        </p:nvSpPr>
        <p:spPr>
          <a:xfrm>
            <a:off x="8101440" y="2514600"/>
            <a:ext cx="3611520" cy="127800"/>
          </a:xfrm>
          <a:prstGeom prst="roundRect">
            <a:avLst>
              <a:gd name="adj" fmla="val 21429"/>
            </a:avLst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5"/>
          <p:cNvSpPr/>
          <p:nvPr/>
        </p:nvSpPr>
        <p:spPr>
          <a:xfrm>
            <a:off x="8357760" y="274320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strike="noStrike" spc="-1">
                <a:solidFill>
                  <a:srgbClr val="FFFFFF"/>
                </a:solidFill>
                <a:latin typeface="Cambria"/>
                <a:ea typeface="Cambria"/>
              </a:rPr>
              <a:t>Generation</a:t>
            </a:r>
            <a:endParaRPr lang="en-US" sz="2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16"/>
          <p:cNvSpPr/>
          <p:nvPr/>
        </p:nvSpPr>
        <p:spPr>
          <a:xfrm>
            <a:off x="8357760" y="324612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i="1" strike="noStrike" spc="-1">
                <a:solidFill>
                  <a:srgbClr val="F2B84A"/>
                </a:solidFill>
                <a:latin typeface="Calibri"/>
                <a:ea typeface="Calibri"/>
              </a:rPr>
              <a:t>gerar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7"/>
          <p:cNvSpPr/>
          <p:nvPr/>
        </p:nvSpPr>
        <p:spPr>
          <a:xfrm>
            <a:off x="8357760" y="3749040"/>
            <a:ext cx="315432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CADCFC"/>
                </a:solidFill>
                <a:latin typeface="Calibri"/>
                <a:ea typeface="Calibri"/>
              </a:rPr>
              <a:t>o LLM responde usando o contexto recuperado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43159CD6-BA28-49E1-3A1B-AF3E853157C1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87D4A7A3-6F8C-0D2A-C093-B5EA42E46F87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Como a </a:t>
            </a:r>
            <a:r>
              <a:rPr lang="en-US" sz="3000" b="1" strike="noStrike" spc="-1" err="1">
                <a:solidFill>
                  <a:srgbClr val="1E2761"/>
                </a:solidFill>
                <a:latin typeface="Cambria"/>
                <a:ea typeface="Cambria"/>
              </a:rPr>
              <a:t>busca</a:t>
            </a: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 </a:t>
            </a:r>
            <a:r>
              <a:rPr lang="en-US" sz="3000" b="1" strike="noStrike" spc="-1" err="1">
                <a:solidFill>
                  <a:srgbClr val="1E2761"/>
                </a:solidFill>
                <a:latin typeface="Cambria"/>
                <a:ea typeface="Cambria"/>
              </a:rPr>
              <a:t>funciona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Embeddings de novo: a pergunta e os documentos viram vetores — e comparamos proximidade.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2"/>
          <p:cNvSpPr/>
          <p:nvPr/>
        </p:nvSpPr>
        <p:spPr>
          <a:xfrm>
            <a:off x="548640" y="1920240"/>
            <a:ext cx="5440320" cy="2742840"/>
          </a:xfrm>
          <a:prstGeom prst="roundRect">
            <a:avLst>
              <a:gd name="adj" fmla="val 2667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822960" y="210312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E2761"/>
                </a:solidFill>
                <a:latin typeface="Cambria"/>
                <a:ea typeface="Cambria"/>
              </a:rPr>
              <a:t>Busca por palavra-chave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822960" y="2560320"/>
            <a:ext cx="493740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Procura as MESMAS palavras.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5A6072"/>
                </a:solidFill>
                <a:latin typeface="Consolas"/>
                <a:ea typeface="Consolas"/>
              </a:rPr>
              <a:t>Pergunta: "carro quebrou"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4506B"/>
                </a:solidFill>
                <a:latin typeface="Consolas"/>
                <a:ea typeface="Consolas"/>
              </a:rPr>
              <a:t>Doc: "veículo com defeito"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50" b="0" i="1" strike="noStrike" spc="-1">
                <a:solidFill>
                  <a:srgbClr val="C4506B"/>
                </a:solidFill>
                <a:latin typeface="Calibri"/>
                <a:ea typeface="Calibri"/>
              </a:rPr>
              <a:t>→ NÃO encontra (palavras diferentes)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5"/>
          <p:cNvSpPr/>
          <p:nvPr/>
        </p:nvSpPr>
        <p:spPr>
          <a:xfrm>
            <a:off x="6172200" y="1920240"/>
            <a:ext cx="5440320" cy="274284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6446520" y="210312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FFFFF"/>
                </a:solidFill>
                <a:latin typeface="Cambria"/>
                <a:ea typeface="Cambria"/>
              </a:rPr>
              <a:t>Busca semântica (embeddings)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6446520" y="2560320"/>
            <a:ext cx="493740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Procura o mesmo SIGNIFICADO.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Pergunta: "carro quebrou"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7FD1A8"/>
                </a:solidFill>
                <a:latin typeface="Consolas"/>
                <a:ea typeface="Consolas"/>
              </a:rPr>
              <a:t>Doc: "veículo com defeito"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50" b="0" i="1" strike="noStrike" spc="-1">
                <a:solidFill>
                  <a:srgbClr val="F2B84A"/>
                </a:solidFill>
                <a:latin typeface="Calibri"/>
                <a:ea typeface="Calibri"/>
              </a:rPr>
              <a:t>→ ENCONTRA (vetores próximos)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8"/>
          <p:cNvSpPr/>
          <p:nvPr/>
        </p:nvSpPr>
        <p:spPr>
          <a:xfrm>
            <a:off x="560914" y="5112972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b="0" i="1" strike="noStrike" spc="-1">
                <a:solidFill>
                  <a:srgbClr val="FF0000"/>
                </a:solidFill>
                <a:latin typeface="Calibri"/>
                <a:ea typeface="Calibri"/>
              </a:rPr>
              <a:t>É a força dos </a:t>
            </a:r>
            <a:r>
              <a:rPr lang="pt-BR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embeddings</a:t>
            </a:r>
            <a:r>
              <a:rPr lang="pt-BR" b="0" i="1" strike="noStrike" spc="-1">
                <a:solidFill>
                  <a:srgbClr val="FF0000"/>
                </a:solidFill>
                <a:latin typeface="Calibri"/>
                <a:ea typeface="Calibri"/>
              </a:rPr>
              <a:t> (visto anteriormente!): significado vira proximidade no espaço vetorial. 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b="0" i="1" strike="noStrike" spc="-1">
                <a:solidFill>
                  <a:srgbClr val="FF0000"/>
                </a:solidFill>
                <a:latin typeface="Calibri"/>
                <a:ea typeface="Calibri"/>
              </a:rPr>
              <a:t>Por isso o RAG acha o trecho certo mesmo com palavras diferentes!</a:t>
            </a:r>
            <a:endParaRPr lang="pt-BR" b="0" strike="noStrike" spc="-1">
              <a:solidFill>
                <a:srgbClr val="FF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159AC34B-2DDD-D06C-8461-55B54BF7362A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8E6DC28E-50C8-2006-FCC6-FB1CFE49F63E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1"/>
          <p:cNvSpPr/>
          <p:nvPr/>
        </p:nvSpPr>
        <p:spPr>
          <a:xfrm>
            <a:off x="640080" y="23774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199">
                <a:solidFill>
                  <a:srgbClr val="4F7BE8"/>
                </a:solidFill>
                <a:latin typeface="Calibri"/>
                <a:ea typeface="Calibri"/>
              </a:rPr>
              <a:t>NA PRÁTICA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594360" y="283464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strike="noStrike" spc="-1">
                <a:solidFill>
                  <a:srgbClr val="FFFFFF"/>
                </a:solidFill>
                <a:latin typeface="Cambria"/>
                <a:ea typeface="Cambria"/>
              </a:rPr>
              <a:t>As </a:t>
            </a:r>
            <a:r>
              <a:rPr lang="en-US" sz="3800" b="1" strike="noStrike" spc="-1" err="1">
                <a:solidFill>
                  <a:srgbClr val="FFFFFF"/>
                </a:solidFill>
                <a:latin typeface="Cambria"/>
                <a:ea typeface="Cambria"/>
              </a:rPr>
              <a:t>Fases</a:t>
            </a:r>
            <a:r>
              <a:rPr lang="en-US" sz="3800" b="1" strike="noStrike" spc="-1">
                <a:solidFill>
                  <a:srgbClr val="FFFFFF"/>
                </a:solidFill>
                <a:latin typeface="Cambria"/>
                <a:ea typeface="Cambria"/>
              </a:rPr>
              <a:t> do RAG</a:t>
            </a:r>
            <a:endParaRPr lang="en-US" sz="3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640080" y="397764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CADCFC"/>
                </a:solidFill>
                <a:latin typeface="Calibri"/>
                <a:ea typeface="Calibri"/>
              </a:rPr>
              <a:t>O pipeline: do documento bruto aos vetores no banco.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47A8D5E0-B0B9-CD16-166D-4585EC8543E7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9291ADD0-3B21-F5A5-F637-ACADA844AA69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RAG: duas </a:t>
            </a:r>
            <a:r>
              <a:rPr lang="en-US" sz="2900" b="1" strike="noStrike" spc="-1" err="1">
                <a:solidFill>
                  <a:srgbClr val="1E2761"/>
                </a:solidFill>
                <a:latin typeface="Cambria"/>
                <a:ea typeface="Cambria"/>
              </a:rPr>
              <a:t>fases</a:t>
            </a: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!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O erro comum é misturar as duas fases — separá-las esclarece tudo.</a:t>
            </a:r>
            <a:endParaRPr lang="pt-BR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548640" y="2011680"/>
            <a:ext cx="5440320" cy="3382920"/>
          </a:xfrm>
          <a:prstGeom prst="roundRect">
            <a:avLst>
              <a:gd name="adj" fmla="val 2162"/>
            </a:avLst>
          </a:prstGeom>
          <a:solidFill>
            <a:srgbClr val="EDF1FA"/>
          </a:solidFill>
          <a:ln w="25400">
            <a:solidFill>
              <a:srgbClr val="4F7B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822960" y="21945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97">
                <a:solidFill>
                  <a:srgbClr val="4F7BE8"/>
                </a:solidFill>
                <a:latin typeface="Calibri"/>
                <a:ea typeface="Calibri"/>
              </a:rPr>
              <a:t>FASE 1 · INDEXAÇÃO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822960" y="256032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strike="noStrike" spc="-1" err="1">
                <a:solidFill>
                  <a:srgbClr val="6E79A0"/>
                </a:solidFill>
                <a:latin typeface="Calibri"/>
                <a:ea typeface="Calibri"/>
              </a:rPr>
              <a:t>uma</a:t>
            </a:r>
            <a:r>
              <a:rPr lang="en-US" sz="1250" b="0" i="1" strike="noStrike" spc="-1">
                <a:solidFill>
                  <a:srgbClr val="6E79A0"/>
                </a:solidFill>
                <a:latin typeface="Calibri"/>
                <a:ea typeface="Calibri"/>
              </a:rPr>
              <a:t> </a:t>
            </a:r>
            <a:r>
              <a:rPr lang="en-US" sz="1250" b="0" i="1" strike="noStrike" spc="-1" err="1">
                <a:solidFill>
                  <a:srgbClr val="6E79A0"/>
                </a:solidFill>
                <a:latin typeface="Calibri"/>
                <a:ea typeface="Calibri"/>
              </a:rPr>
              <a:t>vez</a:t>
            </a:r>
            <a:r>
              <a:rPr lang="en-US" sz="1250" b="0" i="1" strike="noStrike" spc="-1">
                <a:solidFill>
                  <a:srgbClr val="6E79A0"/>
                </a:solidFill>
                <a:latin typeface="Calibri"/>
                <a:ea typeface="Calibri"/>
              </a:rPr>
              <a:t>, </a:t>
            </a:r>
            <a:r>
              <a:rPr lang="en-US" sz="1250" b="0" i="1" strike="noStrike" spc="-1">
                <a:solidFill>
                  <a:srgbClr val="FF0000"/>
                </a:solidFill>
                <a:latin typeface="Calibri"/>
                <a:ea typeface="Calibri"/>
              </a:rPr>
              <a:t>offline</a:t>
            </a:r>
            <a:endParaRPr lang="en-US" sz="1250" b="0" strike="noStrike" spc="-1">
              <a:solidFill>
                <a:srgbClr val="FF0000"/>
              </a:solidFill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822960" y="3017520"/>
            <a:ext cx="502884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Preparar os documentos e guardar no banco vetorial.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1E2761"/>
                </a:solidFill>
                <a:latin typeface="Consolas"/>
                <a:ea typeface="Consolas"/>
              </a:rPr>
              <a:t>ingestão → extração → limpeza →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1E2761"/>
                </a:solidFill>
                <a:latin typeface="Consolas"/>
                <a:ea typeface="Consolas"/>
              </a:rPr>
              <a:t>chunking → embedding → indexação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6172200" y="2011680"/>
            <a:ext cx="5440320" cy="3382920"/>
          </a:xfrm>
          <a:prstGeom prst="roundRect">
            <a:avLst>
              <a:gd name="adj" fmla="val 2162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6446520" y="21945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97">
                <a:solidFill>
                  <a:srgbClr val="F2B84A"/>
                </a:solidFill>
                <a:latin typeface="Calibri"/>
                <a:ea typeface="Calibri"/>
              </a:rPr>
              <a:t>FASE 2 · CONSULTA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8"/>
          <p:cNvSpPr/>
          <p:nvPr/>
        </p:nvSpPr>
        <p:spPr>
          <a:xfrm>
            <a:off x="6446520" y="256032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strike="noStrike" spc="-1">
                <a:solidFill>
                  <a:srgbClr val="9FBCE8"/>
                </a:solidFill>
                <a:latin typeface="Calibri"/>
                <a:ea typeface="Calibri"/>
              </a:rPr>
              <a:t>a cada pergunta, online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6446520" y="3017520"/>
            <a:ext cx="502884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400" b="0" strike="noStrike" spc="-1">
                <a:solidFill>
                  <a:srgbClr val="CADCFC"/>
                </a:solidFill>
                <a:latin typeface="Calibri"/>
                <a:ea typeface="Calibri"/>
              </a:rPr>
              <a:t>Recuperar o trecho certo e gerar a resposta.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CADCFC"/>
                </a:solidFill>
                <a:latin typeface="Consolas"/>
                <a:ea typeface="Consolas"/>
              </a:rPr>
              <a:t>pergunta → embedding → busca →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CADCFC"/>
                </a:solidFill>
                <a:latin typeface="Consolas"/>
                <a:ea typeface="Consolas"/>
              </a:rPr>
              <a:t>prompt → geração → citar fonte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548640" y="562356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strike="noStrike" spc="-1">
                <a:solidFill>
                  <a:srgbClr val="6E79A0"/>
                </a:solidFill>
                <a:latin typeface="Calibri"/>
                <a:ea typeface="Calibri"/>
              </a:rPr>
              <a:t>A Fase 1 é o trabalho pesado, feito uma vez. A Fase 2 é rápida e roda a cada pergunta.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8C35D2EF-94A4-CA52-B6DD-4C1AAA747828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923B2425-8D36-6DB4-BC06-CC0870EC632A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548640" y="4572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97">
                <a:solidFill>
                  <a:srgbClr val="4F7BE8"/>
                </a:solidFill>
                <a:latin typeface="Calibri"/>
                <a:ea typeface="Calibri"/>
              </a:rPr>
              <a:t>FASE 1 · INDEXAÇÃO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502920" y="822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FFFFFF"/>
                </a:solidFill>
                <a:latin typeface="Cambria"/>
                <a:ea typeface="Cambria"/>
              </a:rPr>
              <a:t>Do documento aos vetores no banco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548640" y="1254691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3"/>
          <p:cNvSpPr/>
          <p:nvPr/>
        </p:nvSpPr>
        <p:spPr>
          <a:xfrm>
            <a:off x="749880" y="1355131"/>
            <a:ext cx="365400" cy="365400"/>
          </a:xfrm>
          <a:prstGeom prst="ellipse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749880" y="1355131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1325880" y="1254691"/>
            <a:ext cx="25599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FFFFF"/>
                </a:solidFill>
                <a:latin typeface="Cambria"/>
                <a:ea typeface="Cambria"/>
              </a:rPr>
              <a:t>Ingestão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6"/>
          <p:cNvSpPr/>
          <p:nvPr/>
        </p:nvSpPr>
        <p:spPr>
          <a:xfrm>
            <a:off x="3977640" y="1254691"/>
            <a:ext cx="60346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carregar o documento (PDF, DOCX, HTML)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7"/>
          <p:cNvSpPr/>
          <p:nvPr/>
        </p:nvSpPr>
        <p:spPr>
          <a:xfrm>
            <a:off x="548640" y="1903771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2A2B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8"/>
          <p:cNvSpPr/>
          <p:nvPr/>
        </p:nvSpPr>
        <p:spPr>
          <a:xfrm>
            <a:off x="749880" y="2004571"/>
            <a:ext cx="365400" cy="365400"/>
          </a:xfrm>
          <a:prstGeom prst="ellipse">
            <a:avLst/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9"/>
          <p:cNvSpPr/>
          <p:nvPr/>
        </p:nvSpPr>
        <p:spPr>
          <a:xfrm>
            <a:off x="749880" y="2004571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10"/>
          <p:cNvSpPr/>
          <p:nvPr/>
        </p:nvSpPr>
        <p:spPr>
          <a:xfrm>
            <a:off x="1325880" y="1903771"/>
            <a:ext cx="25599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FFFFF"/>
                </a:solidFill>
                <a:latin typeface="Cambria"/>
                <a:ea typeface="Cambria"/>
              </a:rPr>
              <a:t>Extração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1"/>
          <p:cNvSpPr/>
          <p:nvPr/>
        </p:nvSpPr>
        <p:spPr>
          <a:xfrm>
            <a:off x="3977640" y="1903771"/>
            <a:ext cx="60346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tirar o texto — separar corpo, tabelas, seções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12"/>
          <p:cNvSpPr/>
          <p:nvPr/>
        </p:nvSpPr>
        <p:spPr>
          <a:xfrm>
            <a:off x="10195560" y="1903771"/>
            <a:ext cx="12798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49B3A0"/>
                </a:solidFill>
                <a:latin typeface="Calibri"/>
                <a:ea typeface="Calibri"/>
              </a:rPr>
              <a:t>PLN leve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13"/>
          <p:cNvSpPr/>
          <p:nvPr/>
        </p:nvSpPr>
        <p:spPr>
          <a:xfrm>
            <a:off x="548640" y="2553211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2A2B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4"/>
          <p:cNvSpPr/>
          <p:nvPr/>
        </p:nvSpPr>
        <p:spPr>
          <a:xfrm>
            <a:off x="749880" y="2653651"/>
            <a:ext cx="365400" cy="365400"/>
          </a:xfrm>
          <a:prstGeom prst="ellipse">
            <a:avLst/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15"/>
          <p:cNvSpPr/>
          <p:nvPr/>
        </p:nvSpPr>
        <p:spPr>
          <a:xfrm>
            <a:off x="749880" y="2653651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16"/>
          <p:cNvSpPr/>
          <p:nvPr/>
        </p:nvSpPr>
        <p:spPr>
          <a:xfrm>
            <a:off x="1325880" y="2553211"/>
            <a:ext cx="25599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FFFFF"/>
                </a:solidFill>
                <a:latin typeface="Cambria"/>
                <a:ea typeface="Cambria"/>
              </a:rPr>
              <a:t>Limpeza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17"/>
          <p:cNvSpPr/>
          <p:nvPr/>
        </p:nvSpPr>
        <p:spPr>
          <a:xfrm>
            <a:off x="3977640" y="2553211"/>
            <a:ext cx="60346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remover ruído: rodapés, lixo de OCR, hifenização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8"/>
          <p:cNvSpPr/>
          <p:nvPr/>
        </p:nvSpPr>
        <p:spPr>
          <a:xfrm>
            <a:off x="10195560" y="2553211"/>
            <a:ext cx="12798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49B3A0"/>
                </a:solidFill>
                <a:latin typeface="Calibri"/>
                <a:ea typeface="Calibri"/>
              </a:rPr>
              <a:t>PLN leve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19"/>
          <p:cNvSpPr/>
          <p:nvPr/>
        </p:nvSpPr>
        <p:spPr>
          <a:xfrm>
            <a:off x="548640" y="3202291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2A2B47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20"/>
          <p:cNvSpPr/>
          <p:nvPr/>
        </p:nvSpPr>
        <p:spPr>
          <a:xfrm>
            <a:off x="749880" y="3303091"/>
            <a:ext cx="365400" cy="365400"/>
          </a:xfrm>
          <a:prstGeom prst="ellipse">
            <a:avLst/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21"/>
          <p:cNvSpPr/>
          <p:nvPr/>
        </p:nvSpPr>
        <p:spPr>
          <a:xfrm>
            <a:off x="749880" y="3303091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22"/>
          <p:cNvSpPr/>
          <p:nvPr/>
        </p:nvSpPr>
        <p:spPr>
          <a:xfrm>
            <a:off x="1325880" y="3202291"/>
            <a:ext cx="25599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FFFFF"/>
                </a:solidFill>
                <a:latin typeface="Cambria"/>
                <a:ea typeface="Cambria"/>
              </a:rPr>
              <a:t>Chunking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23"/>
          <p:cNvSpPr/>
          <p:nvPr/>
        </p:nvSpPr>
        <p:spPr>
          <a:xfrm>
            <a:off x="3977640" y="3202291"/>
            <a:ext cx="60346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dividir em pedaços com overlap, por fronteira semântica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24"/>
          <p:cNvSpPr/>
          <p:nvPr/>
        </p:nvSpPr>
        <p:spPr>
          <a:xfrm>
            <a:off x="10195560" y="3202291"/>
            <a:ext cx="12798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49B3A0"/>
                </a:solidFill>
                <a:latin typeface="Calibri"/>
                <a:ea typeface="Calibri"/>
              </a:rPr>
              <a:t>PLN leve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25"/>
          <p:cNvSpPr/>
          <p:nvPr/>
        </p:nvSpPr>
        <p:spPr>
          <a:xfrm>
            <a:off x="548640" y="3851731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26"/>
          <p:cNvSpPr/>
          <p:nvPr/>
        </p:nvSpPr>
        <p:spPr>
          <a:xfrm>
            <a:off x="749880" y="3952171"/>
            <a:ext cx="365400" cy="365400"/>
          </a:xfrm>
          <a:prstGeom prst="ellipse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27"/>
          <p:cNvSpPr/>
          <p:nvPr/>
        </p:nvSpPr>
        <p:spPr>
          <a:xfrm>
            <a:off x="749880" y="3952171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28"/>
          <p:cNvSpPr/>
          <p:nvPr/>
        </p:nvSpPr>
        <p:spPr>
          <a:xfrm>
            <a:off x="1325880" y="3851731"/>
            <a:ext cx="25599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FFFFF"/>
                </a:solidFill>
                <a:latin typeface="Cambria"/>
                <a:ea typeface="Cambria"/>
              </a:rPr>
              <a:t>Embedding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29"/>
          <p:cNvSpPr/>
          <p:nvPr/>
        </p:nvSpPr>
        <p:spPr>
          <a:xfrm>
            <a:off x="3977640" y="3851731"/>
            <a:ext cx="60346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cada chunk vira vetor (tokeniza por dentro)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30"/>
          <p:cNvSpPr/>
          <p:nvPr/>
        </p:nvSpPr>
        <p:spPr>
          <a:xfrm>
            <a:off x="548640" y="4500811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31"/>
          <p:cNvSpPr/>
          <p:nvPr/>
        </p:nvSpPr>
        <p:spPr>
          <a:xfrm>
            <a:off x="749880" y="4601251"/>
            <a:ext cx="365400" cy="365400"/>
          </a:xfrm>
          <a:prstGeom prst="ellipse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32"/>
          <p:cNvSpPr/>
          <p:nvPr/>
        </p:nvSpPr>
        <p:spPr>
          <a:xfrm>
            <a:off x="749880" y="4601251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33"/>
          <p:cNvSpPr/>
          <p:nvPr/>
        </p:nvSpPr>
        <p:spPr>
          <a:xfrm>
            <a:off x="1325880" y="4500811"/>
            <a:ext cx="25599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FFFFF"/>
                </a:solidFill>
                <a:latin typeface="Cambria"/>
                <a:ea typeface="Cambria"/>
              </a:rPr>
              <a:t>Indexação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34"/>
          <p:cNvSpPr/>
          <p:nvPr/>
        </p:nvSpPr>
        <p:spPr>
          <a:xfrm>
            <a:off x="3977640" y="4500811"/>
            <a:ext cx="60346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 err="1">
                <a:solidFill>
                  <a:srgbClr val="CADCFC"/>
                </a:solidFill>
                <a:latin typeface="Calibri"/>
                <a:ea typeface="Calibri"/>
              </a:rPr>
              <a:t>guardar</a:t>
            </a: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 </a:t>
            </a:r>
            <a:r>
              <a:rPr lang="en-US" sz="1250" b="0" strike="noStrike" spc="-1" err="1">
                <a:solidFill>
                  <a:srgbClr val="CADCFC"/>
                </a:solidFill>
                <a:latin typeface="Calibri"/>
                <a:ea typeface="Calibri"/>
              </a:rPr>
              <a:t>vetores</a:t>
            </a: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 + </a:t>
            </a:r>
            <a:r>
              <a:rPr lang="en-US" sz="1250" b="0" strike="noStrike" spc="-1" err="1">
                <a:solidFill>
                  <a:srgbClr val="CADCFC"/>
                </a:solidFill>
                <a:latin typeface="Calibri"/>
                <a:ea typeface="Calibri"/>
              </a:rPr>
              <a:t>metadados</a:t>
            </a: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 no banco </a:t>
            </a:r>
            <a:r>
              <a:rPr lang="en-US" sz="1250" b="0" strike="noStrike" spc="-1" err="1">
                <a:solidFill>
                  <a:srgbClr val="CADCFC"/>
                </a:solidFill>
                <a:latin typeface="Calibri"/>
                <a:ea typeface="Calibri"/>
              </a:rPr>
              <a:t>vetorial</a:t>
            </a: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 </a:t>
            </a:r>
            <a:r>
              <a:rPr lang="en-US" sz="1200" b="0" strike="noStrike" spc="-1">
                <a:solidFill>
                  <a:srgbClr val="CADCFC"/>
                </a:solidFill>
                <a:latin typeface="Calibri"/>
                <a:ea typeface="Calibri"/>
              </a:rPr>
              <a:t>(</a:t>
            </a:r>
            <a:r>
              <a:rPr lang="en-US" sz="1200" b="0" strike="noStrike" spc="-1" err="1">
                <a:solidFill>
                  <a:srgbClr val="CADCFC"/>
                </a:solidFill>
                <a:latin typeface="Calibri"/>
                <a:ea typeface="Calibri"/>
              </a:rPr>
              <a:t>página</a:t>
            </a:r>
            <a:r>
              <a:rPr lang="en-US" sz="1200" b="0" strike="noStrike" spc="-1">
                <a:solidFill>
                  <a:srgbClr val="CADCFC"/>
                </a:solidFill>
                <a:latin typeface="Calibri"/>
                <a:ea typeface="Calibri"/>
              </a:rPr>
              <a:t>, </a:t>
            </a:r>
            <a:r>
              <a:rPr lang="en-US" sz="1200" b="0" strike="noStrike" spc="-1" err="1">
                <a:solidFill>
                  <a:srgbClr val="CADCFC"/>
                </a:solidFill>
                <a:latin typeface="Calibri"/>
                <a:ea typeface="Calibri"/>
              </a:rPr>
              <a:t>seção</a:t>
            </a:r>
            <a:r>
              <a:rPr lang="en-US" sz="1200" b="0" strike="noStrike" spc="-1">
                <a:solidFill>
                  <a:srgbClr val="CADCFC"/>
                </a:solidFill>
                <a:latin typeface="Calibri"/>
                <a:ea typeface="Calibri"/>
              </a:rPr>
              <a:t>, que </a:t>
            </a:r>
            <a:r>
              <a:rPr lang="en-US" sz="1200" b="0" strike="noStrike" spc="-1" err="1">
                <a:solidFill>
                  <a:srgbClr val="CADCFC"/>
                </a:solidFill>
                <a:latin typeface="Calibri"/>
                <a:ea typeface="Calibri"/>
              </a:rPr>
              <a:t>permitem</a:t>
            </a:r>
            <a:r>
              <a:rPr lang="en-US" sz="1200" b="0" strike="noStrike" spc="-1">
                <a:solidFill>
                  <a:srgbClr val="CADCFC"/>
                </a:solidFill>
                <a:latin typeface="Calibri"/>
                <a:ea typeface="Calibri"/>
              </a:rPr>
              <a:t> </a:t>
            </a:r>
            <a:r>
              <a:rPr lang="en-US" sz="1200" b="0" strike="noStrike" spc="-1" err="1">
                <a:solidFill>
                  <a:srgbClr val="CADCFC"/>
                </a:solidFill>
                <a:latin typeface="Calibri"/>
                <a:ea typeface="Calibri"/>
              </a:rPr>
              <a:t>citar</a:t>
            </a:r>
            <a:r>
              <a:rPr lang="en-US" sz="1200" b="0" strike="noStrike" spc="-1">
                <a:solidFill>
                  <a:srgbClr val="CADCFC"/>
                </a:solidFill>
                <a:latin typeface="Calibri"/>
                <a:ea typeface="Calibri"/>
              </a:rPr>
              <a:t> a </a:t>
            </a:r>
            <a:r>
              <a:rPr lang="en-US" sz="1200" b="0" strike="noStrike" spc="-1" err="1">
                <a:solidFill>
                  <a:srgbClr val="CADCFC"/>
                </a:solidFill>
                <a:latin typeface="Calibri"/>
                <a:ea typeface="Calibri"/>
              </a:rPr>
              <a:t>fonte</a:t>
            </a:r>
            <a:r>
              <a:rPr lang="en-US" sz="1200" b="0" strike="noStrike" spc="-1">
                <a:solidFill>
                  <a:srgbClr val="CADCFC"/>
                </a:solidFill>
                <a:latin typeface="Calibri"/>
                <a:ea typeface="Calibri"/>
              </a:rPr>
              <a:t> </a:t>
            </a:r>
            <a:r>
              <a:rPr lang="en-US" sz="1200" b="0" strike="noStrike" spc="-1" err="1">
                <a:solidFill>
                  <a:srgbClr val="CADCFC"/>
                </a:solidFill>
                <a:latin typeface="Calibri"/>
                <a:ea typeface="Calibri"/>
              </a:rPr>
              <a:t>depois</a:t>
            </a:r>
            <a:r>
              <a:rPr lang="en-US" sz="1200" b="0" strike="noStrike" spc="-1">
                <a:solidFill>
                  <a:srgbClr val="CADCFC"/>
                </a:solidFill>
                <a:latin typeface="Calibri"/>
                <a:ea typeface="Calibri"/>
              </a:rPr>
              <a:t>; </a:t>
            </a:r>
            <a:r>
              <a:rPr lang="en-US" sz="1200" b="0" strike="noStrike" spc="-1" err="1">
                <a:solidFill>
                  <a:srgbClr val="CADCFC"/>
                </a:solidFill>
                <a:latin typeface="Calibri"/>
                <a:ea typeface="Calibri"/>
              </a:rPr>
              <a:t>liga</a:t>
            </a:r>
            <a:r>
              <a:rPr lang="en-US" sz="1200" b="0" strike="noStrike" spc="-1">
                <a:solidFill>
                  <a:srgbClr val="CADCFC"/>
                </a:solidFill>
                <a:latin typeface="Calibri"/>
                <a:ea typeface="Calibri"/>
              </a:rPr>
              <a:t> com a </a:t>
            </a:r>
            <a:r>
              <a:rPr lang="en-US" sz="1200" b="0" strike="noStrike" spc="-1" err="1">
                <a:solidFill>
                  <a:srgbClr val="CADCFC"/>
                </a:solidFill>
                <a:latin typeface="Calibri"/>
                <a:ea typeface="Calibri"/>
              </a:rPr>
              <a:t>idéia</a:t>
            </a:r>
            <a:r>
              <a:rPr lang="en-US" sz="1200" b="0" strike="noStrike" spc="-1">
                <a:solidFill>
                  <a:srgbClr val="CADCFC"/>
                </a:solidFill>
                <a:latin typeface="Calibri"/>
                <a:ea typeface="Calibri"/>
              </a:rPr>
              <a:t> de </a:t>
            </a:r>
            <a:r>
              <a:rPr lang="en-US" sz="1200" b="0" i="1" strike="noStrike" spc="-1">
                <a:solidFill>
                  <a:srgbClr val="CADCFC"/>
                </a:solidFill>
                <a:latin typeface="Calibri"/>
                <a:ea typeface="Calibri"/>
              </a:rPr>
              <a:t>grounding</a:t>
            </a:r>
            <a:r>
              <a:rPr lang="en-US" sz="1200" b="0" strike="noStrike" spc="-1">
                <a:solidFill>
                  <a:srgbClr val="CADCFC"/>
                </a:solidFill>
                <a:latin typeface="Calibri"/>
                <a:ea typeface="Calibri"/>
              </a:rPr>
              <a:t>)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35"/>
          <p:cNvSpPr/>
          <p:nvPr/>
        </p:nvSpPr>
        <p:spPr>
          <a:xfrm>
            <a:off x="548640" y="5323771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Os</a:t>
            </a:r>
            <a:r>
              <a:rPr lang="en-US" sz="13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 </a:t>
            </a:r>
            <a:r>
              <a:rPr lang="en-US" sz="13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passos</a:t>
            </a:r>
            <a:r>
              <a:rPr lang="en-US" sz="13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 2-4 (</a:t>
            </a:r>
            <a:r>
              <a:rPr lang="en-US" sz="13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verde</a:t>
            </a:r>
            <a:r>
              <a:rPr lang="en-US" sz="13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) </a:t>
            </a:r>
            <a:r>
              <a:rPr lang="en-US" sz="13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usam</a:t>
            </a:r>
            <a:r>
              <a:rPr lang="en-US" sz="13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 PLN </a:t>
            </a:r>
            <a:r>
              <a:rPr lang="en-US" sz="13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clássico</a:t>
            </a:r>
            <a:r>
              <a:rPr lang="en-US" sz="13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 — mas </a:t>
            </a:r>
            <a:r>
              <a:rPr lang="en-US" sz="13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só</a:t>
            </a:r>
            <a:r>
              <a:rPr lang="en-US" sz="13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 a </a:t>
            </a:r>
            <a:r>
              <a:rPr lang="en-US" sz="13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versão</a:t>
            </a:r>
            <a:r>
              <a:rPr lang="en-US" sz="13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 LEVE: </a:t>
            </a:r>
            <a:r>
              <a:rPr lang="en-US" sz="13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extrair</a:t>
            </a:r>
            <a:r>
              <a:rPr lang="en-US" sz="13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, </a:t>
            </a:r>
            <a:r>
              <a:rPr lang="en-US" sz="13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limpar</a:t>
            </a:r>
            <a:r>
              <a:rPr lang="en-US" sz="13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 </a:t>
            </a:r>
            <a:r>
              <a:rPr lang="en-US" sz="13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ruído</a:t>
            </a:r>
            <a:r>
              <a:rPr lang="en-US" sz="13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, </a:t>
            </a:r>
            <a:r>
              <a:rPr lang="en-US" sz="13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segmentar</a:t>
            </a:r>
            <a:r>
              <a:rPr lang="en-US" sz="13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.</a:t>
            </a:r>
            <a:endParaRPr lang="en-US" sz="1300" b="0" strike="noStrike" spc="-1">
              <a:solidFill>
                <a:srgbClr val="FF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5A9FEA66-DC1A-8CDA-03F5-0D888746CD55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32AE70B0-92F0-BF77-96C4-8E9E72C2D52C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/>
          <p:nvPr/>
        </p:nvSpPr>
        <p:spPr>
          <a:xfrm>
            <a:off x="548640" y="4572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97">
                <a:solidFill>
                  <a:srgbClr val="F2B84A"/>
                </a:solidFill>
                <a:latin typeface="Calibri"/>
                <a:ea typeface="Calibri"/>
              </a:rPr>
              <a:t>FASE 2 · CONSULTA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1"/>
          <p:cNvSpPr/>
          <p:nvPr/>
        </p:nvSpPr>
        <p:spPr>
          <a:xfrm>
            <a:off x="502920" y="822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FFFFFF"/>
                </a:solidFill>
                <a:latin typeface="Cambria"/>
                <a:ea typeface="Cambria"/>
              </a:rPr>
              <a:t>Da pergunta à resposta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2"/>
          <p:cNvSpPr/>
          <p:nvPr/>
        </p:nvSpPr>
        <p:spPr>
          <a:xfrm>
            <a:off x="548640" y="1150364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3"/>
          <p:cNvSpPr/>
          <p:nvPr/>
        </p:nvSpPr>
        <p:spPr>
          <a:xfrm>
            <a:off x="749880" y="1250804"/>
            <a:ext cx="347040" cy="347040"/>
          </a:xfrm>
          <a:prstGeom prst="ellipse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749880" y="1250804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mbria"/>
                <a:ea typeface="Cambria"/>
              </a:rPr>
              <a:t>7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5"/>
          <p:cNvSpPr/>
          <p:nvPr/>
        </p:nvSpPr>
        <p:spPr>
          <a:xfrm>
            <a:off x="1298520" y="1150364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mbria"/>
                <a:ea typeface="Cambria"/>
              </a:rPr>
              <a:t>Pergunta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6"/>
          <p:cNvSpPr/>
          <p:nvPr/>
        </p:nvSpPr>
        <p:spPr>
          <a:xfrm>
            <a:off x="4709160" y="1150364"/>
            <a:ext cx="6766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o </a:t>
            </a:r>
            <a:r>
              <a:rPr lang="en-US" sz="1250" b="0" strike="noStrike" spc="-1" err="1">
                <a:solidFill>
                  <a:srgbClr val="CADCFC"/>
                </a:solidFill>
                <a:latin typeface="Calibri"/>
                <a:ea typeface="Calibri"/>
              </a:rPr>
              <a:t>usuário</a:t>
            </a: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 </a:t>
            </a:r>
            <a:r>
              <a:rPr lang="en-US" sz="1250" b="0" strike="noStrike" spc="-1" err="1">
                <a:solidFill>
                  <a:srgbClr val="CADCFC"/>
                </a:solidFill>
                <a:latin typeface="Calibri"/>
                <a:ea typeface="Calibri"/>
              </a:rPr>
              <a:t>pergunta</a:t>
            </a: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 (</a:t>
            </a:r>
            <a:r>
              <a:rPr lang="en-US" sz="1250" b="0" strike="noStrike" spc="-1" err="1">
                <a:solidFill>
                  <a:srgbClr val="CADCFC"/>
                </a:solidFill>
                <a:latin typeface="Calibri"/>
                <a:ea typeface="Calibri"/>
              </a:rPr>
              <a:t>pergunta</a:t>
            </a: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 é “embedded” com o </a:t>
            </a:r>
            <a:r>
              <a:rPr lang="en-US" sz="1250" b="0" strike="noStrike" spc="-1" err="1">
                <a:solidFill>
                  <a:srgbClr val="CADCFC"/>
                </a:solidFill>
                <a:latin typeface="Calibri"/>
                <a:ea typeface="Calibri"/>
              </a:rPr>
              <a:t>mesmo</a:t>
            </a: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 </a:t>
            </a:r>
            <a:r>
              <a:rPr lang="en-US" sz="1250" b="0" strike="noStrike" spc="-1" err="1">
                <a:solidFill>
                  <a:srgbClr val="CADCFC"/>
                </a:solidFill>
                <a:latin typeface="Calibri"/>
                <a:ea typeface="Calibri"/>
              </a:rPr>
              <a:t>modelo</a:t>
            </a: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 </a:t>
            </a:r>
            <a:r>
              <a:rPr lang="en-US" sz="1250" b="0" strike="noStrike" spc="-1" err="1">
                <a:solidFill>
                  <a:srgbClr val="CADCFC"/>
                </a:solidFill>
                <a:latin typeface="Calibri"/>
                <a:ea typeface="Calibri"/>
              </a:rPr>
              <a:t>vetorial</a:t>
            </a: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)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7"/>
          <p:cNvSpPr/>
          <p:nvPr/>
        </p:nvSpPr>
        <p:spPr>
          <a:xfrm>
            <a:off x="548640" y="1772084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8"/>
          <p:cNvSpPr/>
          <p:nvPr/>
        </p:nvSpPr>
        <p:spPr>
          <a:xfrm>
            <a:off x="749880" y="1872884"/>
            <a:ext cx="347040" cy="347040"/>
          </a:xfrm>
          <a:prstGeom prst="ellipse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9"/>
          <p:cNvSpPr/>
          <p:nvPr/>
        </p:nvSpPr>
        <p:spPr>
          <a:xfrm>
            <a:off x="749880" y="1872884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mbria"/>
                <a:ea typeface="Cambria"/>
              </a:rPr>
              <a:t>8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0"/>
          <p:cNvSpPr/>
          <p:nvPr/>
        </p:nvSpPr>
        <p:spPr>
          <a:xfrm>
            <a:off x="1298520" y="1772084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mbria"/>
                <a:ea typeface="Cambria"/>
              </a:rPr>
              <a:t>Embedding da pergunta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11"/>
          <p:cNvSpPr/>
          <p:nvPr/>
        </p:nvSpPr>
        <p:spPr>
          <a:xfrm>
            <a:off x="4709160" y="1772084"/>
            <a:ext cx="6766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vira vetor pelo MESMO modelo da indexação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12"/>
          <p:cNvSpPr/>
          <p:nvPr/>
        </p:nvSpPr>
        <p:spPr>
          <a:xfrm>
            <a:off x="548640" y="2393804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13"/>
          <p:cNvSpPr/>
          <p:nvPr/>
        </p:nvSpPr>
        <p:spPr>
          <a:xfrm>
            <a:off x="749880" y="2494604"/>
            <a:ext cx="347040" cy="347040"/>
          </a:xfrm>
          <a:prstGeom prst="ellipse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14"/>
          <p:cNvSpPr/>
          <p:nvPr/>
        </p:nvSpPr>
        <p:spPr>
          <a:xfrm>
            <a:off x="749880" y="2494604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mbria"/>
                <a:ea typeface="Cambria"/>
              </a:rPr>
              <a:t>9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15"/>
          <p:cNvSpPr/>
          <p:nvPr/>
        </p:nvSpPr>
        <p:spPr>
          <a:xfrm>
            <a:off x="1298520" y="2393804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mbria"/>
                <a:ea typeface="Cambria"/>
              </a:rPr>
              <a:t>Busca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16"/>
          <p:cNvSpPr/>
          <p:nvPr/>
        </p:nvSpPr>
        <p:spPr>
          <a:xfrm>
            <a:off x="4709160" y="2393804"/>
            <a:ext cx="6766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acha os chunks mais próximos no banco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17"/>
          <p:cNvSpPr/>
          <p:nvPr/>
        </p:nvSpPr>
        <p:spPr>
          <a:xfrm>
            <a:off x="548640" y="3015884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18"/>
          <p:cNvSpPr/>
          <p:nvPr/>
        </p:nvSpPr>
        <p:spPr>
          <a:xfrm>
            <a:off x="749880" y="3116324"/>
            <a:ext cx="347040" cy="347040"/>
          </a:xfrm>
          <a:prstGeom prst="ellipse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19"/>
          <p:cNvSpPr/>
          <p:nvPr/>
        </p:nvSpPr>
        <p:spPr>
          <a:xfrm>
            <a:off x="713058" y="3116324"/>
            <a:ext cx="411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mbria"/>
                <a:ea typeface="Cambria"/>
              </a:rPr>
              <a:t>10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20"/>
          <p:cNvSpPr/>
          <p:nvPr/>
        </p:nvSpPr>
        <p:spPr>
          <a:xfrm>
            <a:off x="1298520" y="3015884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mbria"/>
                <a:ea typeface="Cambria"/>
              </a:rPr>
              <a:t>Reranking (opcional)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21"/>
          <p:cNvSpPr/>
          <p:nvPr/>
        </p:nvSpPr>
        <p:spPr>
          <a:xfrm>
            <a:off x="4709160" y="3015884"/>
            <a:ext cx="6766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reordena por relevância mais fina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22"/>
          <p:cNvSpPr/>
          <p:nvPr/>
        </p:nvSpPr>
        <p:spPr>
          <a:xfrm>
            <a:off x="548640" y="3637604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25"/>
          <p:cNvSpPr/>
          <p:nvPr/>
        </p:nvSpPr>
        <p:spPr>
          <a:xfrm>
            <a:off x="1298520" y="3637604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mbria"/>
                <a:ea typeface="Cambria"/>
              </a:rPr>
              <a:t>Montar o prompt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26"/>
          <p:cNvSpPr/>
          <p:nvPr/>
        </p:nvSpPr>
        <p:spPr>
          <a:xfrm>
            <a:off x="4709160" y="3637604"/>
            <a:ext cx="6766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pergunta + chunks + instrução de grounding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27"/>
          <p:cNvSpPr/>
          <p:nvPr/>
        </p:nvSpPr>
        <p:spPr>
          <a:xfrm>
            <a:off x="548640" y="4259324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30"/>
          <p:cNvSpPr/>
          <p:nvPr/>
        </p:nvSpPr>
        <p:spPr>
          <a:xfrm>
            <a:off x="1298520" y="4259324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mbria"/>
                <a:ea typeface="Cambria"/>
              </a:rPr>
              <a:t>Geração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31"/>
          <p:cNvSpPr/>
          <p:nvPr/>
        </p:nvSpPr>
        <p:spPr>
          <a:xfrm>
            <a:off x="4709160" y="4259324"/>
            <a:ext cx="6766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o LLM responde usando só o contexto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32"/>
          <p:cNvSpPr/>
          <p:nvPr/>
        </p:nvSpPr>
        <p:spPr>
          <a:xfrm>
            <a:off x="548640" y="4881044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35"/>
          <p:cNvSpPr/>
          <p:nvPr/>
        </p:nvSpPr>
        <p:spPr>
          <a:xfrm>
            <a:off x="1298520" y="4881044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mbria"/>
                <a:ea typeface="Cambria"/>
              </a:rPr>
              <a:t>Citar a fonte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36"/>
          <p:cNvSpPr/>
          <p:nvPr/>
        </p:nvSpPr>
        <p:spPr>
          <a:xfrm>
            <a:off x="4709160" y="4881044"/>
            <a:ext cx="6766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 err="1">
                <a:solidFill>
                  <a:srgbClr val="CADCFC"/>
                </a:solidFill>
                <a:latin typeface="Calibri"/>
                <a:ea typeface="Calibri"/>
              </a:rPr>
              <a:t>aponta</a:t>
            </a: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 de qual </a:t>
            </a:r>
            <a:r>
              <a:rPr lang="en-US" sz="1250" b="0" strike="noStrike" spc="-1" err="1">
                <a:solidFill>
                  <a:srgbClr val="CADCFC"/>
                </a:solidFill>
                <a:latin typeface="Calibri"/>
                <a:ea typeface="Calibri"/>
              </a:rPr>
              <a:t>documento</a:t>
            </a: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/</a:t>
            </a:r>
            <a:r>
              <a:rPr lang="en-US" sz="1250" b="0" strike="noStrike" spc="-1" err="1">
                <a:solidFill>
                  <a:srgbClr val="CADCFC"/>
                </a:solidFill>
                <a:latin typeface="Calibri"/>
                <a:ea typeface="Calibri"/>
              </a:rPr>
              <a:t>página</a:t>
            </a: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 </a:t>
            </a:r>
            <a:r>
              <a:rPr lang="en-US" sz="1250" b="0" strike="noStrike" spc="-1" err="1">
                <a:solidFill>
                  <a:srgbClr val="CADCFC"/>
                </a:solidFill>
                <a:latin typeface="Calibri"/>
                <a:ea typeface="Calibri"/>
              </a:rPr>
              <a:t>veio</a:t>
            </a: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 (</a:t>
            </a:r>
            <a:r>
              <a:rPr lang="en-US" sz="1250" b="0" i="1" strike="noStrike" spc="-1">
                <a:solidFill>
                  <a:srgbClr val="CADCFC"/>
                </a:solidFill>
                <a:latin typeface="Calibri"/>
                <a:ea typeface="Calibri"/>
              </a:rPr>
              <a:t>grounding</a:t>
            </a:r>
            <a:r>
              <a:rPr lang="en-US" sz="1250" b="0" strike="noStrike" spc="-1">
                <a:solidFill>
                  <a:srgbClr val="CADCFC"/>
                </a:solidFill>
                <a:latin typeface="Calibri"/>
                <a:ea typeface="Calibri"/>
              </a:rPr>
              <a:t>)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37"/>
          <p:cNvSpPr/>
          <p:nvPr/>
        </p:nvSpPr>
        <p:spPr>
          <a:xfrm>
            <a:off x="548640" y="5539484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Note: nenhum PLN clássico aqui. A pergunta também é </a:t>
            </a:r>
            <a:r>
              <a:rPr lang="pt-BR" sz="12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embedada</a:t>
            </a:r>
            <a:r>
              <a:rPr lang="pt-BR" sz="12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 com o texto natural — sem </a:t>
            </a:r>
            <a:r>
              <a:rPr lang="pt-BR" sz="12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stemming</a:t>
            </a:r>
            <a:r>
              <a:rPr lang="pt-BR" sz="12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 ou stop words!</a:t>
            </a:r>
            <a:endParaRPr lang="pt-BR" sz="1200" b="0" strike="noStrike" spc="-1">
              <a:solidFill>
                <a:srgbClr val="FF0000"/>
              </a:solidFill>
              <a:latin typeface="Arial"/>
            </a:endParaRPr>
          </a:p>
        </p:txBody>
      </p:sp>
      <p:sp>
        <p:nvSpPr>
          <p:cNvPr id="2" name="Shape 18">
            <a:extLst>
              <a:ext uri="{FF2B5EF4-FFF2-40B4-BE49-F238E27FC236}">
                <a16:creationId xmlns:a16="http://schemas.microsoft.com/office/drawing/2014/main" id="{E0BDB193-0DAC-6603-B837-5BC08CE19F43}"/>
              </a:ext>
            </a:extLst>
          </p:cNvPr>
          <p:cNvSpPr/>
          <p:nvPr/>
        </p:nvSpPr>
        <p:spPr>
          <a:xfrm>
            <a:off x="742719" y="3728995"/>
            <a:ext cx="347040" cy="347040"/>
          </a:xfrm>
          <a:prstGeom prst="ellipse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Text 19">
            <a:extLst>
              <a:ext uri="{FF2B5EF4-FFF2-40B4-BE49-F238E27FC236}">
                <a16:creationId xmlns:a16="http://schemas.microsoft.com/office/drawing/2014/main" id="{9F1437E3-B5EE-266B-C1A6-ECAD7D2DF968}"/>
              </a:ext>
            </a:extLst>
          </p:cNvPr>
          <p:cNvSpPr/>
          <p:nvPr/>
        </p:nvSpPr>
        <p:spPr>
          <a:xfrm>
            <a:off x="705897" y="3728995"/>
            <a:ext cx="411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mbria"/>
                <a:ea typeface="Cambria"/>
              </a:rPr>
              <a:t>11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Shape 18">
            <a:extLst>
              <a:ext uri="{FF2B5EF4-FFF2-40B4-BE49-F238E27FC236}">
                <a16:creationId xmlns:a16="http://schemas.microsoft.com/office/drawing/2014/main" id="{B0B7497B-513A-72B2-1062-34EB8A27DB3F}"/>
              </a:ext>
            </a:extLst>
          </p:cNvPr>
          <p:cNvSpPr/>
          <p:nvPr/>
        </p:nvSpPr>
        <p:spPr>
          <a:xfrm>
            <a:off x="729421" y="4347803"/>
            <a:ext cx="347040" cy="347040"/>
          </a:xfrm>
          <a:prstGeom prst="ellipse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 19">
            <a:extLst>
              <a:ext uri="{FF2B5EF4-FFF2-40B4-BE49-F238E27FC236}">
                <a16:creationId xmlns:a16="http://schemas.microsoft.com/office/drawing/2014/main" id="{1884AF7E-4D3F-3867-25C6-061EB4B1BFE0}"/>
              </a:ext>
            </a:extLst>
          </p:cNvPr>
          <p:cNvSpPr/>
          <p:nvPr/>
        </p:nvSpPr>
        <p:spPr>
          <a:xfrm>
            <a:off x="692599" y="4347803"/>
            <a:ext cx="411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mbria"/>
                <a:ea typeface="Cambria"/>
              </a:rPr>
              <a:t>12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Shape 18">
            <a:extLst>
              <a:ext uri="{FF2B5EF4-FFF2-40B4-BE49-F238E27FC236}">
                <a16:creationId xmlns:a16="http://schemas.microsoft.com/office/drawing/2014/main" id="{3011FCD6-F28B-BDDF-755C-1EC041962C26}"/>
              </a:ext>
            </a:extLst>
          </p:cNvPr>
          <p:cNvSpPr/>
          <p:nvPr/>
        </p:nvSpPr>
        <p:spPr>
          <a:xfrm>
            <a:off x="716123" y="4966611"/>
            <a:ext cx="347040" cy="347040"/>
          </a:xfrm>
          <a:prstGeom prst="ellipse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Text 19">
            <a:extLst>
              <a:ext uri="{FF2B5EF4-FFF2-40B4-BE49-F238E27FC236}">
                <a16:creationId xmlns:a16="http://schemas.microsoft.com/office/drawing/2014/main" id="{752A34F5-412D-DD92-F689-55745964E91E}"/>
              </a:ext>
            </a:extLst>
          </p:cNvPr>
          <p:cNvSpPr/>
          <p:nvPr/>
        </p:nvSpPr>
        <p:spPr>
          <a:xfrm>
            <a:off x="679301" y="4966611"/>
            <a:ext cx="4114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mbria"/>
                <a:ea typeface="Cambria"/>
              </a:rPr>
              <a:t>13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55F63B-C859-98EE-87E6-7EF9512328EB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028292-AF8F-6E7C-F8F8-C5E9579D979D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7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75" y="2043496"/>
            <a:ext cx="10069489" cy="40747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A6AACD3B-6B00-9C36-F7D8-90D717307C98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RAG pipeline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EE6CCE-1AED-C5C1-C7CC-F3B407EC92F1}"/>
              </a:ext>
            </a:extLst>
          </p:cNvPr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Overview</a:t>
            </a:r>
            <a:endParaRPr lang="pt-BR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8F26A973-5B87-55BB-B27C-E80E17B3841F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29480150-3203-9D7A-4F01-4E3621E56488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727105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Imagem 2" descr="Diagram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786" y="179388"/>
            <a:ext cx="5218113" cy="6209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0945BADE-C6A0-1C02-45C8-34A2638C8F3F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RAG pipeline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9C05B4BD-6C85-DCA4-83D8-4909EB228FDB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35164000-66D6-BE8C-F3B3-5C3886709A65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12</a:t>
            </a:fld>
            <a:endParaRPr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888000F-F3F2-C271-BA70-B51E3C19D061}"/>
              </a:ext>
            </a:extLst>
          </p:cNvPr>
          <p:cNvSpPr/>
          <p:nvPr/>
        </p:nvSpPr>
        <p:spPr>
          <a:xfrm>
            <a:off x="475560" y="1115640"/>
            <a:ext cx="4562845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Mais detalhado, com Busca em Vector DB</a:t>
            </a:r>
            <a:endParaRPr lang="pt-BR" sz="15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52483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Precisa mesmo de um Vector DB? (só PDF como base)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RAG </a:t>
            </a:r>
            <a:r>
              <a:rPr lang="en-US" sz="1500" b="0" strike="noStrike" spc="-1" err="1">
                <a:solidFill>
                  <a:srgbClr val="5A6072"/>
                </a:solidFill>
                <a:latin typeface="Calibri"/>
                <a:ea typeface="Calibri"/>
              </a:rPr>
              <a:t>não</a:t>
            </a: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 é </a:t>
            </a:r>
            <a:r>
              <a:rPr lang="en-US" sz="1500" b="0" strike="noStrike" spc="-1" err="1">
                <a:solidFill>
                  <a:srgbClr val="5A6072"/>
                </a:solidFill>
                <a:latin typeface="Calibri"/>
                <a:ea typeface="Calibri"/>
              </a:rPr>
              <a:t>sinônimo</a:t>
            </a: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 de banco </a:t>
            </a:r>
            <a:r>
              <a:rPr lang="en-US" sz="1500" b="0" strike="noStrike" spc="-1" err="1">
                <a:solidFill>
                  <a:srgbClr val="5A6072"/>
                </a:solidFill>
                <a:latin typeface="Calibri"/>
                <a:ea typeface="Calibri"/>
              </a:rPr>
              <a:t>vetorial</a:t>
            </a:r>
            <a:r>
              <a:rPr lang="en-US" sz="1500" spc="-1">
                <a:solidFill>
                  <a:srgbClr val="5A6072"/>
                </a:solidFill>
                <a:latin typeface="Calibri"/>
                <a:ea typeface="Calibri"/>
              </a:rPr>
              <a:t>!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2"/>
          <p:cNvSpPr/>
          <p:nvPr/>
        </p:nvSpPr>
        <p:spPr>
          <a:xfrm>
            <a:off x="548640" y="1920240"/>
            <a:ext cx="5440320" cy="3200040"/>
          </a:xfrm>
          <a:prstGeom prst="roundRect">
            <a:avLst>
              <a:gd name="adj" fmla="val 2286"/>
            </a:avLst>
          </a:prstGeom>
          <a:solidFill>
            <a:srgbClr val="E7F3EC"/>
          </a:solidFill>
          <a:ln w="19050">
            <a:solidFill>
              <a:srgbClr val="3E9E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3"/>
          <p:cNvSpPr/>
          <p:nvPr/>
        </p:nvSpPr>
        <p:spPr>
          <a:xfrm>
            <a:off x="822960" y="210312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3E9E6E"/>
                </a:solidFill>
                <a:latin typeface="Cambria"/>
                <a:ea typeface="Cambria"/>
              </a:rPr>
              <a:t>✓ Quando você NÃO precisa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4"/>
          <p:cNvSpPr/>
          <p:nvPr/>
        </p:nvSpPr>
        <p:spPr>
          <a:xfrm>
            <a:off x="822960" y="25419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strike="noStrike" spc="-1">
                <a:solidFill>
                  <a:srgbClr val="5A6072"/>
                </a:solidFill>
                <a:latin typeface="Calibri"/>
                <a:ea typeface="Calibri"/>
              </a:rPr>
              <a:t>só PDF como base? quase sempre cai aqui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5"/>
          <p:cNvSpPr/>
          <p:nvPr/>
        </p:nvSpPr>
        <p:spPr>
          <a:xfrm>
            <a:off x="868680" y="3017520"/>
            <a:ext cx="493740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PDF cabe no contexto → tudo no prompt (sem retrieval)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Grande, termos fixos → chunking + BM25 (rank_bm25)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Busca semântica local → FAISS ou NumPy, em memória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5A6072"/>
              </a:buClr>
              <a:buFont typeface="Symbol" charset="2"/>
              <a:buChar char=""/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Vetores no banco que já tem → pgvector, SQLite-VSS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6"/>
          <p:cNvSpPr/>
          <p:nvPr/>
        </p:nvSpPr>
        <p:spPr>
          <a:xfrm>
            <a:off x="6172200" y="1920240"/>
            <a:ext cx="5440320" cy="3200040"/>
          </a:xfrm>
          <a:prstGeom prst="roundRect">
            <a:avLst>
              <a:gd name="adj" fmla="val 2286"/>
            </a:avLst>
          </a:prstGeom>
          <a:solidFill>
            <a:srgbClr val="E8ECF7"/>
          </a:solidFill>
          <a:ln w="1905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6446520" y="210312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E2761"/>
                </a:solidFill>
                <a:latin typeface="Cambria"/>
                <a:ea typeface="Cambria"/>
              </a:rPr>
              <a:t>↗ Aí sim, um Vector DB dedicado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8"/>
          <p:cNvSpPr/>
          <p:nvPr/>
        </p:nvSpPr>
        <p:spPr>
          <a:xfrm>
            <a:off x="6446520" y="25419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strike="noStrike" spc="-1">
                <a:solidFill>
                  <a:srgbClr val="5A6072"/>
                </a:solidFill>
                <a:latin typeface="Calibri"/>
                <a:ea typeface="Calibri"/>
              </a:rPr>
              <a:t>quando a escala justifica a infraestrutura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9"/>
          <p:cNvSpPr/>
          <p:nvPr/>
        </p:nvSpPr>
        <p:spPr>
          <a:xfrm>
            <a:off x="6492240" y="3017520"/>
            <a:ext cx="493740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Milhões de vetores para indexar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Latência de ANN sob alto volume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Muitas apps consumindo o mesmo índice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5A6072"/>
              </a:buClr>
              <a:buFont typeface="Symbol" charset="2"/>
              <a:buChar char=""/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Filtros e updates constantes em produção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0"/>
          <p:cNvSpPr/>
          <p:nvPr/>
        </p:nvSpPr>
        <p:spPr>
          <a:xfrm>
            <a:off x="548640" y="5349240"/>
            <a:ext cx="11063880" cy="6854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1"/>
          <p:cNvSpPr/>
          <p:nvPr/>
        </p:nvSpPr>
        <p:spPr>
          <a:xfrm>
            <a:off x="868680" y="53492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2B84A"/>
                </a:solidFill>
                <a:latin typeface="Calibri"/>
              </a:rPr>
              <a:t>Regra de bolso:  </a:t>
            </a:r>
            <a:r>
              <a:rPr lang="en-US" sz="1500" b="0" strike="noStrike" spc="-1">
                <a:solidFill>
                  <a:srgbClr val="F2B84A"/>
                </a:solidFill>
                <a:latin typeface="Calibri"/>
              </a:rPr>
              <a:t>para “só PDF”, comece simples e suba a escada só quando o volume e a latência de busca pedirem.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768D4421-922D-86F5-4FF1-1E11C30D7216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A76A8CA2-6E55-9556-C4CA-AC638F700B46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Onde está a tokenização?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Ela não sumiu — vive DENTRO do passo de embedding, feita pelo modelo.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548640" y="17830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Passo 5 "explodido" — o que acontece quando você chama embed(chunk):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3"/>
          <p:cNvSpPr/>
          <p:nvPr/>
        </p:nvSpPr>
        <p:spPr>
          <a:xfrm>
            <a:off x="777240" y="2377440"/>
            <a:ext cx="2468520" cy="1005480"/>
          </a:xfrm>
          <a:prstGeom prst="roundRect">
            <a:avLst>
              <a:gd name="adj" fmla="val 7273"/>
            </a:avLst>
          </a:prstGeom>
          <a:solidFill>
            <a:srgbClr val="DDE6F7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777240" y="24872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6E79A0"/>
                </a:solidFill>
                <a:latin typeface="Calibri"/>
                <a:ea typeface="Calibri"/>
              </a:rPr>
              <a:t>chunk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5"/>
          <p:cNvSpPr/>
          <p:nvPr/>
        </p:nvSpPr>
        <p:spPr>
          <a:xfrm>
            <a:off x="868680" y="278892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onsolas"/>
                <a:ea typeface="Consolas"/>
              </a:rPr>
              <a:t>"o produto não funciona"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3227760" y="2199467"/>
            <a:ext cx="31968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4F7BE8"/>
                </a:solidFill>
                <a:latin typeface="Calibri"/>
                <a:ea typeface="Calibri"/>
              </a:rPr>
              <a:t>→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7"/>
          <p:cNvSpPr/>
          <p:nvPr/>
        </p:nvSpPr>
        <p:spPr>
          <a:xfrm>
            <a:off x="3547800" y="2377440"/>
            <a:ext cx="2468520" cy="1005480"/>
          </a:xfrm>
          <a:prstGeom prst="roundRect">
            <a:avLst>
              <a:gd name="adj" fmla="val 7273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8"/>
          <p:cNvSpPr/>
          <p:nvPr/>
        </p:nvSpPr>
        <p:spPr>
          <a:xfrm>
            <a:off x="3547800" y="24872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6E79A0"/>
                </a:solidFill>
                <a:latin typeface="Calibri"/>
                <a:ea typeface="Calibri"/>
              </a:rPr>
              <a:t>tokens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9"/>
          <p:cNvSpPr/>
          <p:nvPr/>
        </p:nvSpPr>
        <p:spPr>
          <a:xfrm>
            <a:off x="3374785" y="2984689"/>
            <a:ext cx="374400" cy="347040"/>
          </a:xfrm>
          <a:prstGeom prst="roundRect">
            <a:avLst>
              <a:gd name="adj" fmla="val 13158"/>
            </a:avLst>
          </a:prstGeom>
          <a:solidFill>
            <a:srgbClr val="3A6F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0"/>
          <p:cNvSpPr/>
          <p:nvPr/>
        </p:nvSpPr>
        <p:spPr>
          <a:xfrm>
            <a:off x="3380922" y="2984689"/>
            <a:ext cx="374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onsolas"/>
                <a:ea typeface="Consolas"/>
              </a:rPr>
              <a:t>o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1"/>
          <p:cNvSpPr/>
          <p:nvPr/>
        </p:nvSpPr>
        <p:spPr>
          <a:xfrm>
            <a:off x="3810762" y="2984689"/>
            <a:ext cx="978120" cy="347040"/>
          </a:xfrm>
          <a:prstGeom prst="roundRect">
            <a:avLst>
              <a:gd name="adj" fmla="val 13158"/>
            </a:avLst>
          </a:prstGeom>
          <a:solidFill>
            <a:srgbClr val="2E8B7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12"/>
          <p:cNvSpPr/>
          <p:nvPr/>
        </p:nvSpPr>
        <p:spPr>
          <a:xfrm>
            <a:off x="3804625" y="2984689"/>
            <a:ext cx="978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onsolas"/>
                <a:ea typeface="Consolas"/>
              </a:rPr>
              <a:t>produto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3"/>
          <p:cNvSpPr/>
          <p:nvPr/>
        </p:nvSpPr>
        <p:spPr>
          <a:xfrm>
            <a:off x="4837825" y="2984689"/>
            <a:ext cx="575640" cy="347040"/>
          </a:xfrm>
          <a:prstGeom prst="roundRect">
            <a:avLst>
              <a:gd name="adj" fmla="val 13158"/>
            </a:avLst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14"/>
          <p:cNvSpPr/>
          <p:nvPr/>
        </p:nvSpPr>
        <p:spPr>
          <a:xfrm>
            <a:off x="4843962" y="2984689"/>
            <a:ext cx="575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onsolas"/>
                <a:ea typeface="Consolas"/>
              </a:rPr>
              <a:t>não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5"/>
          <p:cNvSpPr/>
          <p:nvPr/>
        </p:nvSpPr>
        <p:spPr>
          <a:xfrm>
            <a:off x="5438220" y="2984689"/>
            <a:ext cx="676440" cy="347040"/>
          </a:xfrm>
          <a:prstGeom prst="roundRect">
            <a:avLst>
              <a:gd name="adj" fmla="val 13158"/>
            </a:avLst>
          </a:prstGeom>
          <a:solidFill>
            <a:srgbClr val="9B5BB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16"/>
          <p:cNvSpPr/>
          <p:nvPr/>
        </p:nvSpPr>
        <p:spPr>
          <a:xfrm>
            <a:off x="5432083" y="2984689"/>
            <a:ext cx="676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 err="1">
                <a:solidFill>
                  <a:srgbClr val="FFFFFF"/>
                </a:solidFill>
                <a:latin typeface="Consolas"/>
                <a:ea typeface="Consolas"/>
              </a:rPr>
              <a:t>func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7"/>
          <p:cNvSpPr/>
          <p:nvPr/>
        </p:nvSpPr>
        <p:spPr>
          <a:xfrm>
            <a:off x="5998320" y="2187193"/>
            <a:ext cx="31968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4F7BE8"/>
                </a:solidFill>
                <a:latin typeface="Calibri"/>
                <a:ea typeface="Calibri"/>
              </a:rPr>
              <a:t>→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8"/>
          <p:cNvSpPr/>
          <p:nvPr/>
        </p:nvSpPr>
        <p:spPr>
          <a:xfrm>
            <a:off x="6318360" y="2377440"/>
            <a:ext cx="2468520" cy="1005480"/>
          </a:xfrm>
          <a:prstGeom prst="roundRect">
            <a:avLst>
              <a:gd name="adj" fmla="val 7273"/>
            </a:avLst>
          </a:prstGeom>
          <a:solidFill>
            <a:srgbClr val="EAF0FB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9"/>
          <p:cNvSpPr/>
          <p:nvPr/>
        </p:nvSpPr>
        <p:spPr>
          <a:xfrm>
            <a:off x="6318360" y="24872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6E79A0"/>
                </a:solidFill>
                <a:latin typeface="Calibri"/>
                <a:ea typeface="Calibri"/>
              </a:rPr>
              <a:t>IDs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20"/>
          <p:cNvSpPr/>
          <p:nvPr/>
        </p:nvSpPr>
        <p:spPr>
          <a:xfrm>
            <a:off x="6409800" y="278892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onsolas"/>
                <a:ea typeface="Consolas"/>
              </a:rPr>
              <a:t>512 · 8423 · 91 · 3300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21"/>
          <p:cNvSpPr/>
          <p:nvPr/>
        </p:nvSpPr>
        <p:spPr>
          <a:xfrm>
            <a:off x="8769240" y="2205604"/>
            <a:ext cx="31968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4F7BE8"/>
                </a:solidFill>
                <a:latin typeface="Calibri"/>
                <a:ea typeface="Calibri"/>
              </a:rPr>
              <a:t>→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22"/>
          <p:cNvSpPr/>
          <p:nvPr/>
        </p:nvSpPr>
        <p:spPr>
          <a:xfrm>
            <a:off x="9089280" y="2377440"/>
            <a:ext cx="2468520" cy="100548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23"/>
          <p:cNvSpPr/>
          <p:nvPr/>
        </p:nvSpPr>
        <p:spPr>
          <a:xfrm>
            <a:off x="9089280" y="24872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CADCFC"/>
                </a:solidFill>
                <a:latin typeface="Calibri"/>
                <a:ea typeface="Calibri"/>
              </a:rPr>
              <a:t>vetor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24"/>
          <p:cNvSpPr/>
          <p:nvPr/>
        </p:nvSpPr>
        <p:spPr>
          <a:xfrm>
            <a:off x="9180720" y="278892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onsolas"/>
                <a:ea typeface="Consolas"/>
              </a:rPr>
              <a:t>[0.2, -0.5, 0.9, ...]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25"/>
          <p:cNvSpPr/>
          <p:nvPr/>
        </p:nvSpPr>
        <p:spPr>
          <a:xfrm>
            <a:off x="777240" y="3794760"/>
            <a:ext cx="10606680" cy="456840"/>
          </a:xfrm>
          <a:prstGeom prst="roundRect">
            <a:avLst>
              <a:gd name="adj" fmla="val 10000"/>
            </a:avLst>
          </a:prstGeom>
          <a:solidFill>
            <a:srgbClr val="EAF4F1"/>
          </a:solidFill>
          <a:ln w="12700">
            <a:solidFill>
              <a:srgbClr val="49B3A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26"/>
          <p:cNvSpPr/>
          <p:nvPr/>
        </p:nvSpPr>
        <p:spPr>
          <a:xfrm>
            <a:off x="777240" y="379476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i="1" strike="noStrike" spc="-1">
                <a:solidFill>
                  <a:srgbClr val="2E8B7A"/>
                </a:solidFill>
                <a:latin typeface="Calibri"/>
                <a:ea typeface="Calibri"/>
              </a:rPr>
              <a:t>↑ tudo isto acontece automaticamente dentro do modelo de embedding — você não controla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27"/>
          <p:cNvSpPr/>
          <p:nvPr/>
        </p:nvSpPr>
        <p:spPr>
          <a:xfrm>
            <a:off x="548640" y="4526280"/>
            <a:ext cx="11063880" cy="123408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28"/>
          <p:cNvSpPr/>
          <p:nvPr/>
        </p:nvSpPr>
        <p:spPr>
          <a:xfrm>
            <a:off x="868680" y="452628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2B84A"/>
                </a:solidFill>
                <a:latin typeface="Calibri"/>
              </a:rPr>
              <a:t>A mesma palavra, dois donos:  </a:t>
            </a:r>
            <a:r>
              <a:rPr lang="en-US" sz="1400" b="0" strike="noStrike" spc="-1">
                <a:solidFill>
                  <a:srgbClr val="CADCFC"/>
                </a:solidFill>
                <a:latin typeface="Calibri"/>
              </a:rPr>
              <a:t>no PLN clássico VOCÊ tokeniza (para mexer nos tokens: stemming, stop words). No RAG o MODELO tokeniza (em subpalavras, e você não interfere).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BB6785D4-C5CF-5E20-EB0E-72F3C2D91701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D8DFF6BF-73B0-BA44-6EB0-0D2BBAC8E997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Dois momentos, duas formas diferentes de trabalhar</a:t>
            </a:r>
            <a:endParaRPr lang="pt-BR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O mesmo texto, tratado de forma OPOSTA conforme o destino.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548640" y="1920240"/>
            <a:ext cx="5440320" cy="3748680"/>
          </a:xfrm>
          <a:prstGeom prst="roundRect">
            <a:avLst>
              <a:gd name="adj" fmla="val 1951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822960" y="210312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1E2761"/>
                </a:solidFill>
                <a:latin typeface="Cambria"/>
                <a:ea typeface="Cambria"/>
              </a:rPr>
              <a:t>PLN clássico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822960" y="2541960"/>
            <a:ext cx="49374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strike="noStrike" spc="-1">
                <a:solidFill>
                  <a:srgbClr val="6E79A0"/>
                </a:solidFill>
                <a:latin typeface="Calibri"/>
                <a:ea typeface="Calibri"/>
              </a:rPr>
              <a:t>para modelos "simples" (busca, clustering, análise de sentimento clássica)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868680" y="3200400"/>
            <a:ext cx="493740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1E2761"/>
                </a:solidFill>
                <a:latin typeface="Calibri"/>
                <a:ea typeface="Calibri"/>
              </a:rPr>
              <a:t>Objetivo: </a:t>
            </a: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simplificar o texto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5A6072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Remove stop words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5A6072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Faz stemming / lematização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5A6072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Reduz o vocabulário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5A6072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Deixa o dado "magro" e computável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6172200" y="1920240"/>
            <a:ext cx="5440320" cy="3748680"/>
          </a:xfrm>
          <a:prstGeom prst="roundRect">
            <a:avLst>
              <a:gd name="adj" fmla="val 1951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6446520" y="210312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FFFFFF"/>
                </a:solidFill>
                <a:latin typeface="Cambria"/>
                <a:ea typeface="Cambria"/>
              </a:rPr>
              <a:t>PLN para LLM / RAG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8"/>
          <p:cNvSpPr/>
          <p:nvPr/>
        </p:nvSpPr>
        <p:spPr>
          <a:xfrm>
            <a:off x="6446520" y="2541960"/>
            <a:ext cx="49374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strike="noStrike" spc="-1">
                <a:solidFill>
                  <a:srgbClr val="9FBCE8"/>
                </a:solidFill>
                <a:latin typeface="Calibri"/>
                <a:ea typeface="Calibri"/>
              </a:rPr>
              <a:t>para preparar texto que o LLM vai ler e responder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6492240" y="3200400"/>
            <a:ext cx="493740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F2B84A"/>
                </a:solidFill>
                <a:latin typeface="Calibri"/>
                <a:ea typeface="Calibri"/>
              </a:rPr>
              <a:t>Objetivo: </a:t>
            </a:r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preservar o texto natural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strike="noStrike" spc="-1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lang="en-US" sz="70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CADCFC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MANTÉM stop words ("não" muda o sentido!)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CADCFC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NÃO faz stemming (LLM lê texto rico)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CADCFC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Limpeza leve, não mutilação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CADCFC"/>
              </a:buClr>
              <a:buFont typeface="Symbol" charset="2"/>
              <a:buChar char=""/>
              <a:tabLst>
                <a:tab pos="0" algn="l"/>
              </a:tabLst>
            </a:pPr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Deixa o dado íntegro e legível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6C561CFC-8C9A-07AF-F185-C2B0B8EDF256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32130E10-8559-A1EA-F8E6-0FE11C1A894D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131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O que do PLN clássico CONTINUA útil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Nem tudo muda — algumas técnicas seguem essenciais no pipeline de RAG.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2"/>
          <p:cNvSpPr/>
          <p:nvPr/>
        </p:nvSpPr>
        <p:spPr>
          <a:xfrm>
            <a:off x="548640" y="1965960"/>
            <a:ext cx="11063880" cy="694440"/>
          </a:xfrm>
          <a:prstGeom prst="roundRect">
            <a:avLst>
              <a:gd name="adj" fmla="val 7895"/>
            </a:avLst>
          </a:prstGeom>
          <a:solidFill>
            <a:srgbClr val="F8FAFE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3"/>
          <p:cNvSpPr/>
          <p:nvPr/>
        </p:nvSpPr>
        <p:spPr>
          <a:xfrm>
            <a:off x="548640" y="1965960"/>
            <a:ext cx="109440" cy="694440"/>
          </a:xfrm>
          <a:prstGeom prst="roundRect">
            <a:avLst>
              <a:gd name="adj" fmla="val 16667"/>
            </a:avLst>
          </a:prstGeom>
          <a:solidFill>
            <a:srgbClr val="3E9E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822960" y="1965960"/>
            <a:ext cx="3565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Tokenização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4480560" y="1965960"/>
            <a:ext cx="50288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continua central — o LLM </a:t>
            </a:r>
            <a:r>
              <a:rPr lang="pt-BR" sz="1300" b="0" strike="noStrike" spc="-1" err="1">
                <a:solidFill>
                  <a:srgbClr val="5A6072"/>
                </a:solidFill>
                <a:latin typeface="Calibri"/>
                <a:ea typeface="Calibri"/>
              </a:rPr>
              <a:t>tokeniza</a:t>
            </a:r>
            <a:r>
              <a:rPr lang="pt-BR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 em </a:t>
            </a:r>
            <a:r>
              <a:rPr lang="pt-BR" sz="1300" b="0" strike="noStrike" spc="-1" err="1">
                <a:solidFill>
                  <a:srgbClr val="5A6072"/>
                </a:solidFill>
                <a:latin typeface="Calibri"/>
                <a:ea typeface="Calibri"/>
              </a:rPr>
              <a:t>subpalavras</a:t>
            </a:r>
            <a:r>
              <a:rPr lang="pt-BR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 (por </a:t>
            </a:r>
            <a:r>
              <a:rPr lang="pt-BR" sz="1300" b="0" strike="noStrike" spc="-1" err="1">
                <a:solidFill>
                  <a:srgbClr val="5A6072"/>
                </a:solidFill>
                <a:latin typeface="Calibri"/>
                <a:ea typeface="Calibri"/>
              </a:rPr>
              <a:t>embedding</a:t>
            </a:r>
            <a:r>
              <a:rPr lang="pt-BR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)</a:t>
            </a:r>
            <a:endParaRPr lang="pt-BR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9601200" y="1965960"/>
            <a:ext cx="18284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3E9E6E"/>
                </a:solidFill>
                <a:latin typeface="Calibri"/>
                <a:ea typeface="Calibri"/>
              </a:rPr>
              <a:t>✓ mantém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7"/>
          <p:cNvSpPr/>
          <p:nvPr/>
        </p:nvSpPr>
        <p:spPr>
          <a:xfrm>
            <a:off x="548640" y="2770560"/>
            <a:ext cx="11063880" cy="694440"/>
          </a:xfrm>
          <a:prstGeom prst="roundRect">
            <a:avLst>
              <a:gd name="adj" fmla="val 7895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8"/>
          <p:cNvSpPr/>
          <p:nvPr/>
        </p:nvSpPr>
        <p:spPr>
          <a:xfrm>
            <a:off x="548640" y="2770560"/>
            <a:ext cx="109440" cy="694440"/>
          </a:xfrm>
          <a:prstGeom prst="roundRect">
            <a:avLst>
              <a:gd name="adj" fmla="val 16667"/>
            </a:avLst>
          </a:prstGeom>
          <a:solidFill>
            <a:srgbClr val="3E9E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822960" y="2770560"/>
            <a:ext cx="3565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Segmentação de sentença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4480560" y="2770560"/>
            <a:ext cx="50288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útil para dividir o texto em pedaços com sentido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9601200" y="2770560"/>
            <a:ext cx="18284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3E9E6E"/>
                </a:solidFill>
                <a:latin typeface="Calibri"/>
                <a:ea typeface="Calibri"/>
              </a:rPr>
              <a:t>✓ mantém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12"/>
          <p:cNvSpPr/>
          <p:nvPr/>
        </p:nvSpPr>
        <p:spPr>
          <a:xfrm>
            <a:off x="548640" y="3575160"/>
            <a:ext cx="11063880" cy="694440"/>
          </a:xfrm>
          <a:prstGeom prst="roundRect">
            <a:avLst>
              <a:gd name="adj" fmla="val 7895"/>
            </a:avLst>
          </a:prstGeom>
          <a:solidFill>
            <a:srgbClr val="F8FAFE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3"/>
          <p:cNvSpPr/>
          <p:nvPr/>
        </p:nvSpPr>
        <p:spPr>
          <a:xfrm>
            <a:off x="548640" y="3575160"/>
            <a:ext cx="109440" cy="694440"/>
          </a:xfrm>
          <a:prstGeom prst="roundRect">
            <a:avLst>
              <a:gd name="adj" fmla="val 16667"/>
            </a:avLst>
          </a:prstGeom>
          <a:solidFill>
            <a:srgbClr val="3E9E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822960" y="3575160"/>
            <a:ext cx="3565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Limpeza de ruído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4480560" y="3575160"/>
            <a:ext cx="50288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remover artefatos (cabeçalhos, rodapés, lixo de OCR)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9601200" y="3575160"/>
            <a:ext cx="18284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3E9E6E"/>
                </a:solidFill>
                <a:latin typeface="Calibri"/>
                <a:ea typeface="Calibri"/>
              </a:rPr>
              <a:t>✓ mantém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17"/>
          <p:cNvSpPr/>
          <p:nvPr/>
        </p:nvSpPr>
        <p:spPr>
          <a:xfrm>
            <a:off x="548640" y="4380120"/>
            <a:ext cx="11063880" cy="694440"/>
          </a:xfrm>
          <a:prstGeom prst="roundRect">
            <a:avLst>
              <a:gd name="adj" fmla="val 7895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18"/>
          <p:cNvSpPr/>
          <p:nvPr/>
        </p:nvSpPr>
        <p:spPr>
          <a:xfrm>
            <a:off x="548640" y="4380120"/>
            <a:ext cx="109440" cy="694440"/>
          </a:xfrm>
          <a:prstGeom prst="roundRect">
            <a:avLst>
              <a:gd name="adj" fmla="val 16667"/>
            </a:avLst>
          </a:prstGeom>
          <a:solidFill>
            <a:srgbClr val="C450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822960" y="4380120"/>
            <a:ext cx="3565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Stop words / stemming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4480560" y="4380120"/>
            <a:ext cx="50288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destroem o significado que o LLM precisa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9601200" y="4380120"/>
            <a:ext cx="18284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C4506B"/>
                </a:solidFill>
                <a:latin typeface="Calibri"/>
                <a:ea typeface="Calibri"/>
              </a:rPr>
              <a:t>✗ evita no RAG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22"/>
          <p:cNvSpPr/>
          <p:nvPr/>
        </p:nvSpPr>
        <p:spPr>
          <a:xfrm>
            <a:off x="548640" y="5184720"/>
            <a:ext cx="11063880" cy="694440"/>
          </a:xfrm>
          <a:prstGeom prst="roundRect">
            <a:avLst>
              <a:gd name="adj" fmla="val 7895"/>
            </a:avLst>
          </a:prstGeom>
          <a:solidFill>
            <a:srgbClr val="F8FAFE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23"/>
          <p:cNvSpPr/>
          <p:nvPr/>
        </p:nvSpPr>
        <p:spPr>
          <a:xfrm>
            <a:off x="548640" y="5184720"/>
            <a:ext cx="109440" cy="694440"/>
          </a:xfrm>
          <a:prstGeom prst="roundRect">
            <a:avLst>
              <a:gd name="adj" fmla="val 16667"/>
            </a:avLst>
          </a:prstGeom>
          <a:solidFill>
            <a:srgbClr val="C450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24"/>
          <p:cNvSpPr/>
          <p:nvPr/>
        </p:nvSpPr>
        <p:spPr>
          <a:xfrm>
            <a:off x="822960" y="5184720"/>
            <a:ext cx="3565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Redução de vocabulário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25"/>
          <p:cNvSpPr/>
          <p:nvPr/>
        </p:nvSpPr>
        <p:spPr>
          <a:xfrm>
            <a:off x="4480560" y="5184720"/>
            <a:ext cx="50288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o LLM quer o vocabulário completo, não reduzido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6"/>
          <p:cNvSpPr/>
          <p:nvPr/>
        </p:nvSpPr>
        <p:spPr>
          <a:xfrm>
            <a:off x="9601200" y="5184720"/>
            <a:ext cx="18284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C4506B"/>
                </a:solidFill>
                <a:latin typeface="Calibri"/>
                <a:ea typeface="Calibri"/>
              </a:rPr>
              <a:t>✗ evita no RAG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7"/>
          <p:cNvSpPr/>
          <p:nvPr/>
        </p:nvSpPr>
        <p:spPr>
          <a:xfrm>
            <a:off x="554776" y="5961396"/>
            <a:ext cx="11076103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Regra</a:t>
            </a:r>
            <a:r>
              <a:rPr lang="en-US" sz="13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 de </a:t>
            </a:r>
            <a:r>
              <a:rPr lang="en-US" sz="13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bolso</a:t>
            </a:r>
            <a:r>
              <a:rPr lang="en-US" sz="13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: preserve o </a:t>
            </a:r>
            <a:r>
              <a:rPr lang="en-US" sz="13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significado</a:t>
            </a:r>
            <a:r>
              <a:rPr lang="en-US" sz="13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, </a:t>
            </a:r>
            <a:r>
              <a:rPr lang="en-US" sz="13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remova</a:t>
            </a:r>
            <a:r>
              <a:rPr lang="en-US" sz="13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 </a:t>
            </a:r>
            <a:r>
              <a:rPr lang="en-US" sz="13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só</a:t>
            </a:r>
            <a:r>
              <a:rPr lang="en-US" sz="13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 o </a:t>
            </a:r>
            <a:r>
              <a:rPr lang="en-US" sz="13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lixo</a:t>
            </a:r>
            <a:r>
              <a:rPr lang="en-US" sz="13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. Se a </a:t>
            </a:r>
            <a:r>
              <a:rPr lang="en-US" sz="13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técnica</a:t>
            </a:r>
            <a:r>
              <a:rPr lang="en-US" sz="13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 </a:t>
            </a:r>
            <a:r>
              <a:rPr lang="en-US" sz="13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muda</a:t>
            </a:r>
            <a:r>
              <a:rPr lang="en-US" sz="13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 o </a:t>
            </a:r>
            <a:r>
              <a:rPr lang="en-US" sz="13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sentido</a:t>
            </a:r>
            <a:r>
              <a:rPr lang="en-US" sz="13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, </a:t>
            </a:r>
            <a:r>
              <a:rPr lang="en-US" sz="13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não</a:t>
            </a:r>
            <a:r>
              <a:rPr lang="en-US" sz="13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 use no RAG.</a:t>
            </a:r>
            <a:endParaRPr lang="en-US" sz="1300" b="0" strike="noStrike" spc="-1">
              <a:solidFill>
                <a:srgbClr val="FF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6328923E-AEE6-CDAD-051B-DA4A97116EB2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952619E9-D43E-D3E5-FAAC-21793665C9E6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580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O PLN clássico no RAG: sim e não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A regra que resume tudo — para o aluno não errar.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2"/>
          <p:cNvSpPr/>
          <p:nvPr/>
        </p:nvSpPr>
        <p:spPr>
          <a:xfrm>
            <a:off x="548640" y="1920240"/>
            <a:ext cx="5440320" cy="3200040"/>
          </a:xfrm>
          <a:prstGeom prst="roundRect">
            <a:avLst>
              <a:gd name="adj" fmla="val 2286"/>
            </a:avLst>
          </a:prstGeom>
          <a:solidFill>
            <a:srgbClr val="E7F3EC"/>
          </a:solidFill>
          <a:ln w="19050">
            <a:solidFill>
              <a:srgbClr val="3E9E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3"/>
          <p:cNvSpPr/>
          <p:nvPr/>
        </p:nvSpPr>
        <p:spPr>
          <a:xfrm>
            <a:off x="822960" y="210312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3E9E6E"/>
                </a:solidFill>
                <a:latin typeface="Cambria"/>
                <a:ea typeface="Cambria"/>
              </a:rPr>
              <a:t>✓ PLN LEVE — sim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4"/>
          <p:cNvSpPr/>
          <p:nvPr/>
        </p:nvSpPr>
        <p:spPr>
          <a:xfrm>
            <a:off x="822960" y="25419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strike="noStrike" spc="-1">
                <a:solidFill>
                  <a:srgbClr val="5A6072"/>
                </a:solidFill>
                <a:latin typeface="Calibri"/>
                <a:ea typeface="Calibri"/>
              </a:rPr>
              <a:t>organiza o texto, sem mudar o significado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5"/>
          <p:cNvSpPr/>
          <p:nvPr/>
        </p:nvSpPr>
        <p:spPr>
          <a:xfrm>
            <a:off x="868680" y="3017520"/>
            <a:ext cx="493740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Extrair texto do documento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Limpar ruído (rodapés, OCR, espaços)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Segmentar em sentenças (para chunk)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5A6072"/>
              </a:buClr>
              <a:buFont typeface="Symbol" charset="2"/>
              <a:buChar char=""/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Detectar estrutura (títulos, seções)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6"/>
          <p:cNvSpPr/>
          <p:nvPr/>
        </p:nvSpPr>
        <p:spPr>
          <a:xfrm>
            <a:off x="6172200" y="1920240"/>
            <a:ext cx="5440320" cy="3200040"/>
          </a:xfrm>
          <a:prstGeom prst="roundRect">
            <a:avLst>
              <a:gd name="adj" fmla="val 2286"/>
            </a:avLst>
          </a:prstGeom>
          <a:solidFill>
            <a:srgbClr val="F7E9EC"/>
          </a:solidFill>
          <a:ln w="19050">
            <a:solidFill>
              <a:srgbClr val="C4506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6446520" y="210312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C4506B"/>
                </a:solidFill>
                <a:latin typeface="Cambria"/>
                <a:ea typeface="Cambria"/>
              </a:rPr>
              <a:t>✗ PLN PESADO — não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8"/>
          <p:cNvSpPr/>
          <p:nvPr/>
        </p:nvSpPr>
        <p:spPr>
          <a:xfrm>
            <a:off x="6446520" y="25419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strike="noStrike" spc="-1">
                <a:solidFill>
                  <a:srgbClr val="5A6072"/>
                </a:solidFill>
                <a:latin typeface="Calibri"/>
                <a:ea typeface="Calibri"/>
              </a:rPr>
              <a:t>altera as palavras — o modelo quer texto natural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9"/>
          <p:cNvSpPr/>
          <p:nvPr/>
        </p:nvSpPr>
        <p:spPr>
          <a:xfrm>
            <a:off x="6492240" y="3017520"/>
            <a:ext cx="493740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Remover stop words ("não" muda o sentido!)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Stemming / lematização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Lowercasing forçado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5A6072"/>
              </a:buClr>
              <a:buFont typeface="Symbol" charset="2"/>
              <a:buChar char=""/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Remover pontuação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0"/>
          <p:cNvSpPr/>
          <p:nvPr/>
        </p:nvSpPr>
        <p:spPr>
          <a:xfrm>
            <a:off x="548640" y="5349240"/>
            <a:ext cx="11063880" cy="6854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1"/>
          <p:cNvSpPr/>
          <p:nvPr/>
        </p:nvSpPr>
        <p:spPr>
          <a:xfrm>
            <a:off x="868680" y="534924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2B84A"/>
                </a:solidFill>
                <a:latin typeface="Calibri"/>
              </a:rPr>
              <a:t>A regra:  </a:t>
            </a:r>
            <a:r>
              <a:rPr lang="en-US" sz="1450" b="0" strike="noStrike" spc="-1">
                <a:solidFill>
                  <a:srgbClr val="CADCFC"/>
                </a:solidFill>
                <a:latin typeface="Calibri"/>
              </a:rPr>
              <a:t>use o PLN para ORGANIZAR o texto, nunca para SIMPLIFICÁ-LO. O modelo de embedding quer ler como um humano leria.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768D4421-922D-86F5-4FF1-1E11C30D7216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A76A8CA2-6E55-9556-C4CA-AC638F700B46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 err="1">
                <a:solidFill>
                  <a:srgbClr val="1E2761"/>
                </a:solidFill>
                <a:latin typeface="Cambria"/>
                <a:ea typeface="Cambria"/>
              </a:rPr>
              <a:t>Extração</a:t>
            </a: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 e </a:t>
            </a:r>
            <a:r>
              <a:rPr lang="en-US" sz="2900" b="1" strike="noStrike" spc="-1" err="1">
                <a:solidFill>
                  <a:srgbClr val="1E2761"/>
                </a:solidFill>
                <a:latin typeface="Cambria"/>
                <a:ea typeface="Cambria"/>
              </a:rPr>
              <a:t>limpeza</a:t>
            </a: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 — a </a:t>
            </a:r>
            <a:r>
              <a:rPr lang="en-US" sz="2900" b="1" strike="noStrike" spc="-1" err="1">
                <a:solidFill>
                  <a:srgbClr val="1E2761"/>
                </a:solidFill>
                <a:latin typeface="Cambria"/>
                <a:ea typeface="Cambria"/>
              </a:rPr>
              <a:t>parte</a:t>
            </a: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 de PLN </a:t>
            </a:r>
            <a:r>
              <a:rPr lang="en-US" sz="2900" b="1" strike="noStrike" spc="-1" err="1">
                <a:solidFill>
                  <a:srgbClr val="1E2761"/>
                </a:solidFill>
                <a:latin typeface="Cambria"/>
                <a:ea typeface="Cambria"/>
              </a:rPr>
              <a:t>aplicado</a:t>
            </a: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 </a:t>
            </a:r>
            <a:r>
              <a:rPr lang="en-US" sz="2900" b="1" strike="noStrike" spc="-1" err="1">
                <a:solidFill>
                  <a:srgbClr val="1E2761"/>
                </a:solidFill>
                <a:latin typeface="Cambria"/>
                <a:ea typeface="Cambria"/>
              </a:rPr>
              <a:t>ao</a:t>
            </a: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 RAG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Aqui o PLN entra: extrair o texto e remover só o ruído.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2"/>
          <p:cNvSpPr/>
          <p:nvPr/>
        </p:nvSpPr>
        <p:spPr>
          <a:xfrm>
            <a:off x="548640" y="1920240"/>
            <a:ext cx="6674760" cy="3108600"/>
          </a:xfrm>
          <a:prstGeom prst="roundRect">
            <a:avLst>
              <a:gd name="adj" fmla="val 1765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3"/>
          <p:cNvSpPr/>
          <p:nvPr/>
        </p:nvSpPr>
        <p:spPr>
          <a:xfrm>
            <a:off x="749880" y="2057400"/>
            <a:ext cx="6272280" cy="283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150" b="0" strike="noStrike" spc="-1">
                <a:solidFill>
                  <a:srgbClr val="6E79A0"/>
                </a:solidFill>
                <a:latin typeface="Consolas"/>
                <a:ea typeface="Consolas"/>
              </a:rPr>
              <a:t># 1. extrair texto do PDF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79BF0"/>
                </a:solidFill>
                <a:latin typeface="Consolas"/>
                <a:ea typeface="Consolas"/>
              </a:rPr>
              <a:t>from 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pypdf </a:t>
            </a:r>
            <a:r>
              <a:rPr lang="en-US" sz="1150" b="0" strike="noStrike" spc="-1">
                <a:solidFill>
                  <a:srgbClr val="C79BF0"/>
                </a:solidFill>
                <a:latin typeface="Consolas"/>
                <a:ea typeface="Consolas"/>
              </a:rPr>
              <a:t>import 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PdfReader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texto = </a:t>
            </a:r>
            <a:r>
              <a:rPr lang="en-US" sz="1150" b="0" strike="noStrike" spc="-1">
                <a:solidFill>
                  <a:srgbClr val="7FD1A8"/>
                </a:solidFill>
                <a:latin typeface="Consolas"/>
                <a:ea typeface="Consolas"/>
              </a:rPr>
              <a:t>""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79BF0"/>
                </a:solidFill>
                <a:latin typeface="Consolas"/>
                <a:ea typeface="Consolas"/>
              </a:rPr>
              <a:t>for 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pag </a:t>
            </a:r>
            <a:r>
              <a:rPr lang="en-US" sz="1150" b="0" strike="noStrike" spc="-1">
                <a:solidFill>
                  <a:srgbClr val="C79BF0"/>
                </a:solidFill>
                <a:latin typeface="Consolas"/>
                <a:ea typeface="Consolas"/>
              </a:rPr>
              <a:t>in 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PdfReader(</a:t>
            </a:r>
            <a:r>
              <a:rPr lang="en-US" sz="1150" b="0" strike="noStrike" spc="-1">
                <a:solidFill>
                  <a:srgbClr val="7FD1A8"/>
                </a:solidFill>
                <a:latin typeface="Consolas"/>
                <a:ea typeface="Consolas"/>
              </a:rPr>
              <a:t>"manual.pdf"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).pages: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    texto += pag.extract_text()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6E79A0"/>
                </a:solidFill>
                <a:latin typeface="Consolas"/>
                <a:ea typeface="Consolas"/>
              </a:rPr>
              <a:t># 2. limpeza LEVE (não mutilar!)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texto = re.sub(r'-\n', '', texto)   </a:t>
            </a:r>
            <a:r>
              <a:rPr lang="en-US" sz="1150" b="0" strike="noStrike" spc="-1">
                <a:solidFill>
                  <a:srgbClr val="6E79A0"/>
                </a:solidFill>
                <a:latin typeface="Consolas"/>
                <a:ea typeface="Consolas"/>
              </a:rPr>
              <a:t># une hifenizadas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texto = re.sub(r'\s+', ' ', texto)  </a:t>
            </a:r>
            <a:r>
              <a:rPr lang="en-US" sz="1150" b="0" strike="noStrike" spc="-1">
                <a:solidFill>
                  <a:srgbClr val="6E79A0"/>
                </a:solidFill>
                <a:latin typeface="Consolas"/>
                <a:ea typeface="Consolas"/>
              </a:rPr>
              <a:t># normaliza espaços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4"/>
          <p:cNvSpPr/>
          <p:nvPr/>
        </p:nvSpPr>
        <p:spPr>
          <a:xfrm>
            <a:off x="7452360" y="1920240"/>
            <a:ext cx="4160160" cy="3108600"/>
          </a:xfrm>
          <a:prstGeom prst="roundRect">
            <a:avLst>
              <a:gd name="adj" fmla="val 2353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5"/>
          <p:cNvSpPr/>
          <p:nvPr/>
        </p:nvSpPr>
        <p:spPr>
          <a:xfrm>
            <a:off x="7726680" y="21031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3E9E6E"/>
                </a:solidFill>
                <a:latin typeface="Cambria"/>
                <a:ea typeface="Cambria"/>
              </a:rPr>
              <a:t>Limpeza SIM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7726680" y="248724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52280" indent="-152280" defTabSz="914400">
              <a:lnSpc>
                <a:spcPct val="100000"/>
              </a:lnSpc>
              <a:spcAft>
                <a:spcPts val="4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5A6072"/>
                </a:solidFill>
                <a:latin typeface="Calibri"/>
                <a:ea typeface="Calibri"/>
              </a:rPr>
              <a:t>espaços e quebras estranhas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5A6072"/>
                </a:solidFill>
                <a:latin typeface="Calibri"/>
                <a:ea typeface="Calibri"/>
              </a:rPr>
              <a:t>cabeçalho/rodapé repetido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5A6072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5A6072"/>
                </a:solidFill>
                <a:latin typeface="Calibri"/>
                <a:ea typeface="Calibri"/>
              </a:rPr>
              <a:t>artefatos de OCR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7726680" y="37490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C4506B"/>
                </a:solidFill>
                <a:latin typeface="Cambria"/>
                <a:ea typeface="Cambria"/>
              </a:rPr>
              <a:t>Limpeza NÃO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7726680" y="413316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52280" indent="-152280" defTabSz="914400">
              <a:lnSpc>
                <a:spcPct val="100000"/>
              </a:lnSpc>
              <a:spcAft>
                <a:spcPts val="4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5A6072"/>
                </a:solidFill>
                <a:latin typeface="Calibri"/>
                <a:ea typeface="Calibri"/>
              </a:rPr>
              <a:t>stop words, stemming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5A6072"/>
                </a:solidFill>
                <a:latin typeface="Calibri"/>
                <a:ea typeface="Calibri"/>
              </a:rPr>
              <a:t>minúsculas forçadas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5A6072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5A6072"/>
                </a:solidFill>
                <a:latin typeface="Calibri"/>
                <a:ea typeface="Calibri"/>
              </a:rPr>
              <a:t>remover pontuação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25347A56-B073-8506-5297-0DB49EC9C23F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5F7CB975-5CAE-2F88-1A3E-EFA3DF0E77D0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2"/>
          <p:cNvSpPr/>
          <p:nvPr/>
        </p:nvSpPr>
        <p:spPr>
          <a:xfrm>
            <a:off x="594360" y="283464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strike="noStrike" spc="-1">
                <a:solidFill>
                  <a:srgbClr val="FFFFFF"/>
                </a:solidFill>
                <a:latin typeface="Cambria"/>
                <a:ea typeface="Cambria"/>
              </a:rPr>
              <a:t>Chunking</a:t>
            </a:r>
            <a:endParaRPr lang="en-US" sz="3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47A8D5E0-B0B9-CD16-166D-4585EC8543E7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9291ADD0-3B21-F5A5-F637-ACADA844AA69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5349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457200" y="32004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strike="noStrike" spc="-1">
                <a:solidFill>
                  <a:srgbClr val="1E2761"/>
                </a:solidFill>
                <a:latin typeface="Cambria"/>
                <a:ea typeface="Cambria"/>
              </a:rPr>
              <a:t>Documento → Chunks → Tokens → Embedding</a:t>
            </a:r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1"/>
          <p:cNvSpPr/>
          <p:nvPr/>
        </p:nvSpPr>
        <p:spPr>
          <a:xfrm>
            <a:off x="475560" y="100584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A6072"/>
                </a:solidFill>
                <a:latin typeface="Calibri"/>
                <a:ea typeface="Calibri"/>
              </a:rPr>
              <a:t>Duas "quebras" em escalas diferentes — uma que VOCÊ faz, outra que o MODELO faz.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Shape 2"/>
          <p:cNvSpPr/>
          <p:nvPr/>
        </p:nvSpPr>
        <p:spPr>
          <a:xfrm>
            <a:off x="548640" y="1600200"/>
            <a:ext cx="2194200" cy="3977280"/>
          </a:xfrm>
          <a:prstGeom prst="roundRect">
            <a:avLst>
              <a:gd name="adj" fmla="val 3333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 3"/>
          <p:cNvSpPr/>
          <p:nvPr/>
        </p:nvSpPr>
        <p:spPr>
          <a:xfrm>
            <a:off x="548640" y="175572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97">
                <a:solidFill>
                  <a:srgbClr val="1E2761"/>
                </a:solidFill>
                <a:latin typeface="Calibri"/>
                <a:ea typeface="Calibri"/>
              </a:rPr>
              <a:t>DOCUMENTO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4"/>
          <p:cNvSpPr/>
          <p:nvPr/>
        </p:nvSpPr>
        <p:spPr>
          <a:xfrm>
            <a:off x="914400" y="2331720"/>
            <a:ext cx="1462680" cy="100080"/>
          </a:xfrm>
          <a:prstGeom prst="rect">
            <a:avLst/>
          </a:prstGeom>
          <a:solidFill>
            <a:srgbClr val="C3CE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5"/>
          <p:cNvSpPr/>
          <p:nvPr/>
        </p:nvSpPr>
        <p:spPr>
          <a:xfrm>
            <a:off x="914400" y="2624400"/>
            <a:ext cx="1234080" cy="100080"/>
          </a:xfrm>
          <a:prstGeom prst="rect">
            <a:avLst/>
          </a:prstGeom>
          <a:solidFill>
            <a:srgbClr val="C3CE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914400" y="2917080"/>
            <a:ext cx="1005480" cy="100080"/>
          </a:xfrm>
          <a:prstGeom prst="rect">
            <a:avLst/>
          </a:prstGeom>
          <a:solidFill>
            <a:srgbClr val="C3CE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914400" y="3209400"/>
            <a:ext cx="1462680" cy="100080"/>
          </a:xfrm>
          <a:prstGeom prst="rect">
            <a:avLst/>
          </a:prstGeom>
          <a:solidFill>
            <a:srgbClr val="C3CE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914400" y="3502080"/>
            <a:ext cx="1234080" cy="100080"/>
          </a:xfrm>
          <a:prstGeom prst="rect">
            <a:avLst/>
          </a:prstGeom>
          <a:solidFill>
            <a:srgbClr val="C3CE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914400" y="3794760"/>
            <a:ext cx="1005480" cy="100080"/>
          </a:xfrm>
          <a:prstGeom prst="rect">
            <a:avLst/>
          </a:prstGeom>
          <a:solidFill>
            <a:srgbClr val="C3CE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914400" y="4087440"/>
            <a:ext cx="1462680" cy="100080"/>
          </a:xfrm>
          <a:prstGeom prst="rect">
            <a:avLst/>
          </a:prstGeom>
          <a:solidFill>
            <a:srgbClr val="C3CE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914400" y="4380120"/>
            <a:ext cx="1234080" cy="100080"/>
          </a:xfrm>
          <a:prstGeom prst="rect">
            <a:avLst/>
          </a:prstGeom>
          <a:solidFill>
            <a:srgbClr val="C3CE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85800" y="4800600"/>
            <a:ext cx="1919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o PDF inteiro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(muitas páginas)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2788920" y="2743200"/>
            <a:ext cx="6397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4F7BE8"/>
                </a:solidFill>
                <a:latin typeface="Calibri"/>
                <a:ea typeface="Calibri"/>
              </a:rPr>
              <a:t>→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2651760" y="324612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4F7BE8"/>
                </a:solidFill>
                <a:latin typeface="Calibri"/>
                <a:ea typeface="Calibri"/>
              </a:rPr>
              <a:t>VOCÊ divide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3520440" y="1600200"/>
            <a:ext cx="2514240" cy="3977280"/>
          </a:xfrm>
          <a:prstGeom prst="roundRect">
            <a:avLst>
              <a:gd name="adj" fmla="val 2909"/>
            </a:avLst>
          </a:prstGeom>
          <a:solidFill>
            <a:srgbClr val="EAF0FB"/>
          </a:solidFill>
          <a:ln w="19050">
            <a:solidFill>
              <a:srgbClr val="4F7B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3520440" y="1755720"/>
            <a:ext cx="2514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97">
                <a:solidFill>
                  <a:srgbClr val="4F7BE8"/>
                </a:solidFill>
                <a:latin typeface="Calibri"/>
                <a:ea typeface="Calibri"/>
              </a:rPr>
              <a:t>CHUNKS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3703320" y="2194560"/>
            <a:ext cx="2148480" cy="8683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4F7B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3813120" y="2194560"/>
            <a:ext cx="19198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5A6072"/>
                </a:solidFill>
                <a:latin typeface="Calibri"/>
                <a:ea typeface="Calibri"/>
              </a:rPr>
              <a:t>"O que é ML?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5A6072"/>
                </a:solidFill>
                <a:latin typeface="Calibri"/>
                <a:ea typeface="Calibri"/>
              </a:rPr>
              <a:t>Machine Learning é..."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3703320" y="3218760"/>
            <a:ext cx="2148480" cy="8683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4F7B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3813120" y="3218760"/>
            <a:ext cx="19198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5A6072"/>
                </a:solidFill>
                <a:latin typeface="Calibri"/>
                <a:ea typeface="Calibri"/>
              </a:rPr>
              <a:t>"Os algoritmos aprendem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5A6072"/>
                </a:solidFill>
                <a:latin typeface="Calibri"/>
                <a:ea typeface="Calibri"/>
              </a:rPr>
              <a:t>padrões dos dados..."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3703320" y="4242960"/>
            <a:ext cx="2148480" cy="8683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4F7B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3813120" y="4242960"/>
            <a:ext cx="19198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5A6072"/>
                </a:solidFill>
                <a:latin typeface="Calibri"/>
                <a:ea typeface="Calibri"/>
              </a:rPr>
              <a:t>"Aprendizado supervisionado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5A6072"/>
                </a:solidFill>
                <a:latin typeface="Calibri"/>
                <a:ea typeface="Calibri"/>
              </a:rPr>
              <a:t>usa exemplos rotulados..."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6080760" y="2743200"/>
            <a:ext cx="6397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2E8B7A"/>
                </a:solidFill>
                <a:latin typeface="Calibri"/>
                <a:ea typeface="Calibri"/>
              </a:rPr>
              <a:t>→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5943600" y="3246120"/>
            <a:ext cx="9140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2E8B7A"/>
                </a:solidFill>
                <a:latin typeface="Calibri"/>
                <a:ea typeface="Calibri"/>
              </a:rPr>
              <a:t>o MODELO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2E8B7A"/>
                </a:solidFill>
                <a:latin typeface="Calibri"/>
                <a:ea typeface="Calibri"/>
              </a:rPr>
              <a:t>tokeniza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6858000" y="1600200"/>
            <a:ext cx="2331360" cy="3977280"/>
          </a:xfrm>
          <a:prstGeom prst="roundRect">
            <a:avLst>
              <a:gd name="adj" fmla="val 3137"/>
            </a:avLst>
          </a:prstGeom>
          <a:solidFill>
            <a:srgbClr val="EAF4F1"/>
          </a:solidFill>
          <a:ln w="19050">
            <a:solidFill>
              <a:srgbClr val="2E8B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6858000" y="17557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97">
                <a:solidFill>
                  <a:srgbClr val="2E8B7A"/>
                </a:solidFill>
                <a:latin typeface="Calibri"/>
                <a:ea typeface="Calibri"/>
              </a:rPr>
              <a:t>TOKENS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6858000" y="2048400"/>
            <a:ext cx="2331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strike="noStrike" spc="-1">
                <a:solidFill>
                  <a:srgbClr val="6E79A0"/>
                </a:solidFill>
                <a:latin typeface="Calibri"/>
                <a:ea typeface="Calibri"/>
              </a:rPr>
              <a:t>(dentro de 1 chunk)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7059240" y="2423160"/>
            <a:ext cx="959760" cy="347040"/>
          </a:xfrm>
          <a:prstGeom prst="roundRect">
            <a:avLst>
              <a:gd name="adj" fmla="val 13158"/>
            </a:avLst>
          </a:prstGeom>
          <a:solidFill>
            <a:srgbClr val="3A6F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7059240" y="2423160"/>
            <a:ext cx="9597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onsolas"/>
                <a:ea typeface="Consolas"/>
              </a:rPr>
              <a:t>Machine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30"/>
          <p:cNvSpPr/>
          <p:nvPr/>
        </p:nvSpPr>
        <p:spPr>
          <a:xfrm>
            <a:off x="8092440" y="2423160"/>
            <a:ext cx="758520" cy="347040"/>
          </a:xfrm>
          <a:prstGeom prst="roundRect">
            <a:avLst>
              <a:gd name="adj" fmla="val 13158"/>
            </a:avLst>
          </a:prstGeom>
          <a:solidFill>
            <a:srgbClr val="2E8B7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8092440" y="2423160"/>
            <a:ext cx="758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onsolas"/>
                <a:ea typeface="Consolas"/>
              </a:rPr>
              <a:t>Learn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32"/>
          <p:cNvSpPr/>
          <p:nvPr/>
        </p:nvSpPr>
        <p:spPr>
          <a:xfrm>
            <a:off x="7059240" y="2880360"/>
            <a:ext cx="557280" cy="347040"/>
          </a:xfrm>
          <a:prstGeom prst="roundRect">
            <a:avLst>
              <a:gd name="adj" fmla="val 13158"/>
            </a:avLst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33"/>
          <p:cNvSpPr/>
          <p:nvPr/>
        </p:nvSpPr>
        <p:spPr>
          <a:xfrm>
            <a:off x="7059240" y="2880360"/>
            <a:ext cx="5572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onsolas"/>
                <a:ea typeface="Consolas"/>
              </a:rPr>
              <a:t>ing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34"/>
          <p:cNvSpPr/>
          <p:nvPr/>
        </p:nvSpPr>
        <p:spPr>
          <a:xfrm>
            <a:off x="7689960" y="2880360"/>
            <a:ext cx="356400" cy="347040"/>
          </a:xfrm>
          <a:prstGeom prst="roundRect">
            <a:avLst>
              <a:gd name="adj" fmla="val 13158"/>
            </a:avLst>
          </a:prstGeom>
          <a:solidFill>
            <a:srgbClr val="9B5BB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35"/>
          <p:cNvSpPr/>
          <p:nvPr/>
        </p:nvSpPr>
        <p:spPr>
          <a:xfrm>
            <a:off x="7689960" y="2880360"/>
            <a:ext cx="356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onsolas"/>
                <a:ea typeface="Consolas"/>
              </a:rPr>
              <a:t>é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36"/>
          <p:cNvSpPr/>
          <p:nvPr/>
        </p:nvSpPr>
        <p:spPr>
          <a:xfrm>
            <a:off x="8119800" y="2880360"/>
            <a:ext cx="456840" cy="347040"/>
          </a:xfrm>
          <a:prstGeom prst="roundRect">
            <a:avLst>
              <a:gd name="adj" fmla="val 13158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7"/>
          <p:cNvSpPr/>
          <p:nvPr/>
        </p:nvSpPr>
        <p:spPr>
          <a:xfrm>
            <a:off x="8119800" y="2880360"/>
            <a:ext cx="456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onsolas"/>
                <a:ea typeface="Consolas"/>
              </a:rPr>
              <a:t>um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38"/>
          <p:cNvSpPr/>
          <p:nvPr/>
        </p:nvSpPr>
        <p:spPr>
          <a:xfrm>
            <a:off x="7059240" y="3337560"/>
            <a:ext cx="557280" cy="347040"/>
          </a:xfrm>
          <a:prstGeom prst="roundRect">
            <a:avLst>
              <a:gd name="adj" fmla="val 13158"/>
            </a:avLst>
          </a:prstGeom>
          <a:solidFill>
            <a:srgbClr val="3A6FD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9"/>
          <p:cNvSpPr/>
          <p:nvPr/>
        </p:nvSpPr>
        <p:spPr>
          <a:xfrm>
            <a:off x="7059240" y="3337560"/>
            <a:ext cx="5572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onsolas"/>
                <a:ea typeface="Consolas"/>
              </a:rPr>
              <a:t>sub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40"/>
          <p:cNvSpPr/>
          <p:nvPr/>
        </p:nvSpPr>
        <p:spPr>
          <a:xfrm>
            <a:off x="7689960" y="3337560"/>
            <a:ext cx="758520" cy="347040"/>
          </a:xfrm>
          <a:prstGeom prst="roundRect">
            <a:avLst>
              <a:gd name="adj" fmla="val 13158"/>
            </a:avLst>
          </a:prstGeom>
          <a:solidFill>
            <a:srgbClr val="2E8B7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41"/>
          <p:cNvSpPr/>
          <p:nvPr/>
        </p:nvSpPr>
        <p:spPr>
          <a:xfrm>
            <a:off x="7689960" y="3337560"/>
            <a:ext cx="758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onsolas"/>
                <a:ea typeface="Consolas"/>
              </a:rPr>
              <a:t>campo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42"/>
          <p:cNvSpPr/>
          <p:nvPr/>
        </p:nvSpPr>
        <p:spPr>
          <a:xfrm>
            <a:off x="8522280" y="3337560"/>
            <a:ext cx="456840" cy="347040"/>
          </a:xfrm>
          <a:prstGeom prst="roundRect">
            <a:avLst>
              <a:gd name="adj" fmla="val 13158"/>
            </a:avLst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3"/>
          <p:cNvSpPr/>
          <p:nvPr/>
        </p:nvSpPr>
        <p:spPr>
          <a:xfrm>
            <a:off x="8522280" y="3337560"/>
            <a:ext cx="456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onsolas"/>
                <a:ea typeface="Consolas"/>
              </a:rPr>
              <a:t>da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44"/>
          <p:cNvSpPr/>
          <p:nvPr/>
        </p:nvSpPr>
        <p:spPr>
          <a:xfrm>
            <a:off x="7059240" y="3794760"/>
            <a:ext cx="456840" cy="347040"/>
          </a:xfrm>
          <a:prstGeom prst="roundRect">
            <a:avLst>
              <a:gd name="adj" fmla="val 13158"/>
            </a:avLst>
          </a:prstGeom>
          <a:solidFill>
            <a:srgbClr val="9B5BB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5"/>
          <p:cNvSpPr/>
          <p:nvPr/>
        </p:nvSpPr>
        <p:spPr>
          <a:xfrm>
            <a:off x="7059240" y="3794760"/>
            <a:ext cx="4568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onsolas"/>
                <a:ea typeface="Consolas"/>
              </a:rPr>
              <a:t>IA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46"/>
          <p:cNvSpPr/>
          <p:nvPr/>
        </p:nvSpPr>
        <p:spPr>
          <a:xfrm>
            <a:off x="6995160" y="4846320"/>
            <a:ext cx="20570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subpalavras — a unidade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que o modelo lê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47"/>
          <p:cNvSpPr/>
          <p:nvPr/>
        </p:nvSpPr>
        <p:spPr>
          <a:xfrm>
            <a:off x="9235440" y="27432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9B5BB0"/>
                </a:solidFill>
                <a:latin typeface="Calibri"/>
                <a:ea typeface="Calibri"/>
              </a:rPr>
              <a:t>→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48"/>
          <p:cNvSpPr/>
          <p:nvPr/>
        </p:nvSpPr>
        <p:spPr>
          <a:xfrm>
            <a:off x="9829800" y="1600200"/>
            <a:ext cx="1782720" cy="39772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49"/>
          <p:cNvSpPr/>
          <p:nvPr/>
        </p:nvSpPr>
        <p:spPr>
          <a:xfrm>
            <a:off x="9829800" y="1755720"/>
            <a:ext cx="1782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97">
                <a:solidFill>
                  <a:srgbClr val="F2B84A"/>
                </a:solidFill>
                <a:latin typeface="Calibri"/>
                <a:ea typeface="Calibri"/>
              </a:rPr>
              <a:t>EMBEDDING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50"/>
          <p:cNvSpPr/>
          <p:nvPr/>
        </p:nvSpPr>
        <p:spPr>
          <a:xfrm>
            <a:off x="9829800" y="204840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9FBCE8"/>
                </a:solidFill>
                <a:latin typeface="Calibri"/>
                <a:ea typeface="Calibri"/>
              </a:rPr>
              <a:t>(1 vetor por chunk)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51"/>
          <p:cNvSpPr/>
          <p:nvPr/>
        </p:nvSpPr>
        <p:spPr>
          <a:xfrm>
            <a:off x="10012680" y="2514600"/>
            <a:ext cx="1416960" cy="2194200"/>
          </a:xfrm>
          <a:prstGeom prst="roundRect">
            <a:avLst>
              <a:gd name="adj" fmla="val 3226"/>
            </a:avLst>
          </a:prstGeom>
          <a:solidFill>
            <a:srgbClr val="1218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52"/>
          <p:cNvSpPr/>
          <p:nvPr/>
        </p:nvSpPr>
        <p:spPr>
          <a:xfrm>
            <a:off x="10012680" y="2514600"/>
            <a:ext cx="141696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7FD1A8"/>
                </a:solidFill>
                <a:latin typeface="Consolas"/>
                <a:ea typeface="Consolas"/>
              </a:rPr>
              <a:t>[ 0.24,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7FD1A8"/>
                </a:solidFill>
                <a:latin typeface="Consolas"/>
                <a:ea typeface="Consolas"/>
              </a:rPr>
              <a:t> -0.51,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7FD1A8"/>
                </a:solidFill>
                <a:latin typeface="Consolas"/>
                <a:ea typeface="Consolas"/>
              </a:rPr>
              <a:t>  0.88,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7FD1A8"/>
                </a:solidFill>
                <a:latin typeface="Consolas"/>
                <a:ea typeface="Consolas"/>
              </a:rPr>
              <a:t>  0.13,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7FD1A8"/>
                </a:solidFill>
                <a:latin typeface="Consolas"/>
                <a:ea typeface="Consolas"/>
              </a:rPr>
              <a:t>  ...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7FD1A8"/>
                </a:solidFill>
                <a:latin typeface="Consolas"/>
                <a:ea typeface="Consolas"/>
              </a:rPr>
              <a:t>  0.07 ]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53"/>
          <p:cNvSpPr/>
          <p:nvPr/>
        </p:nvSpPr>
        <p:spPr>
          <a:xfrm>
            <a:off x="9921240" y="4846320"/>
            <a:ext cx="1599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o significado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do chunk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54"/>
          <p:cNvSpPr/>
          <p:nvPr/>
        </p:nvSpPr>
        <p:spPr>
          <a:xfrm>
            <a:off x="548640" y="5687076"/>
            <a:ext cx="11063880" cy="639720"/>
          </a:xfrm>
          <a:prstGeom prst="roundRect">
            <a:avLst>
              <a:gd name="adj" fmla="val 10000"/>
            </a:avLst>
          </a:prstGeom>
          <a:solidFill>
            <a:srgbClr val="FDF4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55"/>
          <p:cNvSpPr/>
          <p:nvPr/>
        </p:nvSpPr>
        <p:spPr>
          <a:xfrm>
            <a:off x="822960" y="5687076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9A6B00"/>
                </a:solidFill>
                <a:latin typeface="Calibri"/>
              </a:rPr>
              <a:t>Chunk (</a:t>
            </a:r>
            <a:r>
              <a:rPr lang="en-US" sz="1300" b="1" strike="noStrike" spc="-1" err="1">
                <a:solidFill>
                  <a:srgbClr val="9A6B00"/>
                </a:solidFill>
                <a:latin typeface="Calibri"/>
              </a:rPr>
              <a:t>você</a:t>
            </a:r>
            <a:r>
              <a:rPr lang="en-US" sz="1300" b="1" strike="noStrike" spc="-1">
                <a:solidFill>
                  <a:srgbClr val="9A6B00"/>
                </a:solidFill>
                <a:latin typeface="Calibri"/>
              </a:rPr>
              <a:t>):  </a:t>
            </a:r>
            <a:r>
              <a:rPr lang="en-US" sz="1250" b="0" strike="noStrike" spc="-1" err="1">
                <a:solidFill>
                  <a:srgbClr val="5A6072"/>
                </a:solidFill>
                <a:latin typeface="Calibri"/>
              </a:rPr>
              <a:t>pedaço</a:t>
            </a:r>
            <a:r>
              <a:rPr lang="en-US" sz="1250" b="0" strike="noStrike" spc="-1">
                <a:solidFill>
                  <a:srgbClr val="5A6072"/>
                </a:solidFill>
                <a:latin typeface="Calibri"/>
              </a:rPr>
              <a:t> </a:t>
            </a:r>
            <a:r>
              <a:rPr lang="en-US" sz="1250" b="0" strike="noStrike" spc="-1" err="1">
                <a:solidFill>
                  <a:srgbClr val="5A6072"/>
                </a:solidFill>
                <a:latin typeface="Calibri"/>
              </a:rPr>
              <a:t>grande</a:t>
            </a:r>
            <a:r>
              <a:rPr lang="en-US" sz="1250" b="0" strike="noStrike" spc="-1">
                <a:solidFill>
                  <a:srgbClr val="5A6072"/>
                </a:solidFill>
                <a:latin typeface="Calibri"/>
              </a:rPr>
              <a:t>, para </a:t>
            </a:r>
            <a:r>
              <a:rPr lang="en-US" sz="1250" b="0" strike="noStrike" spc="-1" err="1">
                <a:solidFill>
                  <a:srgbClr val="5A6072"/>
                </a:solidFill>
                <a:latin typeface="Calibri"/>
              </a:rPr>
              <a:t>buscar</a:t>
            </a:r>
            <a:r>
              <a:rPr lang="en-US" sz="1250" b="0" strike="noStrike" spc="-1">
                <a:solidFill>
                  <a:srgbClr val="5A6072"/>
                </a:solidFill>
                <a:latin typeface="Calibri"/>
              </a:rPr>
              <a:t> e </a:t>
            </a:r>
            <a:r>
              <a:rPr lang="en-US" sz="1250" b="0" strike="noStrike" spc="-1" err="1">
                <a:solidFill>
                  <a:srgbClr val="5A6072"/>
                </a:solidFill>
                <a:latin typeface="Calibri"/>
              </a:rPr>
              <a:t>citar</a:t>
            </a:r>
            <a:r>
              <a:rPr lang="en-US" sz="1250" b="0" strike="noStrike" spc="-1">
                <a:solidFill>
                  <a:srgbClr val="5A6072"/>
                </a:solidFill>
                <a:latin typeface="Calibri"/>
              </a:rPr>
              <a:t>.   Um chunk, </a:t>
            </a:r>
            <a:r>
              <a:rPr lang="en-US" sz="1250" b="0" strike="noStrike" spc="-1" err="1">
                <a:solidFill>
                  <a:srgbClr val="5A6072"/>
                </a:solidFill>
                <a:latin typeface="Calibri"/>
              </a:rPr>
              <a:t>muitos</a:t>
            </a:r>
            <a:r>
              <a:rPr lang="en-US" sz="1250" b="0" strike="noStrike" spc="-1">
                <a:solidFill>
                  <a:srgbClr val="5A6072"/>
                </a:solidFill>
                <a:latin typeface="Calibri"/>
              </a:rPr>
              <a:t> tokens </a:t>
            </a:r>
            <a:r>
              <a:rPr lang="en-US" sz="1250" b="0" strike="noStrike" spc="-1" err="1">
                <a:solidFill>
                  <a:srgbClr val="5A6072"/>
                </a:solidFill>
                <a:latin typeface="Calibri"/>
              </a:rPr>
              <a:t>combinados</a:t>
            </a:r>
            <a:r>
              <a:rPr lang="en-US" sz="1250" b="0" strike="noStrike" spc="-1">
                <a:solidFill>
                  <a:srgbClr val="5A6072"/>
                </a:solidFill>
                <a:latin typeface="Calibri"/>
              </a:rPr>
              <a:t> </a:t>
            </a:r>
            <a:r>
              <a:rPr lang="en-US" sz="1250" b="0" strike="noStrike" spc="-1" err="1">
                <a:solidFill>
                  <a:srgbClr val="5A6072"/>
                </a:solidFill>
                <a:latin typeface="Calibri"/>
              </a:rPr>
              <a:t>em</a:t>
            </a:r>
            <a:r>
              <a:rPr lang="en-US" sz="1250" b="0" strike="noStrike" spc="-1">
                <a:solidFill>
                  <a:srgbClr val="5A6072"/>
                </a:solidFill>
                <a:latin typeface="Calibri"/>
              </a:rPr>
              <a:t> um </a:t>
            </a:r>
            <a:r>
              <a:rPr lang="en-US" sz="1250" b="0" strike="noStrike" spc="-1" err="1">
                <a:solidFill>
                  <a:srgbClr val="5A6072"/>
                </a:solidFill>
                <a:latin typeface="Calibri"/>
              </a:rPr>
              <a:t>vetor</a:t>
            </a:r>
            <a:r>
              <a:rPr lang="en-US" sz="1250" b="0" strike="noStrike" spc="-1">
                <a:solidFill>
                  <a:srgbClr val="5A6072"/>
                </a:solidFill>
                <a:latin typeface="Calibri"/>
              </a:rPr>
              <a:t>.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9A6B00"/>
                </a:solidFill>
                <a:latin typeface="Calibri"/>
              </a:rPr>
              <a:t>Token (</a:t>
            </a:r>
            <a:r>
              <a:rPr lang="en-US" sz="1300" b="1" strike="noStrike" spc="-1" err="1">
                <a:solidFill>
                  <a:srgbClr val="9A6B00"/>
                </a:solidFill>
                <a:latin typeface="Calibri"/>
              </a:rPr>
              <a:t>modelo</a:t>
            </a:r>
            <a:r>
              <a:rPr lang="en-US" sz="1300" b="1" strike="noStrike" spc="-1">
                <a:solidFill>
                  <a:srgbClr val="9A6B00"/>
                </a:solidFill>
                <a:latin typeface="Calibri"/>
              </a:rPr>
              <a:t>):  </a:t>
            </a:r>
            <a:r>
              <a:rPr lang="en-US" sz="1250" b="0" strike="noStrike" spc="-1" err="1">
                <a:solidFill>
                  <a:srgbClr val="5A6072"/>
                </a:solidFill>
                <a:latin typeface="Calibri"/>
              </a:rPr>
              <a:t>subpalavra</a:t>
            </a:r>
            <a:r>
              <a:rPr lang="en-US" sz="1250" b="0" strike="noStrike" spc="-1">
                <a:solidFill>
                  <a:srgbClr val="5A6072"/>
                </a:solidFill>
                <a:latin typeface="Calibri"/>
              </a:rPr>
              <a:t>, para o </a:t>
            </a:r>
            <a:r>
              <a:rPr lang="en-US" sz="1250" b="0" strike="noStrike" spc="-1" err="1">
                <a:solidFill>
                  <a:srgbClr val="5A6072"/>
                </a:solidFill>
                <a:latin typeface="Calibri"/>
              </a:rPr>
              <a:t>modelo</a:t>
            </a:r>
            <a:r>
              <a:rPr lang="en-US" sz="1250" b="0" strike="noStrike" spc="-1">
                <a:solidFill>
                  <a:srgbClr val="5A6072"/>
                </a:solidFill>
                <a:latin typeface="Calibri"/>
              </a:rPr>
              <a:t> </a:t>
            </a:r>
            <a:r>
              <a:rPr lang="en-US" sz="1250" b="0" strike="noStrike" spc="-1" err="1">
                <a:solidFill>
                  <a:srgbClr val="5A6072"/>
                </a:solidFill>
                <a:latin typeface="Calibri"/>
              </a:rPr>
              <a:t>ler</a:t>
            </a:r>
            <a:r>
              <a:rPr lang="en-US" sz="1250" b="0" strike="noStrike" spc="-1">
                <a:solidFill>
                  <a:srgbClr val="5A6072"/>
                </a:solidFill>
                <a:latin typeface="Calibri"/>
              </a:rPr>
              <a:t>.    </a:t>
            </a:r>
            <a:r>
              <a:rPr lang="en-US" sz="1250" b="0" strike="noStrike" spc="-1" err="1">
                <a:solidFill>
                  <a:srgbClr val="5A6072"/>
                </a:solidFill>
                <a:latin typeface="Calibri"/>
              </a:rPr>
              <a:t>Muitos</a:t>
            </a:r>
            <a:r>
              <a:rPr lang="en-US" sz="1250" b="0" strike="noStrike" spc="-1">
                <a:solidFill>
                  <a:srgbClr val="5A6072"/>
                </a:solidFill>
                <a:latin typeface="Calibri"/>
              </a:rPr>
              <a:t> tokens </a:t>
            </a:r>
            <a:r>
              <a:rPr lang="en-US" sz="1250" b="0" strike="noStrike" spc="-1" err="1">
                <a:solidFill>
                  <a:srgbClr val="5A6072"/>
                </a:solidFill>
                <a:latin typeface="Calibri"/>
              </a:rPr>
              <a:t>entram</a:t>
            </a:r>
            <a:r>
              <a:rPr lang="en-US" sz="1250" b="0" strike="noStrike" spc="-1">
                <a:solidFill>
                  <a:srgbClr val="5A6072"/>
                </a:solidFill>
                <a:latin typeface="Calibri"/>
              </a:rPr>
              <a:t> → um embedding </a:t>
            </a:r>
            <a:r>
              <a:rPr lang="en-US" sz="1250" b="0" strike="noStrike" spc="-1" err="1">
                <a:solidFill>
                  <a:srgbClr val="5A6072"/>
                </a:solidFill>
                <a:latin typeface="Calibri"/>
              </a:rPr>
              <a:t>sai</a:t>
            </a:r>
            <a:r>
              <a:rPr lang="en-US" sz="1250" b="0" strike="noStrike" spc="-1">
                <a:solidFill>
                  <a:srgbClr val="5A6072"/>
                </a:solidFill>
                <a:latin typeface="Calibri"/>
              </a:rPr>
              <a:t>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171F4C3F-7B99-A0BB-FC39-9D142E6131E5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A6D4EA56-4278-6761-5D9B-11D7D21A817D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633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Chunking — dividir com inteligência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O tamanho e o corte dos pedaços afetam muito a qualidade do RAG.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548640" y="1920240"/>
            <a:ext cx="5440320" cy="1828440"/>
          </a:xfrm>
          <a:prstGeom prst="roundRect">
            <a:avLst>
              <a:gd name="adj" fmla="val 4000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822960" y="20847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C4506B"/>
                </a:solidFill>
                <a:latin typeface="Cambria"/>
                <a:ea typeface="Cambria"/>
              </a:rPr>
              <a:t>✗ Corte cego (por caracteres)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822960" y="2487240"/>
            <a:ext cx="49374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Divide no meio de uma frase → o pedaço perde o sentido e o embedding fica ruim.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5"/>
          <p:cNvSpPr/>
          <p:nvPr/>
        </p:nvSpPr>
        <p:spPr>
          <a:xfrm>
            <a:off x="6172200" y="1920240"/>
            <a:ext cx="5440320" cy="182844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6446520" y="20847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3E9E6E"/>
                </a:solidFill>
                <a:latin typeface="Cambria"/>
                <a:ea typeface="Cambria"/>
              </a:rPr>
              <a:t>✓ Corte semântico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6446520" y="2487240"/>
            <a:ext cx="49374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CADCFC"/>
                </a:solidFill>
                <a:latin typeface="Calibri"/>
                <a:ea typeface="Calibri"/>
              </a:rPr>
              <a:t>Respeita parágrafos e seções → cada chunk é uma ideia completa, com contexto.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8"/>
          <p:cNvSpPr/>
          <p:nvPr/>
        </p:nvSpPr>
        <p:spPr>
          <a:xfrm>
            <a:off x="548640" y="3977640"/>
            <a:ext cx="11063880" cy="1737000"/>
          </a:xfrm>
          <a:prstGeom prst="roundRect">
            <a:avLst>
              <a:gd name="adj" fmla="val 3158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749880" y="4114800"/>
            <a:ext cx="1066140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150" b="0" strike="noStrike" spc="-1">
                <a:solidFill>
                  <a:srgbClr val="C79BF0"/>
                </a:solidFill>
                <a:latin typeface="Consolas"/>
                <a:ea typeface="Consolas"/>
              </a:rPr>
              <a:t>from 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langchain.text_splitter </a:t>
            </a:r>
            <a:r>
              <a:rPr lang="en-US" sz="1150" b="0" strike="noStrike" spc="-1">
                <a:solidFill>
                  <a:srgbClr val="C79BF0"/>
                </a:solidFill>
                <a:latin typeface="Consolas"/>
                <a:ea typeface="Consolas"/>
              </a:rPr>
              <a:t>import 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RecursiveCharacterTextSplitter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splitter = RecursiveCharacterTextSplitter(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    chunk_size=</a:t>
            </a:r>
            <a:r>
              <a:rPr lang="en-US" sz="1150" b="0" strike="noStrike" spc="-1">
                <a:solidFill>
                  <a:srgbClr val="7FB4F0"/>
                </a:solidFill>
                <a:latin typeface="Consolas"/>
                <a:ea typeface="Consolas"/>
              </a:rPr>
              <a:t>800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, chunk_overlap=</a:t>
            </a:r>
            <a:r>
              <a:rPr lang="en-US" sz="1150" b="0" strike="noStrike" spc="-1">
                <a:solidFill>
                  <a:srgbClr val="7FB4F0"/>
                </a:solidFill>
                <a:latin typeface="Consolas"/>
                <a:ea typeface="Consolas"/>
              </a:rPr>
              <a:t>100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)   </a:t>
            </a:r>
            <a:r>
              <a:rPr lang="en-US" sz="1150" b="0" strike="noStrike" spc="-1">
                <a:solidFill>
                  <a:srgbClr val="6E79A0"/>
                </a:solidFill>
                <a:latin typeface="Consolas"/>
                <a:ea typeface="Consolas"/>
              </a:rPr>
              <a:t># overlap preserva contexto entre pedaços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chunks = splitter.split_text(texto)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548640" y="585216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O overlap (</a:t>
            </a:r>
            <a:r>
              <a:rPr lang="en-US" sz="1300" b="0" i="1" strike="noStrike" spc="-1" err="1">
                <a:solidFill>
                  <a:srgbClr val="6E79A0"/>
                </a:solidFill>
                <a:latin typeface="Calibri"/>
                <a:ea typeface="Calibri"/>
              </a:rPr>
              <a:t>sobreposição</a:t>
            </a:r>
            <a:r>
              <a:rPr lang="en-US" sz="13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) </a:t>
            </a:r>
            <a:r>
              <a:rPr lang="en-US" sz="1300" b="0" i="1" strike="noStrike" spc="-1" err="1">
                <a:solidFill>
                  <a:srgbClr val="6E79A0"/>
                </a:solidFill>
                <a:latin typeface="Calibri"/>
                <a:ea typeface="Calibri"/>
              </a:rPr>
              <a:t>evita</a:t>
            </a:r>
            <a:r>
              <a:rPr lang="en-US" sz="13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 </a:t>
            </a:r>
            <a:r>
              <a:rPr lang="en-US" sz="1300" b="0" i="1" strike="noStrike" spc="-1" err="1">
                <a:solidFill>
                  <a:srgbClr val="6E79A0"/>
                </a:solidFill>
                <a:latin typeface="Calibri"/>
                <a:ea typeface="Calibri"/>
              </a:rPr>
              <a:t>cortar</a:t>
            </a:r>
            <a:r>
              <a:rPr lang="en-US" sz="13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 </a:t>
            </a:r>
            <a:r>
              <a:rPr lang="en-US" sz="1300" b="0" i="1" strike="noStrike" spc="-1" err="1">
                <a:solidFill>
                  <a:srgbClr val="6E79A0"/>
                </a:solidFill>
                <a:latin typeface="Calibri"/>
                <a:ea typeface="Calibri"/>
              </a:rPr>
              <a:t>uma</a:t>
            </a:r>
            <a:r>
              <a:rPr lang="en-US" sz="13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 </a:t>
            </a:r>
            <a:r>
              <a:rPr lang="en-US" sz="1300" b="0" i="1" strike="noStrike" spc="-1" err="1">
                <a:solidFill>
                  <a:srgbClr val="6E79A0"/>
                </a:solidFill>
                <a:latin typeface="Calibri"/>
                <a:ea typeface="Calibri"/>
              </a:rPr>
              <a:t>ideia</a:t>
            </a:r>
            <a:r>
              <a:rPr lang="en-US" sz="13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 entre </a:t>
            </a:r>
            <a:r>
              <a:rPr lang="en-US" sz="1300" b="0" i="1" strike="noStrike" spc="-1" err="1">
                <a:solidFill>
                  <a:srgbClr val="6E79A0"/>
                </a:solidFill>
                <a:latin typeface="Calibri"/>
                <a:ea typeface="Calibri"/>
              </a:rPr>
              <a:t>dois</a:t>
            </a:r>
            <a:r>
              <a:rPr lang="en-US" sz="13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 chunks. </a:t>
            </a:r>
            <a:r>
              <a:rPr lang="en-US" sz="1300" b="0" i="1" strike="noStrike" spc="-1" err="1">
                <a:solidFill>
                  <a:srgbClr val="6E79A0"/>
                </a:solidFill>
                <a:latin typeface="Calibri"/>
                <a:ea typeface="Calibri"/>
              </a:rPr>
              <a:t>Tamanho</a:t>
            </a:r>
            <a:r>
              <a:rPr lang="en-US" sz="13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 </a:t>
            </a:r>
            <a:r>
              <a:rPr lang="en-US" sz="1300" b="0" i="1" strike="noStrike" spc="-1" err="1">
                <a:solidFill>
                  <a:srgbClr val="6E79A0"/>
                </a:solidFill>
                <a:latin typeface="Calibri"/>
                <a:ea typeface="Calibri"/>
              </a:rPr>
              <a:t>típico</a:t>
            </a:r>
            <a:r>
              <a:rPr lang="en-US" sz="13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 de chunk: 500–1000 </a:t>
            </a:r>
            <a:r>
              <a:rPr lang="en-US" sz="1300" b="0" i="1" strike="noStrike" spc="-1" err="1">
                <a:solidFill>
                  <a:srgbClr val="6E79A0"/>
                </a:solidFill>
                <a:latin typeface="Calibri"/>
                <a:ea typeface="Calibri"/>
              </a:rPr>
              <a:t>caracteres</a:t>
            </a:r>
            <a:r>
              <a:rPr lang="en-US" sz="13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 mas é </a:t>
            </a:r>
            <a:r>
              <a:rPr lang="en-US" sz="1300" b="0" i="1" strike="noStrike" spc="-1" err="1">
                <a:solidFill>
                  <a:srgbClr val="6E79A0"/>
                </a:solidFill>
                <a:latin typeface="Calibri"/>
                <a:ea typeface="Calibri"/>
              </a:rPr>
              <a:t>decisão</a:t>
            </a:r>
            <a:r>
              <a:rPr lang="en-US" sz="13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 de </a:t>
            </a:r>
            <a:r>
              <a:rPr lang="en-US" sz="1300" b="0" i="1" strike="noStrike" spc="-1" err="1">
                <a:solidFill>
                  <a:srgbClr val="6E79A0"/>
                </a:solidFill>
                <a:latin typeface="Calibri"/>
                <a:ea typeface="Calibri"/>
              </a:rPr>
              <a:t>projeto</a:t>
            </a:r>
            <a:r>
              <a:rPr lang="en-US" sz="13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5045DCAE-EBED-47B2-F3C1-6A7A04A388F8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811DA3D5-E8F4-1254-3FA8-157C5D691F6A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21</a:t>
            </a:fld>
            <a:endParaRPr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61F7FF5-2609-1EDF-3CEB-E4A583E26637}"/>
              </a:ext>
            </a:extLst>
          </p:cNvPr>
          <p:cNvSpPr txBox="1"/>
          <p:nvPr/>
        </p:nvSpPr>
        <p:spPr>
          <a:xfrm>
            <a:off x="8026110" y="217437"/>
            <a:ext cx="349497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FF0000"/>
                </a:solidFill>
                <a:latin typeface="Arial"/>
              </a:rPr>
              <a:t>Por que </a:t>
            </a:r>
            <a:r>
              <a:rPr lang="en-US" sz="1400" b="1" strike="noStrike" spc="-1">
                <a:solidFill>
                  <a:srgbClr val="FF0000"/>
                </a:solidFill>
                <a:latin typeface="Arial"/>
              </a:rPr>
              <a:t>chunk: </a:t>
            </a:r>
          </a:p>
          <a:p>
            <a:pPr marL="216000" indent="0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FF0000"/>
                </a:solidFill>
                <a:latin typeface="Arial"/>
              </a:rPr>
              <a:t>(1) embedding </a:t>
            </a:r>
            <a:r>
              <a:rPr lang="en-US" sz="1400" b="0" strike="noStrike" spc="-1" err="1">
                <a:solidFill>
                  <a:srgbClr val="FF0000"/>
                </a:solidFill>
                <a:latin typeface="Arial"/>
              </a:rPr>
              <a:t>representa</a:t>
            </a:r>
            <a:r>
              <a:rPr lang="en-US" sz="1400" b="0" strike="noStrike" spc="-1">
                <a:solidFill>
                  <a:srgbClr val="FF0000"/>
                </a:solidFill>
                <a:latin typeface="Arial"/>
              </a:rPr>
              <a:t> </a:t>
            </a:r>
            <a:r>
              <a:rPr lang="en-US" sz="1400" b="0" strike="noStrike" spc="-1" err="1">
                <a:solidFill>
                  <a:srgbClr val="FF0000"/>
                </a:solidFill>
                <a:latin typeface="Arial"/>
              </a:rPr>
              <a:t>uma</a:t>
            </a:r>
            <a:r>
              <a:rPr lang="en-US" sz="1400" b="0" strike="noStrike" spc="-1">
                <a:solidFill>
                  <a:srgbClr val="FF0000"/>
                </a:solidFill>
                <a:latin typeface="Arial"/>
              </a:rPr>
              <a:t> </a:t>
            </a:r>
            <a:r>
              <a:rPr lang="en-US" sz="1400" b="0" strike="noStrike" spc="-1" err="1">
                <a:solidFill>
                  <a:srgbClr val="FF0000"/>
                </a:solidFill>
                <a:latin typeface="Arial"/>
              </a:rPr>
              <a:t>ideia</a:t>
            </a:r>
            <a:r>
              <a:rPr lang="en-US" sz="1400" b="0" strike="noStrike" spc="-1">
                <a:solidFill>
                  <a:srgbClr val="FF0000"/>
                </a:solidFill>
                <a:latin typeface="Arial"/>
              </a:rPr>
              <a:t> </a:t>
            </a:r>
            <a:r>
              <a:rPr lang="en-US" sz="1400" b="0" strike="noStrike" spc="-1" err="1">
                <a:solidFill>
                  <a:srgbClr val="FF0000"/>
                </a:solidFill>
                <a:latin typeface="Arial"/>
              </a:rPr>
              <a:t>focada</a:t>
            </a:r>
            <a:r>
              <a:rPr lang="en-US" sz="1400" b="0" strike="noStrike" spc="-1">
                <a:solidFill>
                  <a:srgbClr val="FF0000"/>
                </a:solidFill>
                <a:latin typeface="Arial"/>
              </a:rPr>
              <a:t>, </a:t>
            </a:r>
            <a:r>
              <a:rPr lang="en-US" sz="1400" b="0" strike="noStrike" spc="-1" err="1">
                <a:solidFill>
                  <a:srgbClr val="FF0000"/>
                </a:solidFill>
                <a:latin typeface="Arial"/>
              </a:rPr>
              <a:t>não</a:t>
            </a:r>
            <a:r>
              <a:rPr lang="en-US" sz="1400" b="0" strike="noStrike" spc="-1">
                <a:solidFill>
                  <a:srgbClr val="FF0000"/>
                </a:solidFill>
                <a:latin typeface="Arial"/>
              </a:rPr>
              <a:t> </a:t>
            </a:r>
            <a:r>
              <a:rPr lang="en-US" sz="1400" b="0" strike="noStrike" spc="-1" err="1">
                <a:solidFill>
                  <a:srgbClr val="FF0000"/>
                </a:solidFill>
                <a:latin typeface="Arial"/>
              </a:rPr>
              <a:t>uma</a:t>
            </a:r>
            <a:r>
              <a:rPr lang="en-US" sz="1400" b="0" strike="noStrike" spc="-1">
                <a:solidFill>
                  <a:srgbClr val="FF0000"/>
                </a:solidFill>
                <a:latin typeface="Arial"/>
              </a:rPr>
              <a:t> </a:t>
            </a:r>
            <a:r>
              <a:rPr lang="en-US" sz="1400" b="0" strike="noStrike" spc="-1" err="1">
                <a:solidFill>
                  <a:srgbClr val="FF0000"/>
                </a:solidFill>
                <a:latin typeface="Arial"/>
              </a:rPr>
              <a:t>média</a:t>
            </a:r>
            <a:r>
              <a:rPr lang="en-US" sz="1400" b="0" strike="noStrike" spc="-1">
                <a:solidFill>
                  <a:srgbClr val="FF0000"/>
                </a:solidFill>
                <a:latin typeface="Arial"/>
              </a:rPr>
              <a:t> do doc </a:t>
            </a:r>
            <a:r>
              <a:rPr lang="en-US" sz="1400" b="0" strike="noStrike" spc="-1" err="1">
                <a:solidFill>
                  <a:srgbClr val="FF0000"/>
                </a:solidFill>
                <a:latin typeface="Arial"/>
              </a:rPr>
              <a:t>inteiro</a:t>
            </a:r>
            <a:r>
              <a:rPr lang="en-US" sz="1400" b="0" strike="noStrike" spc="-1">
                <a:solidFill>
                  <a:srgbClr val="FF0000"/>
                </a:solidFill>
                <a:latin typeface="Arial"/>
              </a:rPr>
              <a:t>; (2) o </a:t>
            </a:r>
            <a:r>
              <a:rPr lang="en-US" sz="1400" b="0" strike="noStrike" spc="-1" err="1">
                <a:solidFill>
                  <a:srgbClr val="FF0000"/>
                </a:solidFill>
                <a:latin typeface="Arial"/>
              </a:rPr>
              <a:t>trecho</a:t>
            </a:r>
            <a:r>
              <a:rPr lang="en-US" sz="1400" b="0" strike="noStrike" spc="-1">
                <a:solidFill>
                  <a:srgbClr val="FF0000"/>
                </a:solidFill>
                <a:latin typeface="Arial"/>
              </a:rPr>
              <a:t> </a:t>
            </a:r>
            <a:r>
              <a:rPr lang="en-US" sz="1400" b="0" strike="noStrike" spc="-1" err="1">
                <a:solidFill>
                  <a:srgbClr val="FF0000"/>
                </a:solidFill>
                <a:latin typeface="Arial"/>
              </a:rPr>
              <a:t>tem</a:t>
            </a:r>
            <a:r>
              <a:rPr lang="en-US" sz="1400" b="0" strike="noStrike" spc="-1">
                <a:solidFill>
                  <a:srgbClr val="FF0000"/>
                </a:solidFill>
                <a:latin typeface="Arial"/>
              </a:rPr>
              <a:t> que caber no prompt; (3) </a:t>
            </a:r>
            <a:r>
              <a:rPr lang="en-US" sz="1400" b="0" strike="noStrike" spc="-1" err="1">
                <a:solidFill>
                  <a:srgbClr val="FF0000"/>
                </a:solidFill>
                <a:latin typeface="Arial"/>
              </a:rPr>
              <a:t>respeita</a:t>
            </a:r>
            <a:r>
              <a:rPr lang="en-US" sz="1400" b="0" strike="noStrike" spc="-1">
                <a:solidFill>
                  <a:srgbClr val="FF0000"/>
                </a:solidFill>
                <a:latin typeface="Arial"/>
              </a:rPr>
              <a:t> o </a:t>
            </a:r>
            <a:r>
              <a:rPr lang="en-US" sz="1400" b="0" strike="noStrike" spc="-1" err="1">
                <a:solidFill>
                  <a:srgbClr val="FF0000"/>
                </a:solidFill>
                <a:latin typeface="Arial"/>
              </a:rPr>
              <a:t>limite</a:t>
            </a:r>
            <a:r>
              <a:rPr lang="en-US" sz="1400" b="0" strike="noStrike" spc="-1">
                <a:solidFill>
                  <a:srgbClr val="FF0000"/>
                </a:solidFill>
                <a:latin typeface="Arial"/>
              </a:rPr>
              <a:t> de tokens do </a:t>
            </a:r>
            <a:r>
              <a:rPr lang="en-US" sz="1400" b="0" strike="noStrike" spc="-1" err="1">
                <a:solidFill>
                  <a:srgbClr val="FF0000"/>
                </a:solidFill>
                <a:latin typeface="Arial"/>
              </a:rPr>
              <a:t>modelo</a:t>
            </a:r>
            <a:r>
              <a:rPr lang="en-US" sz="1400" b="0" strike="noStrike" spc="-1">
                <a:solidFill>
                  <a:srgbClr val="FF0000"/>
                </a:solidFill>
                <a:latin typeface="Arial"/>
              </a:rPr>
              <a:t> de embedding.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 err="1">
                <a:solidFill>
                  <a:srgbClr val="1E2761"/>
                </a:solidFill>
                <a:latin typeface="Cambria"/>
                <a:ea typeface="Cambria"/>
              </a:rPr>
              <a:t>Os</a:t>
            </a: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 </a:t>
            </a:r>
            <a:r>
              <a:rPr lang="en-US" sz="2900" b="1" strike="noStrike" spc="-1" err="1">
                <a:solidFill>
                  <a:srgbClr val="1E2761"/>
                </a:solidFill>
                <a:latin typeface="Cambria"/>
                <a:ea typeface="Cambria"/>
              </a:rPr>
              <a:t>tipos</a:t>
            </a: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 de chunking — do simples </a:t>
            </a:r>
            <a:r>
              <a:rPr lang="en-US" sz="2900" b="1" strike="noStrike" spc="-1" err="1">
                <a:solidFill>
                  <a:srgbClr val="1E2761"/>
                </a:solidFill>
                <a:latin typeface="Cambria"/>
                <a:ea typeface="Cambria"/>
              </a:rPr>
              <a:t>ao</a:t>
            </a: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 </a:t>
            </a:r>
            <a:r>
              <a:rPr lang="en-US" sz="2900" b="1" strike="noStrike" spc="-1" err="1">
                <a:solidFill>
                  <a:srgbClr val="1E2761"/>
                </a:solidFill>
                <a:latin typeface="Cambria"/>
                <a:ea typeface="Cambria"/>
              </a:rPr>
              <a:t>semântico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Como cortar o documento em pedaços: cinco estratégias, da mais ingênua à mais sofisticada.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2"/>
          <p:cNvSpPr/>
          <p:nvPr/>
        </p:nvSpPr>
        <p:spPr>
          <a:xfrm>
            <a:off x="548640" y="1965960"/>
            <a:ext cx="11063880" cy="694440"/>
          </a:xfrm>
          <a:prstGeom prst="roundRect">
            <a:avLst>
              <a:gd name="adj" fmla="val 7895"/>
            </a:avLst>
          </a:prstGeom>
          <a:solidFill>
            <a:srgbClr val="F8FAFE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3"/>
          <p:cNvSpPr/>
          <p:nvPr/>
        </p:nvSpPr>
        <p:spPr>
          <a:xfrm>
            <a:off x="548640" y="1965960"/>
            <a:ext cx="109440" cy="6944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822960" y="1965960"/>
            <a:ext cx="3565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Tamanho fixo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4480560" y="1965960"/>
            <a:ext cx="50288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corta por contagem de caracteres/tokens, com overlap</a:t>
            </a:r>
          </a:p>
        </p:txBody>
      </p:sp>
      <p:sp>
        <p:nvSpPr>
          <p:cNvPr id="32" name="Text 6"/>
          <p:cNvSpPr/>
          <p:nvPr/>
        </p:nvSpPr>
        <p:spPr>
          <a:xfrm>
            <a:off x="9601200" y="1965960"/>
            <a:ext cx="18284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E2761"/>
                </a:solidFill>
                <a:latin typeface="Calibri"/>
                <a:ea typeface="Calibri"/>
              </a:rPr>
              <a:t>simples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7"/>
          <p:cNvSpPr/>
          <p:nvPr/>
        </p:nvSpPr>
        <p:spPr>
          <a:xfrm>
            <a:off x="548640" y="2770560"/>
            <a:ext cx="11063880" cy="694440"/>
          </a:xfrm>
          <a:prstGeom prst="roundRect">
            <a:avLst>
              <a:gd name="adj" fmla="val 7895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8"/>
          <p:cNvSpPr/>
          <p:nvPr/>
        </p:nvSpPr>
        <p:spPr>
          <a:xfrm>
            <a:off x="548640" y="2770560"/>
            <a:ext cx="109440" cy="6944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822960" y="2770560"/>
            <a:ext cx="3565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Recursivo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4480560" y="2770560"/>
            <a:ext cx="50288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respeita separadores naturais (parágrafo, frase) — o padrão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9601200" y="2770560"/>
            <a:ext cx="18284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E2761"/>
                </a:solidFill>
                <a:latin typeface="Calibri"/>
                <a:ea typeface="Calibri"/>
              </a:rPr>
              <a:t>padrão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12"/>
          <p:cNvSpPr/>
          <p:nvPr/>
        </p:nvSpPr>
        <p:spPr>
          <a:xfrm>
            <a:off x="548640" y="3575160"/>
            <a:ext cx="11063880" cy="694440"/>
          </a:xfrm>
          <a:prstGeom prst="roundRect">
            <a:avLst>
              <a:gd name="adj" fmla="val 7895"/>
            </a:avLst>
          </a:prstGeom>
          <a:solidFill>
            <a:srgbClr val="F8FAFE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3"/>
          <p:cNvSpPr/>
          <p:nvPr/>
        </p:nvSpPr>
        <p:spPr>
          <a:xfrm>
            <a:off x="548640" y="3575160"/>
            <a:ext cx="109440" cy="6944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822960" y="3575160"/>
            <a:ext cx="3565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Estrutural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4480560" y="3575160"/>
            <a:ext cx="50288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corta por Markdown/HTML/código — preserva seções e cita fonte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9601200" y="3575160"/>
            <a:ext cx="18284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E2761"/>
                </a:solidFill>
                <a:latin typeface="Calibri"/>
                <a:ea typeface="Calibri"/>
              </a:rPr>
              <a:t>estruturado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17"/>
          <p:cNvSpPr/>
          <p:nvPr/>
        </p:nvSpPr>
        <p:spPr>
          <a:xfrm>
            <a:off x="548640" y="4380120"/>
            <a:ext cx="11063880" cy="694440"/>
          </a:xfrm>
          <a:prstGeom prst="roundRect">
            <a:avLst>
              <a:gd name="adj" fmla="val 7895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18"/>
          <p:cNvSpPr/>
          <p:nvPr/>
        </p:nvSpPr>
        <p:spPr>
          <a:xfrm>
            <a:off x="548640" y="4380120"/>
            <a:ext cx="109440" cy="6944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822960" y="4380120"/>
            <a:ext cx="3565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Semântico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4480560" y="4380120"/>
            <a:ext cx="50288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usa embeddings: corta onde o assunto muda no texto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9601200" y="4380120"/>
            <a:ext cx="18284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E2761"/>
                </a:solidFill>
                <a:latin typeface="Calibri"/>
                <a:ea typeface="Calibri"/>
              </a:rPr>
              <a:t>avançado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22"/>
          <p:cNvSpPr/>
          <p:nvPr/>
        </p:nvSpPr>
        <p:spPr>
          <a:xfrm>
            <a:off x="548640" y="5184720"/>
            <a:ext cx="11063880" cy="694440"/>
          </a:xfrm>
          <a:prstGeom prst="roundRect">
            <a:avLst>
              <a:gd name="adj" fmla="val 7895"/>
            </a:avLst>
          </a:prstGeom>
          <a:solidFill>
            <a:srgbClr val="F8FAFE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23"/>
          <p:cNvSpPr/>
          <p:nvPr/>
        </p:nvSpPr>
        <p:spPr>
          <a:xfrm>
            <a:off x="548640" y="5184720"/>
            <a:ext cx="109440" cy="6944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24"/>
          <p:cNvSpPr/>
          <p:nvPr/>
        </p:nvSpPr>
        <p:spPr>
          <a:xfrm>
            <a:off x="822960" y="5184720"/>
            <a:ext cx="3565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Agentic / LLM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25"/>
          <p:cNvSpPr/>
          <p:nvPr/>
        </p:nvSpPr>
        <p:spPr>
          <a:xfrm>
            <a:off x="4480560" y="5184720"/>
            <a:ext cx="50288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o LLM decide as fronteiras (proposições) — a fronteira da área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6"/>
          <p:cNvSpPr/>
          <p:nvPr/>
        </p:nvSpPr>
        <p:spPr>
          <a:xfrm>
            <a:off x="9601200" y="5184720"/>
            <a:ext cx="18284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E2761"/>
                </a:solidFill>
                <a:latin typeface="Calibri"/>
                <a:ea typeface="Calibri"/>
              </a:rPr>
              <a:t>fronteira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7"/>
          <p:cNvSpPr/>
          <p:nvPr/>
        </p:nvSpPr>
        <p:spPr>
          <a:xfrm>
            <a:off x="554776" y="5961396"/>
            <a:ext cx="11076103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Regra de bolso:  </a:t>
            </a:r>
            <a:r>
              <a:rPr lang="en-US" sz="13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comece no recursivo (padrão sensato) e só suba para o semântico se a qualidade do retrieval pedir.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6328923E-AEE6-CDAD-051B-DA4A97116EB2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952619E9-D43E-D3E5-FAAC-21793665C9E6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5804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A532F14-E98A-554D-A61E-4D3B7AF01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671" y="1732640"/>
            <a:ext cx="6877961" cy="388272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87C3C56-0E6A-C6CD-55CF-9A56ED578F94}"/>
              </a:ext>
            </a:extLst>
          </p:cNvPr>
          <p:cNvSpPr txBox="1"/>
          <p:nvPr/>
        </p:nvSpPr>
        <p:spPr>
          <a:xfrm>
            <a:off x="1847528" y="5770240"/>
            <a:ext cx="8640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>
                <a:solidFill>
                  <a:srgbClr val="FF0000"/>
                </a:solidFill>
              </a:rPr>
              <a:t>https://www.threads.com/@weaviate.io/post/DAIvLujqcKD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79E9C0A-C957-3456-89C3-BBC6BF90151B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F27D8E23-13D9-F7FF-9DAB-B2B7A45CB973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23</a:t>
            </a:fld>
            <a:endParaRPr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80B6385D-D80E-98A9-D9BD-AF03816DFD3D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Fixed-size chunking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7E1F8FC1-E4F0-8E40-725F-C60AC4F10358}"/>
              </a:ext>
            </a:extLst>
          </p:cNvPr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Chunking de </a:t>
            </a:r>
            <a:r>
              <a:rPr lang="en-US" sz="1500" b="0" strike="noStrike" spc="-1" err="1">
                <a:solidFill>
                  <a:srgbClr val="5A6072"/>
                </a:solidFill>
                <a:latin typeface="Calibri"/>
                <a:ea typeface="Calibri"/>
              </a:rPr>
              <a:t>tamanho</a:t>
            </a: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500" b="0" strike="noStrike" spc="-1" err="1">
                <a:solidFill>
                  <a:srgbClr val="5A6072"/>
                </a:solidFill>
                <a:latin typeface="Calibri"/>
                <a:ea typeface="Calibri"/>
              </a:rPr>
              <a:t>fixo</a:t>
            </a: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, com </a:t>
            </a:r>
            <a:r>
              <a:rPr lang="en-US" sz="1500" b="0" strike="noStrike" spc="-1" err="1">
                <a:solidFill>
                  <a:srgbClr val="5A6072"/>
                </a:solidFill>
                <a:latin typeface="Calibri"/>
                <a:ea typeface="Calibri"/>
              </a:rPr>
              <a:t>sobreposição</a:t>
            </a: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 (overlap)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839841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 err="1">
                <a:solidFill>
                  <a:srgbClr val="1E2761"/>
                </a:solidFill>
                <a:latin typeface="Cambria"/>
                <a:ea typeface="Cambria"/>
              </a:rPr>
              <a:t>Chunking em código (1): fixo e recursivo</a:t>
            </a:r>
          </a:p>
        </p:txBody>
      </p:sp>
      <p:sp>
        <p:nvSpPr>
          <p:cNvPr id="93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As duas estratégias-base — as que você usa primeiro.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2"/>
          <p:cNvSpPr/>
          <p:nvPr/>
        </p:nvSpPr>
        <p:spPr>
          <a:xfrm>
            <a:off x="548640" y="1920240"/>
            <a:ext cx="6674760" cy="3496310"/>
          </a:xfrm>
          <a:prstGeom prst="roundRect">
            <a:avLst>
              <a:gd name="adj" fmla="val 1765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3"/>
          <p:cNvSpPr/>
          <p:nvPr/>
        </p:nvSpPr>
        <p:spPr>
          <a:xfrm>
            <a:off x="749880" y="2057400"/>
            <a:ext cx="6272280" cy="283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950" b="0" strike="noStrike" spc="-1">
                <a:solidFill>
                  <a:srgbClr val="6E79A0"/>
                </a:solidFill>
                <a:latin typeface="Consolas"/>
                <a:ea typeface="Consolas"/>
              </a:rPr>
              <a:t># 1) </a:t>
            </a:r>
            <a:r>
              <a:rPr lang="en-US" sz="950" b="0" strike="noStrike" spc="-1" err="1">
                <a:solidFill>
                  <a:srgbClr val="6E79A0"/>
                </a:solidFill>
                <a:latin typeface="Consolas"/>
                <a:ea typeface="Consolas"/>
              </a:rPr>
              <a:t>Tamanho</a:t>
            </a:r>
            <a:r>
              <a:rPr lang="en-US" sz="950" b="0" strike="noStrike" spc="-1">
                <a:solidFill>
                  <a:srgbClr val="6E79A0"/>
                </a:solidFill>
                <a:latin typeface="Consolas"/>
                <a:ea typeface="Consolas"/>
              </a:rPr>
              <a:t> </a:t>
            </a:r>
            <a:r>
              <a:rPr lang="en-US" sz="950" b="0" strike="noStrike" spc="-1" err="1">
                <a:solidFill>
                  <a:srgbClr val="6E79A0"/>
                </a:solidFill>
                <a:latin typeface="Consolas"/>
                <a:ea typeface="Consolas"/>
              </a:rPr>
              <a:t>fixo</a:t>
            </a:r>
            <a:r>
              <a:rPr lang="en-US" sz="950" b="0" strike="noStrike" spc="-1">
                <a:solidFill>
                  <a:srgbClr val="6E79A0"/>
                </a:solidFill>
                <a:latin typeface="Consolas"/>
                <a:ea typeface="Consolas"/>
              </a:rPr>
              <a:t> — </a:t>
            </a:r>
            <a:r>
              <a:rPr lang="en-US" sz="950" b="0" strike="noStrike" spc="-1" err="1">
                <a:solidFill>
                  <a:srgbClr val="6E79A0"/>
                </a:solidFill>
                <a:latin typeface="Consolas"/>
                <a:ea typeface="Consolas"/>
              </a:rPr>
              <a:t>corta</a:t>
            </a:r>
            <a:r>
              <a:rPr lang="en-US" sz="950" b="0" strike="noStrike" spc="-1">
                <a:solidFill>
                  <a:srgbClr val="6E79A0"/>
                </a:solidFill>
                <a:latin typeface="Consolas"/>
                <a:ea typeface="Consolas"/>
              </a:rPr>
              <a:t> </a:t>
            </a:r>
            <a:r>
              <a:rPr lang="en-US" sz="950" b="0" strike="noStrike" spc="-1" err="1">
                <a:solidFill>
                  <a:srgbClr val="6E79A0"/>
                </a:solidFill>
                <a:latin typeface="Consolas"/>
                <a:ea typeface="Consolas"/>
              </a:rPr>
              <a:t>por</a:t>
            </a:r>
            <a:r>
              <a:rPr lang="en-US" sz="950" b="0" strike="noStrike" spc="-1">
                <a:solidFill>
                  <a:srgbClr val="6E79A0"/>
                </a:solidFill>
                <a:latin typeface="Consolas"/>
                <a:ea typeface="Consolas"/>
              </a:rPr>
              <a:t> </a:t>
            </a:r>
            <a:r>
              <a:rPr lang="en-US" sz="950" b="0" strike="noStrike" spc="-1" err="1">
                <a:solidFill>
                  <a:srgbClr val="6E79A0"/>
                </a:solidFill>
                <a:latin typeface="Consolas"/>
                <a:ea typeface="Consolas"/>
              </a:rPr>
              <a:t>contagem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950" b="0" strike="noStrike" spc="-1">
                <a:solidFill>
                  <a:srgbClr val="C79BF0"/>
                </a:solidFill>
                <a:latin typeface="Consolas"/>
                <a:ea typeface="Consolas"/>
              </a:rPr>
              <a:t>import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 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langchain.text_splitter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 </a:t>
            </a:r>
            <a:r>
              <a:rPr lang="en-US" sz="950" b="0" strike="noStrike" spc="-1">
                <a:solidFill>
                  <a:srgbClr val="C79BF0"/>
                </a:solidFill>
                <a:latin typeface="Consolas"/>
                <a:ea typeface="Consolas"/>
              </a:rPr>
              <a:t>as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 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ts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sp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 = 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ts.CharacterTextSplitter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(separator=</a:t>
            </a:r>
            <a:r>
              <a:rPr lang="en-US" sz="950" b="0" strike="noStrike" spc="-1">
                <a:solidFill>
                  <a:srgbClr val="9FE2BF"/>
                </a:solidFill>
                <a:latin typeface="Consolas"/>
                <a:ea typeface="Consolas"/>
              </a:rPr>
              <a:t>""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,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        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chunk_size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=90, 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chunk_overlap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=15)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chunks = 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sp.split_text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(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texto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)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950" spc="-1">
              <a:solidFill>
                <a:srgbClr val="000000"/>
              </a:solidFill>
              <a:latin typeface="Arial"/>
            </a:endParaRPr>
          </a:p>
          <a:p>
            <a:r>
              <a:rPr lang="en-US" sz="950" b="1" u="sng" spc="-1" err="1">
                <a:solidFill>
                  <a:srgbClr val="FF0000"/>
                </a:solidFill>
                <a:latin typeface="Consolas"/>
              </a:rPr>
              <a:t>Resultado</a:t>
            </a:r>
            <a:r>
              <a:rPr lang="en-US" sz="950" b="1" u="sng" spc="-1">
                <a:solidFill>
                  <a:srgbClr val="FF0000"/>
                </a:solidFill>
                <a:latin typeface="Consolas"/>
              </a:rPr>
              <a:t>:</a:t>
            </a:r>
          </a:p>
          <a:p>
            <a:r>
              <a:rPr lang="pt-BR" sz="950" spc="-1">
                <a:solidFill>
                  <a:srgbClr val="FF0000"/>
                </a:solidFill>
                <a:latin typeface="Consolas"/>
              </a:rPr>
              <a:t>C1 (90): "...da massa muscular. Os </a:t>
            </a:r>
            <a:r>
              <a:rPr lang="pt-BR" sz="950" spc="-1" err="1">
                <a:solidFill>
                  <a:srgbClr val="FF0000"/>
                </a:solidFill>
                <a:latin typeface="Consolas"/>
              </a:rPr>
              <a:t>carbo</a:t>
            </a:r>
            <a:r>
              <a:rPr lang="pt-BR" sz="950" spc="-1">
                <a:solidFill>
                  <a:srgbClr val="FF0000"/>
                </a:solidFill>
                <a:latin typeface="Consolas"/>
              </a:rPr>
              <a:t>"      ← quebra "carboidratos"  </a:t>
            </a:r>
          </a:p>
          <a:p>
            <a:r>
              <a:rPr lang="pt-BR" sz="950" spc="-1">
                <a:solidFill>
                  <a:srgbClr val="FF0000"/>
                </a:solidFill>
                <a:latin typeface="Consolas"/>
              </a:rPr>
              <a:t>C2 (90): "</a:t>
            </a:r>
            <a:r>
              <a:rPr lang="pt-BR" sz="950" spc="-1" err="1">
                <a:solidFill>
                  <a:srgbClr val="FF0000"/>
                </a:solidFill>
                <a:latin typeface="Consolas"/>
              </a:rPr>
              <a:t>cular</a:t>
            </a:r>
            <a:r>
              <a:rPr lang="pt-BR" sz="950" spc="-1">
                <a:solidFill>
                  <a:srgbClr val="FF0000"/>
                </a:solidFill>
                <a:latin typeface="Consolas"/>
              </a:rPr>
              <a:t>. Os carboidratos ... boas </a:t>
            </a:r>
            <a:r>
              <a:rPr lang="pt-BR" sz="950" spc="-1" err="1">
                <a:solidFill>
                  <a:srgbClr val="FF0000"/>
                </a:solidFill>
                <a:latin typeface="Consolas"/>
              </a:rPr>
              <a:t>aux</a:t>
            </a:r>
            <a:r>
              <a:rPr lang="pt-BR" sz="950" spc="-1">
                <a:solidFill>
                  <a:srgbClr val="FF0000"/>
                </a:solidFill>
                <a:latin typeface="Consolas"/>
              </a:rPr>
              <a:t>" ← começa no meio de "muscular"  </a:t>
            </a:r>
          </a:p>
          <a:p>
            <a:r>
              <a:rPr lang="pt-BR" sz="950" spc="-1">
                <a:solidFill>
                  <a:srgbClr val="FF0000"/>
                </a:solidFill>
                <a:latin typeface="Consolas"/>
              </a:rPr>
              <a:t>C3 (45): "</a:t>
            </a:r>
            <a:r>
              <a:rPr lang="pt-BR" sz="950" spc="-1" err="1">
                <a:solidFill>
                  <a:srgbClr val="FF0000"/>
                </a:solidFill>
                <a:latin typeface="Consolas"/>
              </a:rPr>
              <a:t>rduras</a:t>
            </a:r>
            <a:r>
              <a:rPr lang="pt-BR" sz="950" spc="-1">
                <a:solidFill>
                  <a:srgbClr val="FF0000"/>
                </a:solidFill>
                <a:latin typeface="Consolas"/>
              </a:rPr>
              <a:t> boas auxiliam ... vitaminas"  ← começa no meio de "gorduras"</a:t>
            </a:r>
            <a:endParaRPr lang="en-US" sz="950" spc="-1">
              <a:solidFill>
                <a:srgbClr val="FF0000"/>
              </a:solidFill>
              <a:latin typeface="Consolas"/>
            </a:endParaRPr>
          </a:p>
          <a:p>
            <a:endParaRPr lang="en-US" sz="950" spc="-1">
              <a:solidFill>
                <a:srgbClr val="000000"/>
              </a:solidFill>
              <a:latin typeface="Arial"/>
            </a:endParaRPr>
          </a:p>
          <a:p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950" b="0" strike="noStrike" spc="-1">
                <a:solidFill>
                  <a:srgbClr val="6E79A0"/>
                </a:solidFill>
                <a:latin typeface="Consolas"/>
                <a:ea typeface="Consolas"/>
              </a:rPr>
              <a:t># 2) </a:t>
            </a:r>
            <a:r>
              <a:rPr lang="en-US" sz="950" b="0" strike="noStrike" spc="-1" err="1">
                <a:solidFill>
                  <a:srgbClr val="6E79A0"/>
                </a:solidFill>
                <a:latin typeface="Consolas"/>
                <a:ea typeface="Consolas"/>
              </a:rPr>
              <a:t>Recursivo</a:t>
            </a:r>
            <a:r>
              <a:rPr lang="en-US" sz="950" b="0" strike="noStrike" spc="-1">
                <a:solidFill>
                  <a:srgbClr val="6E79A0"/>
                </a:solidFill>
                <a:latin typeface="Consolas"/>
                <a:ea typeface="Consolas"/>
              </a:rPr>
              <a:t> — </a:t>
            </a:r>
            <a:r>
              <a:rPr lang="en-US" sz="950" b="0" strike="noStrike" spc="-1" err="1">
                <a:solidFill>
                  <a:srgbClr val="6E79A0"/>
                </a:solidFill>
                <a:latin typeface="Consolas"/>
                <a:ea typeface="Consolas"/>
              </a:rPr>
              <a:t>quebra</a:t>
            </a:r>
            <a:r>
              <a:rPr lang="en-US" sz="950" b="0" strike="noStrike" spc="-1">
                <a:solidFill>
                  <a:srgbClr val="6E79A0"/>
                </a:solidFill>
                <a:latin typeface="Consolas"/>
                <a:ea typeface="Consolas"/>
              </a:rPr>
              <a:t> </a:t>
            </a:r>
            <a:r>
              <a:rPr lang="en-US" sz="950" b="0" strike="noStrike" spc="-1" err="1">
                <a:solidFill>
                  <a:srgbClr val="6E79A0"/>
                </a:solidFill>
                <a:latin typeface="Consolas"/>
                <a:ea typeface="Consolas"/>
              </a:rPr>
              <a:t>por</a:t>
            </a:r>
            <a:r>
              <a:rPr lang="en-US" sz="950" b="0" strike="noStrike" spc="-1">
                <a:solidFill>
                  <a:srgbClr val="6E79A0"/>
                </a:solidFill>
                <a:latin typeface="Consolas"/>
                <a:ea typeface="Consolas"/>
              </a:rPr>
              <a:t> </a:t>
            </a:r>
            <a:r>
              <a:rPr lang="en-US" sz="950" b="0" strike="noStrike" spc="-1" err="1">
                <a:solidFill>
                  <a:srgbClr val="6E79A0"/>
                </a:solidFill>
                <a:latin typeface="Consolas"/>
                <a:ea typeface="Consolas"/>
              </a:rPr>
              <a:t>parágrafo</a:t>
            </a:r>
            <a:r>
              <a:rPr lang="en-US" sz="950" b="0" strike="noStrike" spc="-1">
                <a:solidFill>
                  <a:srgbClr val="6E79A0"/>
                </a:solidFill>
                <a:latin typeface="Consolas"/>
                <a:ea typeface="Consolas"/>
              </a:rPr>
              <a:t> e </a:t>
            </a:r>
            <a:r>
              <a:rPr lang="en-US" sz="950" b="0" strike="noStrike" spc="-1" err="1">
                <a:solidFill>
                  <a:srgbClr val="6E79A0"/>
                </a:solidFill>
                <a:latin typeface="Consolas"/>
                <a:ea typeface="Consolas"/>
              </a:rPr>
              <a:t>frase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sp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 = 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ts.RecursiveCharacterTextSplitter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(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        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chunk_size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=90, 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chunk_overlap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=15)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chunks = 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sp.split_text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(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texto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)</a:t>
            </a:r>
          </a:p>
          <a:p>
            <a:endParaRPr lang="en-US" sz="950" spc="-1">
              <a:solidFill>
                <a:srgbClr val="CADCFC"/>
              </a:solidFill>
              <a:latin typeface="Consolas"/>
            </a:endParaRPr>
          </a:p>
          <a:p>
            <a:r>
              <a:rPr lang="en-US" sz="950" b="1" u="sng" spc="-1" err="1">
                <a:solidFill>
                  <a:srgbClr val="FF0000"/>
                </a:solidFill>
                <a:latin typeface="Consolas"/>
              </a:rPr>
              <a:t>Resultado</a:t>
            </a:r>
            <a:r>
              <a:rPr lang="en-US" sz="950" b="1" u="sng" spc="-1">
                <a:solidFill>
                  <a:srgbClr val="FF0000"/>
                </a:solidFill>
                <a:latin typeface="Consolas"/>
              </a:rPr>
              <a:t>:</a:t>
            </a:r>
            <a:endParaRPr lang="en-US" sz="950" spc="-1">
              <a:solidFill>
                <a:srgbClr val="CADCFC"/>
              </a:solidFill>
              <a:latin typeface="Consolas"/>
            </a:endParaRPr>
          </a:p>
          <a:p>
            <a:r>
              <a:rPr lang="pt-BR" sz="950" spc="-1">
                <a:solidFill>
                  <a:srgbClr val="FF0000"/>
                </a:solidFill>
                <a:latin typeface="Arial"/>
              </a:rPr>
              <a:t>C1 ( 84): "...massa muscular. Os"  </a:t>
            </a:r>
          </a:p>
          <a:p>
            <a:r>
              <a:rPr lang="pt-BR" sz="950" spc="-1">
                <a:solidFill>
                  <a:srgbClr val="FF0000"/>
                </a:solidFill>
                <a:latin typeface="Arial"/>
              </a:rPr>
              <a:t>C2 ( 89): "muscular. Os carboidratos ... gorduras boas"  </a:t>
            </a:r>
          </a:p>
          <a:p>
            <a:r>
              <a:rPr lang="pt-BR" sz="950" spc="-1">
                <a:solidFill>
                  <a:srgbClr val="FF0000"/>
                </a:solidFill>
                <a:latin typeface="Arial"/>
              </a:rPr>
              <a:t>C3 ( 47): "gorduras boas auxiliam ... vitaminas"</a:t>
            </a:r>
            <a:endParaRPr lang="en-US" sz="950" spc="-1">
              <a:solidFill>
                <a:srgbClr val="FF0000"/>
              </a:solidFill>
              <a:latin typeface="Arial"/>
            </a:endParaRPr>
          </a:p>
          <a:p>
            <a:endParaRPr lang="en-US" sz="950" spc="-1">
              <a:solidFill>
                <a:srgbClr val="FF0000"/>
              </a:solidFill>
              <a:latin typeface="Arial"/>
            </a:endParaRPr>
          </a:p>
        </p:txBody>
      </p:sp>
      <p:sp>
        <p:nvSpPr>
          <p:cNvPr id="96" name="Shape 4"/>
          <p:cNvSpPr/>
          <p:nvPr/>
        </p:nvSpPr>
        <p:spPr>
          <a:xfrm>
            <a:off x="7452360" y="1920240"/>
            <a:ext cx="4160160" cy="3496310"/>
          </a:xfrm>
          <a:prstGeom prst="roundRect">
            <a:avLst>
              <a:gd name="adj" fmla="val 2353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5"/>
          <p:cNvSpPr/>
          <p:nvPr/>
        </p:nvSpPr>
        <p:spPr>
          <a:xfrm>
            <a:off x="7726680" y="21031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3E9E6E"/>
                </a:solidFill>
                <a:latin typeface="Cambria"/>
                <a:ea typeface="Cambria"/>
              </a:rPr>
              <a:t>Quando usar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7726680" y="248724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52280" indent="-152280" defTabSz="914400">
              <a:lnSpc>
                <a:spcPct val="100000"/>
              </a:lnSpc>
              <a:spcAft>
                <a:spcPts val="4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5A6072"/>
                </a:solidFill>
                <a:latin typeface="Calibri"/>
                <a:ea typeface="Calibri"/>
              </a:rPr>
              <a:t>base de todo RAG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5A6072"/>
                </a:solidFill>
                <a:latin typeface="Calibri"/>
                <a:ea typeface="Calibri"/>
              </a:rPr>
              <a:t>rápido e sem custo extra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5A6072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5A6072"/>
                </a:solidFill>
                <a:latin typeface="Calibri"/>
                <a:ea typeface="Calibri"/>
              </a:rPr>
              <a:t>ótimo p/ PDF de texto corrido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7726680" y="37490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C4506B"/>
                </a:solidFill>
                <a:latin typeface="Cambria"/>
                <a:ea typeface="Cambria"/>
              </a:rPr>
              <a:t>Cuidado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7726680" y="413316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52280" indent="-152280" defTabSz="914400">
              <a:lnSpc>
                <a:spcPct val="100000"/>
              </a:lnSpc>
              <a:spcAft>
                <a:spcPts val="4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5A6072"/>
                </a:solidFill>
                <a:latin typeface="Calibri"/>
                <a:ea typeface="Calibri"/>
              </a:rPr>
              <a:t>fixo corta no meio da frase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5A6072"/>
                </a:solidFill>
                <a:latin typeface="Calibri"/>
                <a:ea typeface="Calibri"/>
              </a:rPr>
              <a:t>recursivo = padrão sensato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5A6072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5A6072"/>
                </a:solidFill>
                <a:latin typeface="Calibri"/>
                <a:ea typeface="Calibri"/>
              </a:rPr>
              <a:t>ajuste size/overlap ao caso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25347A56-B073-8506-5297-0DB49EC9C23F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5F7CB975-5CAE-2F88-1A3E-EFA3DF0E77D0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24</a:t>
            </a:fld>
            <a:endParaRPr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066094F-C7A1-5904-60F3-624239696929}"/>
              </a:ext>
            </a:extLst>
          </p:cNvPr>
          <p:cNvSpPr txBox="1"/>
          <p:nvPr/>
        </p:nvSpPr>
        <p:spPr>
          <a:xfrm>
            <a:off x="9213850" y="21918"/>
            <a:ext cx="239867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i="1">
                <a:solidFill>
                  <a:srgbClr val="FF0000"/>
                </a:solidFill>
              </a:rPr>
              <a:t>“A ingestão adequada de proteínas é essencial para a manutenção da massa muscular. Os carboidratos fornecem energia rápida ao organismo, enquanto as gorduras boas auxiliam na absorção de vitaminas”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 err="1">
                <a:solidFill>
                  <a:srgbClr val="1E2761"/>
                </a:solidFill>
                <a:latin typeface="Cambria"/>
                <a:ea typeface="Cambria"/>
              </a:rPr>
              <a:t>Chunking em código (2): estrutural e semântico</a:t>
            </a:r>
          </a:p>
        </p:txBody>
      </p:sp>
      <p:sp>
        <p:nvSpPr>
          <p:cNvPr id="93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As duas estratégias sofisticadas — quando o texto pede mais.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2"/>
          <p:cNvSpPr/>
          <p:nvPr/>
        </p:nvSpPr>
        <p:spPr>
          <a:xfrm>
            <a:off x="548640" y="1920240"/>
            <a:ext cx="6674760" cy="3477260"/>
          </a:xfrm>
          <a:prstGeom prst="roundRect">
            <a:avLst>
              <a:gd name="adj" fmla="val 1765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3"/>
          <p:cNvSpPr/>
          <p:nvPr/>
        </p:nvSpPr>
        <p:spPr>
          <a:xfrm>
            <a:off x="749880" y="2057400"/>
            <a:ext cx="6272280" cy="283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950" b="0" strike="noStrike" spc="-1">
                <a:solidFill>
                  <a:srgbClr val="6E79A0"/>
                </a:solidFill>
                <a:latin typeface="Consolas"/>
                <a:ea typeface="Consolas"/>
              </a:rPr>
              <a:t># 3) </a:t>
            </a:r>
            <a:r>
              <a:rPr lang="en-US" sz="950" b="0" strike="noStrike" spc="-1" err="1">
                <a:solidFill>
                  <a:srgbClr val="6E79A0"/>
                </a:solidFill>
                <a:latin typeface="Consolas"/>
                <a:ea typeface="Consolas"/>
              </a:rPr>
              <a:t>Estrutural</a:t>
            </a:r>
            <a:r>
              <a:rPr lang="en-US" sz="950" b="0" strike="noStrike" spc="-1">
                <a:solidFill>
                  <a:srgbClr val="6E79A0"/>
                </a:solidFill>
                <a:latin typeface="Consolas"/>
                <a:ea typeface="Consolas"/>
              </a:rPr>
              <a:t> — </a:t>
            </a:r>
            <a:r>
              <a:rPr lang="en-US" sz="950" b="0" strike="noStrike" spc="-1" err="1">
                <a:solidFill>
                  <a:srgbClr val="6E79A0"/>
                </a:solidFill>
                <a:latin typeface="Consolas"/>
                <a:ea typeface="Consolas"/>
              </a:rPr>
              <a:t>corta</a:t>
            </a:r>
            <a:r>
              <a:rPr lang="en-US" sz="950" b="0" strike="noStrike" spc="-1">
                <a:solidFill>
                  <a:srgbClr val="6E79A0"/>
                </a:solidFill>
                <a:latin typeface="Consolas"/>
                <a:ea typeface="Consolas"/>
              </a:rPr>
              <a:t> </a:t>
            </a:r>
            <a:r>
              <a:rPr lang="en-US" sz="950" b="0" strike="noStrike" spc="-1" err="1">
                <a:solidFill>
                  <a:srgbClr val="6E79A0"/>
                </a:solidFill>
                <a:latin typeface="Consolas"/>
                <a:ea typeface="Consolas"/>
              </a:rPr>
              <a:t>por</a:t>
            </a:r>
            <a:r>
              <a:rPr lang="en-US" sz="950" b="0" strike="noStrike" spc="-1">
                <a:solidFill>
                  <a:srgbClr val="6E79A0"/>
                </a:solidFill>
                <a:latin typeface="Consolas"/>
                <a:ea typeface="Consolas"/>
              </a:rPr>
              <a:t> </a:t>
            </a:r>
            <a:r>
              <a:rPr lang="en-US" sz="950" b="0" strike="noStrike" spc="-1" err="1">
                <a:solidFill>
                  <a:srgbClr val="6E79A0"/>
                </a:solidFill>
                <a:latin typeface="Consolas"/>
                <a:ea typeface="Consolas"/>
              </a:rPr>
              <a:t>cabeçalhos</a:t>
            </a:r>
            <a:r>
              <a:rPr lang="en-US" sz="950" b="0" strike="noStrike" spc="-1">
                <a:solidFill>
                  <a:srgbClr val="6E79A0"/>
                </a:solidFill>
                <a:latin typeface="Consolas"/>
                <a:ea typeface="Consolas"/>
              </a:rPr>
              <a:t> do doc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950" b="0" strike="noStrike" spc="-1">
                <a:solidFill>
                  <a:srgbClr val="C79BF0"/>
                </a:solidFill>
                <a:latin typeface="Consolas"/>
                <a:ea typeface="Consolas"/>
              </a:rPr>
              <a:t>import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 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langchain.text_splitter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 </a:t>
            </a:r>
            <a:r>
              <a:rPr lang="en-US" sz="950" b="0" strike="noStrike" spc="-1">
                <a:solidFill>
                  <a:srgbClr val="C79BF0"/>
                </a:solidFill>
                <a:latin typeface="Consolas"/>
                <a:ea typeface="Consolas"/>
              </a:rPr>
              <a:t>as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 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ts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h = [(</a:t>
            </a:r>
            <a:r>
              <a:rPr lang="en-US" sz="950" b="0" strike="noStrike" spc="-1">
                <a:solidFill>
                  <a:srgbClr val="9FE2BF"/>
                </a:solidFill>
                <a:latin typeface="Consolas"/>
                <a:ea typeface="Consolas"/>
              </a:rPr>
              <a:t>"#"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,</a:t>
            </a:r>
            <a:r>
              <a:rPr lang="en-US" sz="950" b="0" strike="noStrike" spc="-1">
                <a:solidFill>
                  <a:srgbClr val="9FE2BF"/>
                </a:solidFill>
                <a:latin typeface="Consolas"/>
                <a:ea typeface="Consolas"/>
              </a:rPr>
              <a:t>"h1"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), (</a:t>
            </a:r>
            <a:r>
              <a:rPr lang="en-US" sz="950" b="0" strike="noStrike" spc="-1">
                <a:solidFill>
                  <a:srgbClr val="9FE2BF"/>
                </a:solidFill>
                <a:latin typeface="Consolas"/>
                <a:ea typeface="Consolas"/>
              </a:rPr>
              <a:t>"##"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,</a:t>
            </a:r>
            <a:r>
              <a:rPr lang="en-US" sz="950" b="0" strike="noStrike" spc="-1">
                <a:solidFill>
                  <a:srgbClr val="9FE2BF"/>
                </a:solidFill>
                <a:latin typeface="Consolas"/>
                <a:ea typeface="Consolas"/>
              </a:rPr>
              <a:t>"h2"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), (</a:t>
            </a:r>
            <a:r>
              <a:rPr lang="en-US" sz="950" b="0" strike="noStrike" spc="-1">
                <a:solidFill>
                  <a:srgbClr val="9FE2BF"/>
                </a:solidFill>
                <a:latin typeface="Consolas"/>
                <a:ea typeface="Consolas"/>
              </a:rPr>
              <a:t>"###"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,</a:t>
            </a:r>
            <a:r>
              <a:rPr lang="en-US" sz="950" b="0" strike="noStrike" spc="-1">
                <a:solidFill>
                  <a:srgbClr val="9FE2BF"/>
                </a:solidFill>
                <a:latin typeface="Consolas"/>
                <a:ea typeface="Consolas"/>
              </a:rPr>
              <a:t>"h3"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)]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sp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 = 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ts.MarkdownHeaderTextSplitter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(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headers_to_split_on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=h)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chunks = 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sp.split_text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(markdown)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950" b="1" u="sng" spc="-1" err="1">
                <a:solidFill>
                  <a:srgbClr val="FF0000"/>
                </a:solidFill>
                <a:latin typeface="Consolas"/>
              </a:rPr>
              <a:t>Resultado</a:t>
            </a:r>
            <a:r>
              <a:rPr lang="en-US" sz="950" b="1" u="sng" spc="-1">
                <a:solidFill>
                  <a:srgbClr val="FF0000"/>
                </a:solidFill>
                <a:latin typeface="Consolas"/>
              </a:rPr>
              <a:t>:</a:t>
            </a:r>
          </a:p>
          <a:p>
            <a:r>
              <a:rPr lang="pt-BR" sz="950" spc="-1">
                <a:solidFill>
                  <a:srgbClr val="FF0000"/>
                </a:solidFill>
                <a:latin typeface="Arial"/>
              </a:rPr>
              <a:t>C1: </a:t>
            </a:r>
            <a:r>
              <a:rPr lang="pt-BR" sz="950" spc="-1" err="1">
                <a:solidFill>
                  <a:srgbClr val="FF0000"/>
                </a:solidFill>
                <a:latin typeface="Arial"/>
              </a:rPr>
              <a:t>page_content</a:t>
            </a:r>
            <a:r>
              <a:rPr lang="pt-BR" sz="950" spc="-1">
                <a:solidFill>
                  <a:srgbClr val="FF0000"/>
                </a:solidFill>
                <a:latin typeface="Arial"/>
              </a:rPr>
              <a:t> = "A ingestão adequada de proteínas é essencial para a manutenção da massa muscular."    </a:t>
            </a:r>
            <a:r>
              <a:rPr lang="pt-BR" sz="950" spc="-1" err="1">
                <a:solidFill>
                  <a:srgbClr val="FF0000"/>
                </a:solidFill>
                <a:latin typeface="Arial"/>
              </a:rPr>
              <a:t>metadata</a:t>
            </a:r>
            <a:r>
              <a:rPr lang="pt-BR" sz="950" spc="-1">
                <a:solidFill>
                  <a:srgbClr val="FF0000"/>
                </a:solidFill>
                <a:latin typeface="Arial"/>
              </a:rPr>
              <a:t>     = {'h1': 'Nutrientes', 'h2': 'Proteínas’}</a:t>
            </a:r>
          </a:p>
          <a:p>
            <a:r>
              <a:rPr lang="pt-BR" sz="950" spc="-1">
                <a:solidFill>
                  <a:srgbClr val="FF0000"/>
                </a:solidFill>
                <a:latin typeface="Arial"/>
              </a:rPr>
              <a:t>C2: </a:t>
            </a:r>
            <a:r>
              <a:rPr lang="pt-BR" sz="950" spc="-1" err="1">
                <a:solidFill>
                  <a:srgbClr val="FF0000"/>
                </a:solidFill>
                <a:latin typeface="Arial"/>
              </a:rPr>
              <a:t>page_content</a:t>
            </a:r>
            <a:r>
              <a:rPr lang="pt-BR" sz="950" spc="-1">
                <a:solidFill>
                  <a:srgbClr val="FF0000"/>
                </a:solidFill>
                <a:latin typeface="Arial"/>
              </a:rPr>
              <a:t> = "Os carboidratos fornecem energia rápida ao organismo,"    </a:t>
            </a:r>
            <a:r>
              <a:rPr lang="pt-BR" sz="950" spc="-1" err="1">
                <a:solidFill>
                  <a:srgbClr val="FF0000"/>
                </a:solidFill>
                <a:latin typeface="Arial"/>
              </a:rPr>
              <a:t>metadata</a:t>
            </a:r>
            <a:r>
              <a:rPr lang="pt-BR" sz="950" spc="-1">
                <a:solidFill>
                  <a:srgbClr val="FF0000"/>
                </a:solidFill>
                <a:latin typeface="Arial"/>
              </a:rPr>
              <a:t>     = {'h1': 'Nutrientes', 'h2': 'Carboidratos’}</a:t>
            </a:r>
          </a:p>
          <a:p>
            <a:r>
              <a:rPr lang="pt-BR" sz="950" spc="-1">
                <a:solidFill>
                  <a:srgbClr val="FF0000"/>
                </a:solidFill>
                <a:latin typeface="Arial"/>
              </a:rPr>
              <a:t>C3: </a:t>
            </a:r>
            <a:r>
              <a:rPr lang="pt-BR" sz="950" spc="-1" err="1">
                <a:solidFill>
                  <a:srgbClr val="FF0000"/>
                </a:solidFill>
                <a:latin typeface="Arial"/>
              </a:rPr>
              <a:t>page_content</a:t>
            </a:r>
            <a:r>
              <a:rPr lang="pt-BR" sz="950" spc="-1">
                <a:solidFill>
                  <a:srgbClr val="FF0000"/>
                </a:solidFill>
                <a:latin typeface="Arial"/>
              </a:rPr>
              <a:t> = "enquanto as gorduras boas auxiliam na absorção de vitaminas"    </a:t>
            </a:r>
            <a:r>
              <a:rPr lang="pt-BR" sz="950" spc="-1" err="1">
                <a:solidFill>
                  <a:srgbClr val="FF0000"/>
                </a:solidFill>
                <a:latin typeface="Arial"/>
              </a:rPr>
              <a:t>metadata</a:t>
            </a:r>
            <a:r>
              <a:rPr lang="pt-BR" sz="950" spc="-1">
                <a:solidFill>
                  <a:srgbClr val="FF0000"/>
                </a:solidFill>
                <a:latin typeface="Arial"/>
              </a:rPr>
              <a:t>     = {'h1': 'Nutrientes', 'h2': 'Gorduras’}</a:t>
            </a:r>
            <a:endParaRPr lang="en-US" sz="950" spc="-1">
              <a:solidFill>
                <a:srgbClr val="FF0000"/>
              </a:solidFill>
              <a:latin typeface="Consolas"/>
            </a:endParaRPr>
          </a:p>
          <a:p>
            <a:endParaRPr lang="en-US" sz="950" spc="-1">
              <a:solidFill>
                <a:srgbClr val="000000"/>
              </a:solidFill>
              <a:latin typeface="Arial"/>
            </a:endParaRPr>
          </a:p>
          <a:p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950" b="0" strike="noStrike" spc="-1">
                <a:solidFill>
                  <a:srgbClr val="6E79A0"/>
                </a:solidFill>
                <a:latin typeface="Consolas"/>
                <a:ea typeface="Consolas"/>
              </a:rPr>
              <a:t># 4) </a:t>
            </a:r>
            <a:r>
              <a:rPr lang="en-US" sz="950" b="0" strike="noStrike" spc="-1" err="1">
                <a:solidFill>
                  <a:srgbClr val="6E79A0"/>
                </a:solidFill>
                <a:latin typeface="Consolas"/>
                <a:ea typeface="Consolas"/>
              </a:rPr>
              <a:t>Semântico</a:t>
            </a:r>
            <a:r>
              <a:rPr lang="en-US" sz="950" b="0" strike="noStrike" spc="-1">
                <a:solidFill>
                  <a:srgbClr val="6E79A0"/>
                </a:solidFill>
                <a:latin typeface="Consolas"/>
                <a:ea typeface="Consolas"/>
              </a:rPr>
              <a:t> — </a:t>
            </a:r>
            <a:r>
              <a:rPr lang="en-US" sz="950" b="0" strike="noStrike" spc="-1" err="1">
                <a:solidFill>
                  <a:srgbClr val="6E79A0"/>
                </a:solidFill>
                <a:latin typeface="Consolas"/>
                <a:ea typeface="Consolas"/>
              </a:rPr>
              <a:t>corta</a:t>
            </a:r>
            <a:r>
              <a:rPr lang="en-US" sz="950" b="0" strike="noStrike" spc="-1">
                <a:solidFill>
                  <a:srgbClr val="6E79A0"/>
                </a:solidFill>
                <a:latin typeface="Consolas"/>
                <a:ea typeface="Consolas"/>
              </a:rPr>
              <a:t> </a:t>
            </a:r>
            <a:r>
              <a:rPr lang="en-US" sz="950" b="0" strike="noStrike" spc="-1" err="1">
                <a:solidFill>
                  <a:srgbClr val="6E79A0"/>
                </a:solidFill>
                <a:latin typeface="Consolas"/>
                <a:ea typeface="Consolas"/>
              </a:rPr>
              <a:t>onde</a:t>
            </a:r>
            <a:r>
              <a:rPr lang="en-US" sz="950" b="0" strike="noStrike" spc="-1">
                <a:solidFill>
                  <a:srgbClr val="6E79A0"/>
                </a:solidFill>
                <a:latin typeface="Consolas"/>
                <a:ea typeface="Consolas"/>
              </a:rPr>
              <a:t> o </a:t>
            </a:r>
            <a:r>
              <a:rPr lang="en-US" sz="950" b="0" strike="noStrike" spc="-1" err="1">
                <a:solidFill>
                  <a:srgbClr val="6E79A0"/>
                </a:solidFill>
                <a:latin typeface="Consolas"/>
                <a:ea typeface="Consolas"/>
              </a:rPr>
              <a:t>assunto</a:t>
            </a:r>
            <a:r>
              <a:rPr lang="en-US" sz="950" b="0" strike="noStrike" spc="-1">
                <a:solidFill>
                  <a:srgbClr val="6E79A0"/>
                </a:solidFill>
                <a:latin typeface="Consolas"/>
                <a:ea typeface="Consolas"/>
              </a:rPr>
              <a:t> </a:t>
            </a:r>
            <a:r>
              <a:rPr lang="en-US" sz="950" b="0" strike="noStrike" spc="-1" err="1">
                <a:solidFill>
                  <a:srgbClr val="6E79A0"/>
                </a:solidFill>
                <a:latin typeface="Consolas"/>
                <a:ea typeface="Consolas"/>
              </a:rPr>
              <a:t>muda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950" b="0" strike="noStrike" spc="-1">
                <a:solidFill>
                  <a:srgbClr val="C79BF0"/>
                </a:solidFill>
                <a:latin typeface="Consolas"/>
                <a:ea typeface="Consolas"/>
              </a:rPr>
              <a:t>from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 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langchain_experimental.text_splitter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 </a:t>
            </a:r>
            <a:r>
              <a:rPr lang="en-US" sz="950" b="0" strike="noStrike" spc="-1">
                <a:solidFill>
                  <a:srgbClr val="C79BF0"/>
                </a:solidFill>
                <a:latin typeface="Consolas"/>
                <a:ea typeface="Consolas"/>
              </a:rPr>
              <a:t>import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 (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    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SemanticChunker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)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950" b="0" strike="noStrike" spc="-1">
                <a:solidFill>
                  <a:srgbClr val="C79BF0"/>
                </a:solidFill>
                <a:latin typeface="Consolas"/>
                <a:ea typeface="Consolas"/>
              </a:rPr>
              <a:t>from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 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langchain_openai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 </a:t>
            </a:r>
            <a:r>
              <a:rPr lang="en-US" sz="950" b="0" strike="noStrike" spc="-1">
                <a:solidFill>
                  <a:srgbClr val="C79BF0"/>
                </a:solidFill>
                <a:latin typeface="Consolas"/>
                <a:ea typeface="Consolas"/>
              </a:rPr>
              <a:t>import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 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OpenAIEmbeddings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sp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 = 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SemanticChunker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(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OpenAIEmbeddings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())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chunks = 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sp.create_documents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([</a:t>
            </a:r>
            <a:r>
              <a:rPr lang="en-US" sz="950" b="0" strike="noStrike" spc="-1" err="1">
                <a:solidFill>
                  <a:srgbClr val="CADCFC"/>
                </a:solidFill>
                <a:latin typeface="Consolas"/>
                <a:ea typeface="Consolas"/>
              </a:rPr>
              <a:t>texto</a:t>
            </a:r>
            <a:r>
              <a:rPr lang="en-US" sz="950" b="0" strike="noStrike" spc="-1">
                <a:solidFill>
                  <a:srgbClr val="CADCFC"/>
                </a:solidFill>
                <a:latin typeface="Consolas"/>
                <a:ea typeface="Consolas"/>
              </a:rPr>
              <a:t>])</a:t>
            </a:r>
          </a:p>
        </p:txBody>
      </p:sp>
      <p:sp>
        <p:nvSpPr>
          <p:cNvPr id="96" name="Shape 4"/>
          <p:cNvSpPr/>
          <p:nvPr/>
        </p:nvSpPr>
        <p:spPr>
          <a:xfrm>
            <a:off x="7452360" y="2269490"/>
            <a:ext cx="4160160" cy="3108600"/>
          </a:xfrm>
          <a:prstGeom prst="roundRect">
            <a:avLst>
              <a:gd name="adj" fmla="val 2353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5"/>
          <p:cNvSpPr/>
          <p:nvPr/>
        </p:nvSpPr>
        <p:spPr>
          <a:xfrm>
            <a:off x="7726680" y="245237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3E9E6E"/>
                </a:solidFill>
                <a:latin typeface="Cambria"/>
                <a:ea typeface="Cambria"/>
              </a:rPr>
              <a:t>Estrutural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7726680" y="283649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52280" indent="-152280" defTabSz="914400">
              <a:lnSpc>
                <a:spcPct val="100000"/>
              </a:lnSpc>
              <a:spcAft>
                <a:spcPts val="4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5A6072"/>
                </a:solidFill>
                <a:latin typeface="Calibri"/>
                <a:ea typeface="Calibri"/>
              </a:rPr>
              <a:t>ideal p/ Markdown, HTML, código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5A6072"/>
                </a:solidFill>
                <a:latin typeface="Calibri"/>
                <a:ea typeface="Calibri"/>
              </a:rPr>
              <a:t>cada seção vira um chunk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5A6072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5A6072"/>
                </a:solidFill>
                <a:latin typeface="Calibri"/>
                <a:ea typeface="Calibri"/>
              </a:rPr>
              <a:t>metadados citam a fonte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7726680" y="409829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C4506B"/>
                </a:solidFill>
                <a:latin typeface="Cambria"/>
                <a:ea typeface="Cambria"/>
              </a:rPr>
              <a:t>Semântico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7726680" y="448241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52280" indent="-152280" defTabSz="914400">
              <a:lnSpc>
                <a:spcPct val="100000"/>
              </a:lnSpc>
              <a:spcAft>
                <a:spcPts val="4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5A6072"/>
                </a:solidFill>
                <a:latin typeface="Calibri"/>
                <a:ea typeface="Calibri"/>
              </a:rPr>
              <a:t>cada chunk = uma ideia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5A6072"/>
                </a:solidFill>
                <a:latin typeface="Calibri"/>
                <a:ea typeface="Calibri"/>
              </a:rPr>
              <a:t>custa embeddings a mais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5A6072"/>
              </a:buClr>
              <a:buFont typeface="Symbol" charset="2"/>
              <a:buChar char=""/>
            </a:pPr>
            <a:r>
              <a:rPr lang="en-US" sz="1200" b="0" strike="noStrike" spc="-1">
                <a:solidFill>
                  <a:srgbClr val="5A6072"/>
                </a:solidFill>
                <a:latin typeface="Calibri"/>
                <a:ea typeface="Calibri"/>
              </a:rPr>
              <a:t>brilha em texto denso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25347A56-B073-8506-5297-0DB49EC9C23F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5F7CB975-5CAE-2F88-1A3E-EFA3DF0E77D0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25</a:t>
            </a:fld>
            <a:endParaRPr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9AAE9E8-8829-B036-7679-C21522FA187C}"/>
              </a:ext>
            </a:extLst>
          </p:cNvPr>
          <p:cNvSpPr txBox="1"/>
          <p:nvPr/>
        </p:nvSpPr>
        <p:spPr>
          <a:xfrm>
            <a:off x="8921750" y="114277"/>
            <a:ext cx="26708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400" err="1">
                <a:solidFill>
                  <a:srgbClr val="FF0000"/>
                </a:solidFill>
              </a:rPr>
              <a:t>markdown</a:t>
            </a:r>
            <a:r>
              <a:rPr lang="pt-BR" sz="1400">
                <a:solidFill>
                  <a:srgbClr val="FF0000"/>
                </a:solidFill>
              </a:rPr>
              <a:t> = </a:t>
            </a:r>
            <a:r>
              <a:rPr lang="pt-BR" sz="1400">
                <a:solidFill>
                  <a:srgbClr val="FF0000"/>
                </a:solidFill>
                <a:effectLst/>
              </a:rPr>
              <a:t>"""# Nutrientes</a:t>
            </a:r>
            <a:r>
              <a:rPr lang="pt-BR" sz="1400">
                <a:solidFill>
                  <a:srgbClr val="FF0000"/>
                </a:solidFill>
              </a:rPr>
              <a:t> </a:t>
            </a:r>
            <a:r>
              <a:rPr lang="pt-BR" sz="1400">
                <a:solidFill>
                  <a:srgbClr val="FF0000"/>
                </a:solidFill>
                <a:effectLst/>
              </a:rPr>
              <a:t>## Proteínas</a:t>
            </a:r>
            <a:r>
              <a:rPr lang="pt-BR" sz="1400">
                <a:solidFill>
                  <a:srgbClr val="FF0000"/>
                </a:solidFill>
              </a:rPr>
              <a:t> </a:t>
            </a:r>
            <a:r>
              <a:rPr lang="pt-BR" sz="1400">
                <a:solidFill>
                  <a:srgbClr val="FF0000"/>
                </a:solidFill>
                <a:effectLst/>
              </a:rPr>
              <a:t>A ingestão adequada de proteínas é essencial para a manutenção da massa muscular.</a:t>
            </a:r>
            <a:r>
              <a:rPr lang="pt-BR" sz="1400">
                <a:solidFill>
                  <a:srgbClr val="FF0000"/>
                </a:solidFill>
              </a:rPr>
              <a:t> </a:t>
            </a:r>
            <a:r>
              <a:rPr lang="pt-BR" sz="1400">
                <a:solidFill>
                  <a:srgbClr val="FF0000"/>
                </a:solidFill>
                <a:effectLst/>
              </a:rPr>
              <a:t>## Carboidratos</a:t>
            </a:r>
            <a:r>
              <a:rPr lang="pt-BR" sz="1400">
                <a:solidFill>
                  <a:srgbClr val="FF0000"/>
                </a:solidFill>
              </a:rPr>
              <a:t> </a:t>
            </a:r>
            <a:r>
              <a:rPr lang="pt-BR" sz="1400">
                <a:solidFill>
                  <a:srgbClr val="FF0000"/>
                </a:solidFill>
                <a:effectLst/>
              </a:rPr>
              <a:t>Os carboidratos fornecem energia rápida ao organismo,</a:t>
            </a:r>
            <a:r>
              <a:rPr lang="pt-BR" sz="1400">
                <a:solidFill>
                  <a:srgbClr val="FF0000"/>
                </a:solidFill>
              </a:rPr>
              <a:t> </a:t>
            </a:r>
            <a:r>
              <a:rPr lang="pt-BR" sz="1400">
                <a:solidFill>
                  <a:srgbClr val="FF0000"/>
                </a:solidFill>
                <a:effectLst/>
              </a:rPr>
              <a:t>## Gorduras</a:t>
            </a:r>
            <a:r>
              <a:rPr lang="pt-BR" sz="1400">
                <a:solidFill>
                  <a:srgbClr val="FF0000"/>
                </a:solidFill>
              </a:rPr>
              <a:t> </a:t>
            </a:r>
            <a:r>
              <a:rPr lang="pt-BR" sz="1400">
                <a:solidFill>
                  <a:srgbClr val="FF0000"/>
                </a:solidFill>
                <a:effectLst/>
              </a:rPr>
              <a:t>enquanto as gorduras boas auxiliam na absorção de vitaminas"""</a:t>
            </a:r>
            <a:endParaRPr lang="pt-BR" sz="1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Do conceito à história de backlog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O que aprendemos vira a base para imaginar o que construir.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2"/>
          <p:cNvSpPr/>
          <p:nvPr/>
        </p:nvSpPr>
        <p:spPr>
          <a:xfrm>
            <a:off x="548640" y="1965960"/>
            <a:ext cx="3931560" cy="1096920"/>
          </a:xfrm>
          <a:prstGeom prst="roundRect">
            <a:avLst>
              <a:gd name="adj" fmla="val 6667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3"/>
          <p:cNvSpPr/>
          <p:nvPr/>
        </p:nvSpPr>
        <p:spPr>
          <a:xfrm>
            <a:off x="777240" y="213048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LLM / prompting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777240" y="256032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6E79A0"/>
                </a:solidFill>
                <a:latin typeface="Calibri"/>
                <a:ea typeface="Calibri"/>
              </a:rPr>
              <a:t>gerar, resumir, responder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4526280" y="1965960"/>
            <a:ext cx="4568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4F7BE8"/>
                </a:solidFill>
                <a:latin typeface="Calibri"/>
                <a:ea typeface="Calibri"/>
              </a:rPr>
              <a:t>→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6"/>
          <p:cNvSpPr/>
          <p:nvPr/>
        </p:nvSpPr>
        <p:spPr>
          <a:xfrm>
            <a:off x="5074920" y="1965960"/>
            <a:ext cx="6537600" cy="1096920"/>
          </a:xfrm>
          <a:prstGeom prst="roundRect">
            <a:avLst>
              <a:gd name="adj" fmla="val 6667"/>
            </a:avLst>
          </a:prstGeom>
          <a:solidFill>
            <a:srgbClr val="F8FAFE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5349240" y="2130480"/>
            <a:ext cx="60346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5A6072"/>
                </a:solidFill>
                <a:latin typeface="Calibri"/>
                <a:ea typeface="Calibri"/>
              </a:rPr>
              <a:t>"como usuário, quero resumir um chamado longo"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8"/>
          <p:cNvSpPr/>
          <p:nvPr/>
        </p:nvSpPr>
        <p:spPr>
          <a:xfrm>
            <a:off x="548640" y="3200400"/>
            <a:ext cx="3931560" cy="1096920"/>
          </a:xfrm>
          <a:prstGeom prst="roundRect">
            <a:avLst>
              <a:gd name="adj" fmla="val 6667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777240" y="336492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Embeddings / RAG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0"/>
          <p:cNvSpPr/>
          <p:nvPr/>
        </p:nvSpPr>
        <p:spPr>
          <a:xfrm>
            <a:off x="777240" y="379476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6E79A0"/>
                </a:solidFill>
                <a:latin typeface="Calibri"/>
                <a:ea typeface="Calibri"/>
              </a:rPr>
              <a:t>responder com base no dado do parceiro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4526280" y="3200400"/>
            <a:ext cx="4568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4F7BE8"/>
                </a:solidFill>
                <a:latin typeface="Calibri"/>
                <a:ea typeface="Calibri"/>
              </a:rPr>
              <a:t>→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12"/>
          <p:cNvSpPr/>
          <p:nvPr/>
        </p:nvSpPr>
        <p:spPr>
          <a:xfrm>
            <a:off x="5074920" y="3200400"/>
            <a:ext cx="6537600" cy="1096920"/>
          </a:xfrm>
          <a:prstGeom prst="roundRect">
            <a:avLst>
              <a:gd name="adj" fmla="val 6667"/>
            </a:avLst>
          </a:prstGeom>
          <a:solidFill>
            <a:srgbClr val="F8FAFE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13"/>
          <p:cNvSpPr/>
          <p:nvPr/>
        </p:nvSpPr>
        <p:spPr>
          <a:xfrm>
            <a:off x="5349240" y="3364920"/>
            <a:ext cx="60346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5A6072"/>
                </a:solidFill>
                <a:latin typeface="Calibri"/>
                <a:ea typeface="Calibri"/>
              </a:rPr>
              <a:t>"...quero perguntar ao manual do parceiro"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4"/>
          <p:cNvSpPr/>
          <p:nvPr/>
        </p:nvSpPr>
        <p:spPr>
          <a:xfrm>
            <a:off x="548640" y="4434840"/>
            <a:ext cx="3931560" cy="1096920"/>
          </a:xfrm>
          <a:prstGeom prst="roundRect">
            <a:avLst>
              <a:gd name="adj" fmla="val 6667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5"/>
          <p:cNvSpPr/>
          <p:nvPr/>
        </p:nvSpPr>
        <p:spPr>
          <a:xfrm>
            <a:off x="777240" y="4599360"/>
            <a:ext cx="3565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Agentes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6"/>
          <p:cNvSpPr/>
          <p:nvPr/>
        </p:nvSpPr>
        <p:spPr>
          <a:xfrm>
            <a:off x="777240" y="502920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6E79A0"/>
                </a:solidFill>
                <a:latin typeface="Calibri"/>
                <a:ea typeface="Calibri"/>
              </a:rPr>
              <a:t>executar ações, não só responder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7"/>
          <p:cNvSpPr/>
          <p:nvPr/>
        </p:nvSpPr>
        <p:spPr>
          <a:xfrm>
            <a:off x="4526280" y="4434840"/>
            <a:ext cx="4568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4F7BE8"/>
                </a:solidFill>
                <a:latin typeface="Calibri"/>
                <a:ea typeface="Calibri"/>
              </a:rPr>
              <a:t>→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8"/>
          <p:cNvSpPr/>
          <p:nvPr/>
        </p:nvSpPr>
        <p:spPr>
          <a:xfrm>
            <a:off x="5074920" y="4434840"/>
            <a:ext cx="6537600" cy="10969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19"/>
          <p:cNvSpPr/>
          <p:nvPr/>
        </p:nvSpPr>
        <p:spPr>
          <a:xfrm>
            <a:off x="5349240" y="4599360"/>
            <a:ext cx="60346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CADCFC"/>
                </a:solidFill>
                <a:latin typeface="Calibri"/>
                <a:ea typeface="Calibri"/>
              </a:rPr>
              <a:t>"...quero que o sistema abra o chamado sozinho"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20"/>
          <p:cNvSpPr/>
          <p:nvPr/>
        </p:nvSpPr>
        <p:spPr>
          <a:xfrm>
            <a:off x="548640" y="571500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Regra de ouro do backlog: se você consegue dar um exemplo de pergunta e a resposta esperada, a história está pronta!</a:t>
            </a:r>
            <a:endParaRPr lang="pt-BR" sz="1600" b="0" strike="noStrike" spc="-1">
              <a:solidFill>
                <a:srgbClr val="FF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64664BF7-E165-AF96-5738-2E18DC99F876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BAE0476D-55B6-3E38-ED5F-908CE2A72D00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Slide </a:t>
            </a:r>
            <a:fld id="{7290D235-C2D4-4290-85EC-134EBAF84FCB}" type="slidenum">
              <a:rPr lang="pt-BR"/>
              <a:pPr/>
              <a:t>26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f534e9f2-b7ec-4ccc-a69c-51d3e3635b4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A2D2C2733B7342A34F941B973AA6E6" ma:contentTypeVersion="9" ma:contentTypeDescription="Crie um novo documento." ma:contentTypeScope="" ma:versionID="0683c89334ed78834fe33c164e772971">
  <xsd:schema xmlns:xsd="http://www.w3.org/2001/XMLSchema" xmlns:xs="http://www.w3.org/2001/XMLSchema" xmlns:p="http://schemas.microsoft.com/office/2006/metadata/properties" xmlns:ns2="f534e9f2-b7ec-4ccc-a69c-51d3e3635b48" xmlns:ns3="bf55bb95-0e2d-49eb-8730-bda5c0a73d75" targetNamespace="http://schemas.microsoft.com/office/2006/metadata/properties" ma:root="true" ma:fieldsID="b6ff691edaa762fc51b4ef2dd0edebb2" ns2:_="" ns3:_="">
    <xsd:import namespace="f534e9f2-b7ec-4ccc-a69c-51d3e3635b4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4e9f2-b7ec-4ccc-a69c-51d3e3635b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5afc77d-9220-47df-90d7-402ba00a53d1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FC3E3DF-5096-4DDC-91C8-27D384DF88E1}">
  <ds:schemaRefs>
    <ds:schemaRef ds:uri="bf55bb95-0e2d-49eb-8730-bda5c0a73d75"/>
    <ds:schemaRef ds:uri="f534e9f2-b7ec-4ccc-a69c-51d3e3635b48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E835BE2-51F9-422E-A167-5DE97A0BACF5}">
  <ds:schemaRefs>
    <ds:schemaRef ds:uri="bf55bb95-0e2d-49eb-8730-bda5c0a73d75"/>
    <ds:schemaRef ds:uri="f534e9f2-b7ec-4ccc-a69c-51d3e3635b4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81B59DA-21FA-4F22-A7B5-F500F71F408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26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modified xsi:type="dcterms:W3CDTF">2026-09-24T11:51:53Z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2026-09-11T23:03:20Z</dcterms:created>
  <dc:creator>PptxGenJS</dc:creator>
  <dc:description/>
  <dc:language>en-US</dc:language>
  <cp:lastModifiedBy>PptxGenJS</cp:lastModifiedBy>
  <dcterms:modified xsi:type="dcterms:W3CDTF">2026-09-11T23:03:20Z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8</vt:r8>
  </property>
  <property fmtid="{D5CDD505-2E9C-101B-9397-08002B2CF9AE}" pid="3" name="PresentationFormat">
    <vt:lpwstr>On-screen Show (16:9)</vt:lpwstr>
  </property>
  <property fmtid="{D5CDD505-2E9C-101B-9397-08002B2CF9AE}" pid="4" name="Slides">
    <vt:r8>8</vt:r8>
  </property>
  <property fmtid="{D5CDD505-2E9C-101B-9397-08002B2CF9AE}" pid="5" name="ContentTypeId">
    <vt:lpwstr>0x01010078A2D2C2733B7342A34F941B973AA6E6</vt:lpwstr>
  </property>
  <property fmtid="{D5CDD505-2E9C-101B-9397-08002B2CF9AE}" pid="6" name="MediaServiceImageTags">
    <vt:lpwstr/>
  </property>
</Properties>
</file>