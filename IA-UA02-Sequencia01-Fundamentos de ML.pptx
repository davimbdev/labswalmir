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3"/>
  </p:notesMasterIdLst>
  <p:sldIdLst>
    <p:sldId id="256" r:id="rId5"/>
    <p:sldId id="275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83" r:id="rId16"/>
    <p:sldId id="266" r:id="rId17"/>
    <p:sldId id="267" r:id="rId18"/>
    <p:sldId id="268" r:id="rId19"/>
    <p:sldId id="282" r:id="rId20"/>
    <p:sldId id="281" r:id="rId21"/>
    <p:sldId id="269" r:id="rId22"/>
    <p:sldId id="270" r:id="rId23"/>
    <p:sldId id="271" r:id="rId24"/>
    <p:sldId id="272" r:id="rId25"/>
    <p:sldId id="276" r:id="rId26"/>
    <p:sldId id="277" r:id="rId27"/>
    <p:sldId id="278" r:id="rId28"/>
    <p:sldId id="279" r:id="rId29"/>
    <p:sldId id="280" r:id="rId30"/>
    <p:sldId id="274" r:id="rId31"/>
    <p:sldId id="273" r:id="rId3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AE693F-65C7-B5EA-7BFB-2A50C07AA4A4}" v="4" dt="2026-10-10T20:45:01.6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5/10/relationships/revisionInfo" Target="revisionInfo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 FERNANDA DINIZ HANSEN DE SOUZA" userId="S::maria.souza9@aluno.cps.sp.gov.br::e6f953b7-4999-48c9-b1c3-2686fbcbe04c" providerId="AD" clId="Web-{35AE693F-65C7-B5EA-7BFB-2A50C07AA4A4}"/>
    <pc:docChg chg="modSld">
      <pc:chgData name="MARIA FERNANDA DINIZ HANSEN DE SOUZA" userId="S::maria.souza9@aluno.cps.sp.gov.br::e6f953b7-4999-48c9-b1c3-2686fbcbe04c" providerId="AD" clId="Web-{35AE693F-65C7-B5EA-7BFB-2A50C07AA4A4}" dt="2026-10-10T20:45:01.630" v="3" actId="20577"/>
      <pc:docMkLst>
        <pc:docMk/>
      </pc:docMkLst>
      <pc:sldChg chg="modSp">
        <pc:chgData name="MARIA FERNANDA DINIZ HANSEN DE SOUZA" userId="S::maria.souza9@aluno.cps.sp.gov.br::e6f953b7-4999-48c9-b1c3-2686fbcbe04c" providerId="AD" clId="Web-{35AE693F-65C7-B5EA-7BFB-2A50C07AA4A4}" dt="2026-10-10T20:06:00.173" v="2" actId="20577"/>
        <pc:sldMkLst>
          <pc:docMk/>
          <pc:sldMk cId="0" sldId="276"/>
        </pc:sldMkLst>
        <pc:spChg chg="mod">
          <ac:chgData name="MARIA FERNANDA DINIZ HANSEN DE SOUZA" userId="S::maria.souza9@aluno.cps.sp.gov.br::e6f953b7-4999-48c9-b1c3-2686fbcbe04c" providerId="AD" clId="Web-{35AE693F-65C7-B5EA-7BFB-2A50C07AA4A4}" dt="2026-10-10T20:06:00.173" v="2" actId="20577"/>
          <ac:spMkLst>
            <pc:docMk/>
            <pc:sldMk cId="0" sldId="276"/>
            <ac:spMk id="3" creationId="{00000000-0000-0000-0000-000000000000}"/>
          </ac:spMkLst>
        </pc:spChg>
      </pc:sldChg>
      <pc:sldChg chg="modSp">
        <pc:chgData name="MARIA FERNANDA DINIZ HANSEN DE SOUZA" userId="S::maria.souza9@aluno.cps.sp.gov.br::e6f953b7-4999-48c9-b1c3-2686fbcbe04c" providerId="AD" clId="Web-{35AE693F-65C7-B5EA-7BFB-2A50C07AA4A4}" dt="2026-10-10T20:45:01.630" v="3" actId="20577"/>
        <pc:sldMkLst>
          <pc:docMk/>
          <pc:sldMk cId="0" sldId="279"/>
        </pc:sldMkLst>
        <pc:spChg chg="mod">
          <ac:chgData name="MARIA FERNANDA DINIZ HANSEN DE SOUZA" userId="S::maria.souza9@aluno.cps.sp.gov.br::e6f953b7-4999-48c9-b1c3-2686fbcbe04c" providerId="AD" clId="Web-{35AE693F-65C7-B5EA-7BFB-2A50C07AA4A4}" dt="2026-10-10T20:45:01.630" v="3" actId="20577"/>
          <ac:spMkLst>
            <pc:docMk/>
            <pc:sldMk cId="0" sldId="279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6797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Aula de fundamentos de DS/ML. Objetivo: o aluno entender de onde vem a 'inteligência' de um modelo — dados + estatística — e sair sabendo os tipos de ML e o fluxo básico.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Slide de motivação, vem ANTES do de Data Science. A explosão de dados é o problema que criou a área. Os 5 V's são o enquadramento clássico do Big Data. As barras são ilustrativas do crescimento exponencial (não são números oficiais — se quiser, citar a estimativa da IDC de ~181 zettabytes em 2025). Fechar ligando: volume impossível de tratar na mão → precisa de DS + 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Enquadramento clássico (o diagrama de Conway). Sem os três, não há DS: só computação = engenharia; só estatística = pesquisa; só domínio = opinião.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Distinção que orienta a escolha de técnica. Estruturado → ML clássico (regressão, árvore). Não estruturado → embeddings, LLMs. Semente da ênfase generativa.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Transição. A estatística é a base do ML: um modelo é, no fundo, um resumo estatístico dos dados que generaliza.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Descritiva = resumir. .describe() do pandas entrega quase tudo isso de uma vez. Média vs mediana: use o exemplo de salário com um CEO no meio para mostrar sensibilidade a outlier.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Anscombe: quatro conjuntos com a mesma média/variância e gráficos totalmente diferentes. Moral: sempre visualize antes de confiar no número.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Não aprofundar fórmula. A condicional é a chave: é a base do classificador Naive Bayes (spam) e da própria ideia de 'dado o contexto, qual a próxima palavra' num LLM.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Slide-ponte. Fixa a diferença essencial: estatística olha para trás, ML aposta no futuro. Generalização é o critério de sucesso.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Começa o bloco de ML propriamente dito. A grande virada: não escrevemos as regras — os dados as revelam.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 slide-chave da virada conceitual (Pedro Domingos). Em ML o 'programa' (o modelo) é aprendido, não escrito. É por isso que dados de qualidade importam tanto.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 slide-chave da virada conceitual (Pedro Domingos). Em ML o 'programa' (o modelo) é aprendido, não escrito. É por isso que dados de qualidade importam tanto.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2193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 mapa do ML. Foco da disciplina: supervisionado e não supervisionado. Reforço citado para completar o quadro. Rótulo (label) é a palavra-chave que separa os dois primeiros.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Regressão vs classificação é a primeira decisão do praticante. Regressão linear e árvore de decisão são os modelos de entrada — detalhados nas próximas aulas.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Não supervisionado = sem gabarito. K-Means agrupa por proximidade. Conecte com embeddings: agrupar textos parecidos é clustering de vetores — ponte com GenAI.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Um exemplo único (spam) para as três métricas de classificação, lidas da matriz de confusão. Acurácia 85%, precisão 78%, revocação 88%. Erro médio (MAE) fica num card à parte porque é de REGRESSÃO (prever número), não classificação — deixar isso explícito. Insight-chave: precisão vs revocação têm trade-off; acurácia engana em classes desbalanceadas. Ligar com avaliação de RAG/GenAI (groundedness) mais adiante.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Atividade 2 — os alunos encarnam o algoritmo. Dinâmica em grupo (os 5 grupos da Atividade 1). Parte 1: separar treino/teste e aprender os padrões dos cards = gerar o modelo. Parte 2: testar nas amostras separadas e medir acurácia. O objetivo pedagógico é sentir na pele por que se separa treino de teste — e o que 'acurácia' significa. Fechamento com o prework: o que é 'treinar um algoritmo'. Amarrar depois com o slide de treino/validação/teste.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Versão enxuta do CRISP-DM. Enfatizar que ~70% do tempo real está no passo 2 (preparar dados). Modelar é a parte pequena.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 conceito mais importante da aula prática. Overfitting = decorar; o objetivo é generalizar. A separação treino/teste é o que revela se o modelo decorou ou aprendeu.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Acurácia enganosa em classes desbalanceadas é o insight-chave. Precisão/revocação salvam. Na regressão, pensar em 'de quanto erro em média'. Prepara a avaliação de GenAI (groundedness) mais adiante.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Ferramentas que a disciplina vai usar. Os repositórios servem para os primeiros exercícios práticos e para o backlog da API (pensar em que dado alimenta o projeto).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Panorama. O eixo organizador é o RÓTULO (label): tem, não tem, tem pouco — ou nem é rótulo, é recompensa. Os quatro cards viram os quatro blocos dos próximos slides. Cor por tipo mantida no resto do bloco.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Os dois centrais lado a lado. A diferença é o rótulo. Supervisionado: 'aqui está a resposta, aprenda a prever'. Não supervisionado: 'ache padrões sem eu dizer quais'. Conecte agrupamento de embeddings → GenAI.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Reforço: sinal = recompensa, não rótulo. Semi-supervisionado: resolve o custo de rotular — muito relevante hoje (é parte de como LLMs são treinados). Não são o foco da disciplina, mas completam o quadro.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 árvore de decisão prática. Primeira pergunta sempre: tem rótulo? Depois: que tipo de resposta / há recompensa? Este é o slide que o aluno leva para o projeto da API na hora de escolher a abordagem.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Tabela de revisão. A coluna 'sinal que ensina' é o organizador conceitual de todo o bloco. Bom slide para deixar aberto durante exercícios ou para virar handout.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Slide-síntese DS × ML. A metáfora do encaixe (ML dentro de DS) é o ponto central. Exemplo-âncora do churn: DS = entender o porquê (diagnóstico, todo o ciclo); ML = prever quem sai (a etapa de modelagem). Reforçar: nem todo projeto de DS usa ML; muitos se resolvem com estatística e visualização.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Fechamento que amarra tudo e faz a ponte para o próximo bloco (DL/embeddings/LLMs). A frase-síntese: dados + estatística + generalização = a base de TODA a IA, inclusive a generativa.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594359" y="2308283"/>
            <a:ext cx="1031982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3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Fundamentos de Machine Learning</a:t>
            </a:r>
            <a:endParaRPr lang="pt-BR" sz="3800"/>
          </a:p>
        </p:txBody>
      </p:sp>
      <p:sp>
        <p:nvSpPr>
          <p:cNvPr id="6" name="Text 3"/>
          <p:cNvSpPr/>
          <p:nvPr/>
        </p:nvSpPr>
        <p:spPr>
          <a:xfrm>
            <a:off x="640080" y="342197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Computação estatística e probabilística · introdução ao aprendizado de máquina</a:t>
            </a:r>
            <a:endParaRPr lang="en-US" sz="170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31CFC9EC-B2E0-C1CB-88DF-8F86C92B46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002" t="20731" r="18964" b="13989"/>
          <a:stretch/>
        </p:blipFill>
        <p:spPr>
          <a:xfrm>
            <a:off x="735492" y="697733"/>
            <a:ext cx="2923215" cy="16779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>
                <a:solidFill>
                  <a:srgbClr val="F2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PONTO DE PARTIDA</a:t>
            </a:r>
            <a:endParaRPr lang="en-US" sz="140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 Data: a explosão de dados</a:t>
            </a:r>
            <a:endParaRPr lang="en-US" sz="320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se gerou tanto dado — e é isso que torna a Data Science necessária.</a:t>
            </a:r>
            <a:endParaRPr lang="en-US" sz="1600">
              <a:solidFill>
                <a:srgbClr val="FF0000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868680" y="4251960"/>
            <a:ext cx="457200" cy="274320"/>
          </a:xfrm>
          <a:prstGeom prst="roundRect">
            <a:avLst>
              <a:gd name="adj" fmla="val 10000"/>
            </a:avLst>
          </a:prstGeom>
          <a:solidFill>
            <a:srgbClr val="4F7BE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45720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9FB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1527048" y="4087368"/>
            <a:ext cx="457200" cy="438912"/>
          </a:xfrm>
          <a:prstGeom prst="roundRect">
            <a:avLst>
              <a:gd name="adj" fmla="val 6250"/>
            </a:avLst>
          </a:prstGeom>
          <a:solidFill>
            <a:srgbClr val="4F7BE8"/>
          </a:solidFill>
          <a:ln/>
        </p:spPr>
      </p:sp>
      <p:sp>
        <p:nvSpPr>
          <p:cNvPr id="9" name="Text 7"/>
          <p:cNvSpPr/>
          <p:nvPr/>
        </p:nvSpPr>
        <p:spPr>
          <a:xfrm>
            <a:off x="1435608" y="45720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9FB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'13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>
          <a:xfrm>
            <a:off x="2185416" y="3867912"/>
            <a:ext cx="457200" cy="658368"/>
          </a:xfrm>
          <a:prstGeom prst="roundRect">
            <a:avLst>
              <a:gd name="adj" fmla="val 6000"/>
            </a:avLst>
          </a:prstGeom>
          <a:solidFill>
            <a:srgbClr val="4F7BE8"/>
          </a:solidFill>
          <a:ln/>
        </p:spPr>
      </p:sp>
      <p:sp>
        <p:nvSpPr>
          <p:cNvPr id="11" name="Text 9"/>
          <p:cNvSpPr/>
          <p:nvPr/>
        </p:nvSpPr>
        <p:spPr>
          <a:xfrm>
            <a:off x="2093976" y="45720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9FB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'16</a:t>
            </a:r>
            <a:endParaRPr lang="en-US" sz="1100"/>
          </a:p>
        </p:txBody>
      </p:sp>
      <p:sp>
        <p:nvSpPr>
          <p:cNvPr id="12" name="Shape 10"/>
          <p:cNvSpPr/>
          <p:nvPr/>
        </p:nvSpPr>
        <p:spPr>
          <a:xfrm>
            <a:off x="2843784" y="3566160"/>
            <a:ext cx="457200" cy="960120"/>
          </a:xfrm>
          <a:prstGeom prst="roundRect">
            <a:avLst>
              <a:gd name="adj" fmla="val 6000"/>
            </a:avLst>
          </a:prstGeom>
          <a:solidFill>
            <a:srgbClr val="4F7BE8"/>
          </a:solidFill>
          <a:ln/>
        </p:spPr>
      </p:sp>
      <p:sp>
        <p:nvSpPr>
          <p:cNvPr id="13" name="Text 11"/>
          <p:cNvSpPr/>
          <p:nvPr/>
        </p:nvSpPr>
        <p:spPr>
          <a:xfrm>
            <a:off x="2752344" y="45720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9FB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'19</a:t>
            </a:r>
            <a:endParaRPr lang="en-US" sz="1100"/>
          </a:p>
        </p:txBody>
      </p:sp>
      <p:sp>
        <p:nvSpPr>
          <p:cNvPr id="14" name="Shape 12"/>
          <p:cNvSpPr/>
          <p:nvPr/>
        </p:nvSpPr>
        <p:spPr>
          <a:xfrm>
            <a:off x="3502152" y="3108960"/>
            <a:ext cx="457200" cy="1417320"/>
          </a:xfrm>
          <a:prstGeom prst="roundRect">
            <a:avLst>
              <a:gd name="adj" fmla="val 6000"/>
            </a:avLst>
          </a:prstGeom>
          <a:solidFill>
            <a:srgbClr val="F2B84A"/>
          </a:solidFill>
          <a:ln/>
        </p:spPr>
      </p:sp>
      <p:sp>
        <p:nvSpPr>
          <p:cNvPr id="15" name="Text 13"/>
          <p:cNvSpPr/>
          <p:nvPr/>
        </p:nvSpPr>
        <p:spPr>
          <a:xfrm>
            <a:off x="3410712" y="45720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9FB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'22</a:t>
            </a:r>
            <a:endParaRPr lang="en-US" sz="1100"/>
          </a:p>
        </p:txBody>
      </p:sp>
      <p:sp>
        <p:nvSpPr>
          <p:cNvPr id="16" name="Shape 14"/>
          <p:cNvSpPr/>
          <p:nvPr/>
        </p:nvSpPr>
        <p:spPr>
          <a:xfrm>
            <a:off x="4160520" y="2560320"/>
            <a:ext cx="457200" cy="1965960"/>
          </a:xfrm>
          <a:prstGeom prst="roundRect">
            <a:avLst>
              <a:gd name="adj" fmla="val 6000"/>
            </a:avLst>
          </a:prstGeom>
          <a:solidFill>
            <a:srgbClr val="F2B84A"/>
          </a:solidFill>
          <a:ln/>
        </p:spPr>
      </p:sp>
      <p:sp>
        <p:nvSpPr>
          <p:cNvPr id="17" name="Text 15"/>
          <p:cNvSpPr/>
          <p:nvPr/>
        </p:nvSpPr>
        <p:spPr>
          <a:xfrm>
            <a:off x="4069080" y="45720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9FB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'25</a:t>
            </a:r>
            <a:endParaRPr lang="en-US" sz="1100"/>
          </a:p>
        </p:txBody>
      </p:sp>
      <p:sp>
        <p:nvSpPr>
          <p:cNvPr id="18" name="Text 16"/>
          <p:cNvSpPr/>
          <p:nvPr/>
        </p:nvSpPr>
        <p:spPr>
          <a:xfrm>
            <a:off x="868680" y="49377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6E7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de dados gerado no mundo (crescimento exponencial)</a:t>
            </a:r>
            <a:endParaRPr lang="en-US" sz="1200"/>
          </a:p>
        </p:txBody>
      </p:sp>
      <p:sp>
        <p:nvSpPr>
          <p:cNvPr id="19" name="Shape 17"/>
          <p:cNvSpPr/>
          <p:nvPr/>
        </p:nvSpPr>
        <p:spPr>
          <a:xfrm>
            <a:off x="5029200" y="2148840"/>
            <a:ext cx="6583680" cy="2926080"/>
          </a:xfrm>
          <a:prstGeom prst="roundRect">
            <a:avLst>
              <a:gd name="adj" fmla="val 2500"/>
            </a:avLst>
          </a:prstGeom>
          <a:solidFill>
            <a:srgbClr val="232C63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0" y="233172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caracteriza o Big Data — os 5 V</a:t>
            </a:r>
            <a:endParaRPr lang="en-US" sz="1700"/>
          </a:p>
        </p:txBody>
      </p:sp>
      <p:sp>
        <p:nvSpPr>
          <p:cNvPr id="21" name="Text 19"/>
          <p:cNvSpPr/>
          <p:nvPr/>
        </p:nvSpPr>
        <p:spPr>
          <a:xfrm>
            <a:off x="5349240" y="278892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 </a:t>
            </a:r>
            <a:r>
              <a:rPr lang="en-US" sz="13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quantidade massiva de dados</a:t>
            </a:r>
            <a:endParaRPr lang="en-US" sz="1450"/>
          </a:p>
        </p:txBody>
      </p:sp>
      <p:sp>
        <p:nvSpPr>
          <p:cNvPr id="22" name="Text 20"/>
          <p:cNvSpPr/>
          <p:nvPr/>
        </p:nvSpPr>
        <p:spPr>
          <a:xfrm>
            <a:off x="5349240" y="3218688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Velocidade  </a:t>
            </a:r>
            <a:r>
              <a:rPr lang="en-US" sz="13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gerados e processados em tempo real</a:t>
            </a:r>
            <a:endParaRPr lang="en-US" sz="1450"/>
          </a:p>
        </p:txBody>
      </p:sp>
      <p:sp>
        <p:nvSpPr>
          <p:cNvPr id="23" name="Text 21"/>
          <p:cNvSpPr/>
          <p:nvPr/>
        </p:nvSpPr>
        <p:spPr>
          <a:xfrm>
            <a:off x="5349240" y="3648456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Variedade  </a:t>
            </a:r>
            <a:r>
              <a:rPr lang="en-US" sz="13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texto, imagem, vídeo, sensores…</a:t>
            </a:r>
            <a:endParaRPr lang="en-US" sz="1450"/>
          </a:p>
        </p:txBody>
      </p:sp>
      <p:sp>
        <p:nvSpPr>
          <p:cNvPr id="24" name="Text 22"/>
          <p:cNvSpPr/>
          <p:nvPr/>
        </p:nvSpPr>
        <p:spPr>
          <a:xfrm>
            <a:off x="5349240" y="4078224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Veracidade  </a:t>
            </a:r>
            <a:r>
              <a:rPr lang="en-US" sz="13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qualidade e confiabilidade variáveis</a:t>
            </a:r>
            <a:endParaRPr lang="en-US" sz="1450"/>
          </a:p>
        </p:txBody>
      </p:sp>
      <p:sp>
        <p:nvSpPr>
          <p:cNvPr id="25" name="Text 23"/>
          <p:cNvSpPr/>
          <p:nvPr/>
        </p:nvSpPr>
        <p:spPr>
          <a:xfrm>
            <a:off x="5349240" y="4507992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F2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 </a:t>
            </a:r>
            <a:r>
              <a:rPr lang="en-US" sz="13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 que de útil se extrai deles</a:t>
            </a:r>
            <a:endParaRPr lang="en-US" sz="1450"/>
          </a:p>
        </p:txBody>
      </p:sp>
      <p:sp>
        <p:nvSpPr>
          <p:cNvPr id="26" name="Shape 24"/>
          <p:cNvSpPr/>
          <p:nvPr/>
        </p:nvSpPr>
        <p:spPr>
          <a:xfrm>
            <a:off x="548640" y="5440680"/>
            <a:ext cx="11064240" cy="868680"/>
          </a:xfrm>
          <a:prstGeom prst="roundRect">
            <a:avLst>
              <a:gd name="adj" fmla="val 7368"/>
            </a:avLst>
          </a:prstGeom>
          <a:solidFill>
            <a:srgbClr val="141A45"/>
          </a:solidFill>
          <a:ln w="12700">
            <a:solidFill>
              <a:srgbClr val="34407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544068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2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isso importa:  </a:t>
            </a:r>
            <a:r>
              <a:rPr lang="en-US" sz="13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esse volume, analisar tudo "na mão" é impossível. É daí que nascem a Data Science (para dar sentido aos dados) e o Machine Learning (para aprender padrões automaticamente).</a:t>
            </a:r>
            <a:endParaRPr lang="en-US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Data Science?</a:t>
            </a:r>
            <a:endParaRPr lang="en-US" sz="3100"/>
          </a:p>
        </p:txBody>
      </p:sp>
      <p:sp>
        <p:nvSpPr>
          <p:cNvPr id="3" name="Text 1"/>
          <p:cNvSpPr/>
          <p:nvPr/>
        </p:nvSpPr>
        <p:spPr>
          <a:xfrm>
            <a:off x="475488" y="1152144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ciência de transformar dados em decisões — na interseção de três mundos.</a:t>
            </a:r>
            <a:endParaRPr lang="en-US" sz="150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611880" cy="3108960"/>
          </a:xfrm>
          <a:prstGeom prst="roundRect">
            <a:avLst>
              <a:gd name="adj" fmla="val 2647"/>
            </a:avLst>
          </a:prstGeom>
          <a:solidFill>
            <a:srgbClr val="EDF1FA"/>
          </a:solidFill>
          <a:ln w="12700">
            <a:solidFill>
              <a:srgbClr val="CFDB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22402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Computação</a:t>
            </a:r>
            <a:endParaRPr lang="en-US" sz="2300"/>
          </a:p>
        </p:txBody>
      </p:sp>
      <p:sp>
        <p:nvSpPr>
          <p:cNvPr id="6" name="Text 4"/>
          <p:cNvSpPr/>
          <p:nvPr/>
        </p:nvSpPr>
        <p:spPr>
          <a:xfrm>
            <a:off x="804672" y="2880360"/>
            <a:ext cx="31546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coletar, limpar e processar dados em escala</a:t>
            </a:r>
            <a:endParaRPr lang="en-US" sz="1500"/>
          </a:p>
        </p:txBody>
      </p:sp>
      <p:sp>
        <p:nvSpPr>
          <p:cNvPr id="7" name="Text 5"/>
          <p:cNvSpPr/>
          <p:nvPr/>
        </p:nvSpPr>
        <p:spPr>
          <a:xfrm>
            <a:off x="804672" y="43434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>
                <a:solidFill>
                  <a:srgbClr val="6E7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BD, Python, pipelines</a:t>
            </a:r>
            <a:endParaRPr lang="en-US" sz="1300"/>
          </a:p>
        </p:txBody>
      </p:sp>
      <p:sp>
        <p:nvSpPr>
          <p:cNvPr id="8" name="Shape 6"/>
          <p:cNvSpPr/>
          <p:nvPr/>
        </p:nvSpPr>
        <p:spPr>
          <a:xfrm>
            <a:off x="4325112" y="1965960"/>
            <a:ext cx="3611880" cy="3108960"/>
          </a:xfrm>
          <a:prstGeom prst="roundRect">
            <a:avLst>
              <a:gd name="adj" fmla="val 264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81144" y="22402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Estatística</a:t>
            </a:r>
            <a:endParaRPr lang="en-US" sz="2300"/>
          </a:p>
        </p:txBody>
      </p:sp>
      <p:sp>
        <p:nvSpPr>
          <p:cNvPr id="10" name="Text 8"/>
          <p:cNvSpPr/>
          <p:nvPr/>
        </p:nvSpPr>
        <p:spPr>
          <a:xfrm>
            <a:off x="4581144" y="2880360"/>
            <a:ext cx="31546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extrair padrões e medir incerteza</a:t>
            </a:r>
            <a:endParaRPr lang="en-US" sz="1500"/>
          </a:p>
        </p:txBody>
      </p:sp>
      <p:sp>
        <p:nvSpPr>
          <p:cNvPr id="11" name="Text 9"/>
          <p:cNvSpPr/>
          <p:nvPr/>
        </p:nvSpPr>
        <p:spPr>
          <a:xfrm>
            <a:off x="4581144" y="43434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>
                <a:solidFill>
                  <a:srgbClr val="9FB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probabilidade, inferência</a:t>
            </a:r>
            <a:endParaRPr lang="en-US" sz="1300"/>
          </a:p>
        </p:txBody>
      </p:sp>
      <p:sp>
        <p:nvSpPr>
          <p:cNvPr id="12" name="Shape 10"/>
          <p:cNvSpPr/>
          <p:nvPr/>
        </p:nvSpPr>
        <p:spPr>
          <a:xfrm>
            <a:off x="8101584" y="1965960"/>
            <a:ext cx="3611880" cy="3108960"/>
          </a:xfrm>
          <a:prstGeom prst="roundRect">
            <a:avLst>
              <a:gd name="adj" fmla="val 2647"/>
            </a:avLst>
          </a:prstGeom>
          <a:solidFill>
            <a:srgbClr val="EDF1FA"/>
          </a:solidFill>
          <a:ln w="12700">
            <a:solidFill>
              <a:srgbClr val="CFDB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57616" y="22402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Domínio</a:t>
            </a:r>
            <a:endParaRPr lang="en-US" sz="2300"/>
          </a:p>
        </p:txBody>
      </p:sp>
      <p:sp>
        <p:nvSpPr>
          <p:cNvPr id="14" name="Text 12"/>
          <p:cNvSpPr/>
          <p:nvPr/>
        </p:nvSpPr>
        <p:spPr>
          <a:xfrm>
            <a:off x="8357616" y="2880360"/>
            <a:ext cx="31546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fazer as perguntas certas do negócio</a:t>
            </a:r>
            <a:endParaRPr lang="en-US" sz="1500"/>
          </a:p>
        </p:txBody>
      </p:sp>
      <p:sp>
        <p:nvSpPr>
          <p:cNvPr id="15" name="Text 13"/>
          <p:cNvSpPr/>
          <p:nvPr/>
        </p:nvSpPr>
        <p:spPr>
          <a:xfrm>
            <a:off x="8357616" y="43434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>
                <a:solidFill>
                  <a:srgbClr val="6E7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do parceiro</a:t>
            </a:r>
            <a:endParaRPr lang="en-US" sz="1300"/>
          </a:p>
        </p:txBody>
      </p:sp>
      <p:sp>
        <p:nvSpPr>
          <p:cNvPr id="16" name="Text 14"/>
          <p:cNvSpPr/>
          <p:nvPr/>
        </p:nvSpPr>
        <p:spPr>
          <a:xfrm>
            <a:off x="548640" y="5257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6E7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vive onde os três se encontram. Machine Learning é a ferramenta que aprende os padrões.</a:t>
            </a:r>
            <a:endParaRPr lang="en-US" sz="1400"/>
          </a:p>
        </p:txBody>
      </p:sp>
      <p:sp>
        <p:nvSpPr>
          <p:cNvPr id="19" name="TextBox 7">
            <a:extLst>
              <a:ext uri="{FF2B5EF4-FFF2-40B4-BE49-F238E27FC236}">
                <a16:creationId xmlns:a16="http://schemas.microsoft.com/office/drawing/2014/main" id="{8DCC9E5C-E1A2-B184-E259-125DAA8C0E46}"/>
              </a:ext>
            </a:extLst>
          </p:cNvPr>
          <p:cNvSpPr txBox="1"/>
          <p:nvPr/>
        </p:nvSpPr>
        <p:spPr>
          <a:xfrm>
            <a:off x="651510" y="632841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/>
              <a:t>Inteligência Artificial</a:t>
            </a:r>
          </a:p>
        </p:txBody>
      </p:sp>
      <p:sp>
        <p:nvSpPr>
          <p:cNvPr id="20" name="TextBox 8">
            <a:extLst>
              <a:ext uri="{FF2B5EF4-FFF2-40B4-BE49-F238E27FC236}">
                <a16:creationId xmlns:a16="http://schemas.microsoft.com/office/drawing/2014/main" id="{33956E32-F155-8E44-B6E8-6E7AE6059262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0" i="0" u="none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3</a:t>
            </a:fld>
            <a:endParaRPr sz="900" b="0" i="0" u="none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>
                <a:solidFill>
                  <a:srgbClr val="4F7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MATÉRIA-PRIMA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Tipos de dados</a:t>
            </a:r>
            <a:endParaRPr lang="en-US" sz="310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232C6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3383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Estruturado</a:t>
            </a:r>
            <a:endParaRPr lang="en-US" sz="1900"/>
          </a:p>
        </p:txBody>
      </p:sp>
      <p:sp>
        <p:nvSpPr>
          <p:cNvPr id="6" name="Text 4"/>
          <p:cNvSpPr/>
          <p:nvPr/>
        </p:nvSpPr>
        <p:spPr>
          <a:xfrm>
            <a:off x="4297680" y="196596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tabelas: linhas e colunas</a:t>
            </a:r>
            <a:endParaRPr lang="en-US" sz="1500"/>
          </a:p>
        </p:txBody>
      </p:sp>
      <p:sp>
        <p:nvSpPr>
          <p:cNvPr id="7" name="Text 5"/>
          <p:cNvSpPr/>
          <p:nvPr/>
        </p:nvSpPr>
        <p:spPr>
          <a:xfrm>
            <a:off x="8046720" y="1965960"/>
            <a:ext cx="3383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9FB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planilha de vendas, banco SQL</a:t>
            </a:r>
            <a:endParaRPr lang="en-US" sz="1400"/>
          </a:p>
        </p:txBody>
      </p:sp>
      <p:sp>
        <p:nvSpPr>
          <p:cNvPr id="8" name="Shape 6"/>
          <p:cNvSpPr/>
          <p:nvPr/>
        </p:nvSpPr>
        <p:spPr>
          <a:xfrm>
            <a:off x="548640" y="3172968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232C63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172968"/>
            <a:ext cx="3383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estruturado</a:t>
            </a:r>
            <a:endParaRPr lang="en-US" sz="1900"/>
          </a:p>
        </p:txBody>
      </p:sp>
      <p:sp>
        <p:nvSpPr>
          <p:cNvPr id="10" name="Text 8"/>
          <p:cNvSpPr/>
          <p:nvPr/>
        </p:nvSpPr>
        <p:spPr>
          <a:xfrm>
            <a:off x="4297680" y="3172968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formato fixo</a:t>
            </a:r>
            <a:endParaRPr lang="en-US" sz="1500"/>
          </a:p>
        </p:txBody>
      </p:sp>
      <p:sp>
        <p:nvSpPr>
          <p:cNvPr id="11" name="Text 9"/>
          <p:cNvSpPr/>
          <p:nvPr/>
        </p:nvSpPr>
        <p:spPr>
          <a:xfrm>
            <a:off x="8046720" y="3172968"/>
            <a:ext cx="3383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9FB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texto, imagem, áudio, vídeo</a:t>
            </a:r>
            <a:endParaRPr lang="en-US" sz="1400"/>
          </a:p>
        </p:txBody>
      </p:sp>
      <p:sp>
        <p:nvSpPr>
          <p:cNvPr id="12" name="Shape 10"/>
          <p:cNvSpPr/>
          <p:nvPr/>
        </p:nvSpPr>
        <p:spPr>
          <a:xfrm>
            <a:off x="548640" y="4379976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232C63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379976"/>
            <a:ext cx="3383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Numérico × Categórico</a:t>
            </a:r>
            <a:endParaRPr lang="en-US" sz="1900"/>
          </a:p>
        </p:txBody>
      </p:sp>
      <p:sp>
        <p:nvSpPr>
          <p:cNvPr id="14" name="Text 12"/>
          <p:cNvSpPr/>
          <p:nvPr/>
        </p:nvSpPr>
        <p:spPr>
          <a:xfrm>
            <a:off x="4297680" y="4379976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quantidade × categoria</a:t>
            </a:r>
            <a:endParaRPr lang="en-US" sz="1500"/>
          </a:p>
        </p:txBody>
      </p:sp>
      <p:sp>
        <p:nvSpPr>
          <p:cNvPr id="15" name="Text 13"/>
          <p:cNvSpPr/>
          <p:nvPr/>
        </p:nvSpPr>
        <p:spPr>
          <a:xfrm>
            <a:off x="8046720" y="4379976"/>
            <a:ext cx="3383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9FB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idade (num) · cidade (cat)</a:t>
            </a:r>
            <a:endParaRPr lang="en-US" sz="1400"/>
          </a:p>
        </p:txBody>
      </p:sp>
      <p:sp>
        <p:nvSpPr>
          <p:cNvPr id="16" name="Text 14"/>
          <p:cNvSpPr/>
          <p:nvPr/>
        </p:nvSpPr>
        <p:spPr>
          <a:xfrm>
            <a:off x="548640" y="5623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>
                <a:solidFill>
                  <a:srgbClr val="F2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~80% dos dados de uma organização são não estruturados — e é aí que a IA Generativa brilha.</a:t>
            </a:r>
            <a:endParaRPr lang="en-US" sz="1350"/>
          </a:p>
        </p:txBody>
      </p:sp>
      <p:sp>
        <p:nvSpPr>
          <p:cNvPr id="19" name="TextBox 7">
            <a:extLst>
              <a:ext uri="{FF2B5EF4-FFF2-40B4-BE49-F238E27FC236}">
                <a16:creationId xmlns:a16="http://schemas.microsoft.com/office/drawing/2014/main" id="{048C37A1-CE6E-98FB-F4D7-799D5D8DA128}"/>
              </a:ext>
            </a:extLst>
          </p:cNvPr>
          <p:cNvSpPr txBox="1"/>
          <p:nvPr/>
        </p:nvSpPr>
        <p:spPr>
          <a:xfrm>
            <a:off x="651510" y="632841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/>
              <a:t>Inteligência Artificial</a:t>
            </a:r>
          </a:p>
        </p:txBody>
      </p:sp>
      <p:sp>
        <p:nvSpPr>
          <p:cNvPr id="20" name="TextBox 8">
            <a:extLst>
              <a:ext uri="{FF2B5EF4-FFF2-40B4-BE49-F238E27FC236}">
                <a16:creationId xmlns:a16="http://schemas.microsoft.com/office/drawing/2014/main" id="{310D0BC6-7829-8C11-E817-641A94920548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0" i="0" u="none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4</a:t>
            </a:fld>
            <a:endParaRPr sz="900" b="0" i="0" u="none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4688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>
                <a:solidFill>
                  <a:srgbClr val="4F7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1600"/>
          </a:p>
        </p:txBody>
      </p:sp>
      <p:sp>
        <p:nvSpPr>
          <p:cNvPr id="3" name="Text 1"/>
          <p:cNvSpPr/>
          <p:nvPr/>
        </p:nvSpPr>
        <p:spPr>
          <a:xfrm>
            <a:off x="594360" y="29260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camada estatística</a:t>
            </a:r>
            <a:endParaRPr lang="en-US" sz="4200"/>
          </a:p>
        </p:txBody>
      </p:sp>
      <p:sp>
        <p:nvSpPr>
          <p:cNvPr id="4" name="Text 2"/>
          <p:cNvSpPr/>
          <p:nvPr/>
        </p:nvSpPr>
        <p:spPr>
          <a:xfrm>
            <a:off x="640080" y="39319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"aprender", a máquina precisa descrever e medir a incerteza dos dados.</a:t>
            </a:r>
            <a:endParaRPr lang="en-US" sz="1800"/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CCEC03B2-F234-1538-D49B-0814CEA27F23}"/>
              </a:ext>
            </a:extLst>
          </p:cNvPr>
          <p:cNvSpPr txBox="1"/>
          <p:nvPr/>
        </p:nvSpPr>
        <p:spPr>
          <a:xfrm>
            <a:off x="651510" y="632841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/>
              <a:t>Inteligência Artificial</a:t>
            </a:r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B36C0A92-F558-683A-86DC-1A3D1F474289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0" i="0" u="none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5</a:t>
            </a:fld>
            <a:endParaRPr sz="900" b="0" i="0" u="none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Descrever os dados</a:t>
            </a:r>
            <a:endParaRPr lang="en-US" sz="3100"/>
          </a:p>
        </p:txBody>
      </p:sp>
      <p:sp>
        <p:nvSpPr>
          <p:cNvPr id="3" name="Text 1"/>
          <p:cNvSpPr/>
          <p:nvPr/>
        </p:nvSpPr>
        <p:spPr>
          <a:xfrm>
            <a:off x="475488" y="1152144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perguntas: onde está o centro? o quanto os dados variam?</a:t>
            </a:r>
            <a:endParaRPr lang="en-US" sz="150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EDF1FA"/>
          </a:solidFill>
          <a:ln w="12700">
            <a:solidFill>
              <a:srgbClr val="CFDB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574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Tendência central — o "típico"</a:t>
            </a:r>
            <a:endParaRPr lang="en-US" sz="170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</a:t>
            </a:r>
            <a:r>
              <a:rPr lang="en-US" sz="140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soma ÷ quantidade (sensível a extremos)
</a:t>
            </a:r>
            <a:r>
              <a:rPr lang="en-US" sz="14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</a:t>
            </a:r>
            <a:r>
              <a:rPr lang="en-US" sz="140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valor do meio (robusta a extremos)
</a:t>
            </a:r>
            <a:r>
              <a:rPr lang="en-US" sz="14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</a:t>
            </a:r>
            <a:r>
              <a:rPr lang="en-US" sz="140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valor mais frequente</a:t>
            </a:r>
            <a:endParaRPr lang="en-US" sz="1400"/>
          </a:p>
        </p:txBody>
      </p:sp>
      <p:sp>
        <p:nvSpPr>
          <p:cNvPr id="7" name="Shape 5"/>
          <p:cNvSpPr/>
          <p:nvPr/>
        </p:nvSpPr>
        <p:spPr>
          <a:xfrm>
            <a:off x="6172200" y="187452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446520" y="20574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Dispersão — o "espalhamento"</a:t>
            </a:r>
            <a:endParaRPr lang="en-US" sz="1700"/>
          </a:p>
        </p:txBody>
      </p:sp>
      <p:sp>
        <p:nvSpPr>
          <p:cNvPr id="9" name="Text 7"/>
          <p:cNvSpPr/>
          <p:nvPr/>
        </p:nvSpPr>
        <p:spPr>
          <a:xfrm>
            <a:off x="6446520" y="246888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</a:t>
            </a:r>
            <a:r>
              <a:rPr lang="en-US" sz="14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do menor ao maior
</a:t>
            </a:r>
            <a:r>
              <a:rPr lang="en-US" sz="14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Desvio-padrão</a:t>
            </a:r>
            <a:r>
              <a:rPr lang="en-US" sz="14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 quanto, em média, os pontos se afastam do centro
</a:t>
            </a:r>
            <a:r>
              <a:rPr lang="en-US" sz="1400" b="1">
                <a:solidFill>
                  <a:srgbClr val="F2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</a:t>
            </a:r>
            <a:r>
              <a:rPr lang="en-US" sz="14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valores muito fora do padrão</a:t>
            </a:r>
            <a:endParaRPr lang="en-US" sz="1400"/>
          </a:p>
        </p:txBody>
      </p:sp>
      <p:sp>
        <p:nvSpPr>
          <p:cNvPr id="10" name="Shape 8"/>
          <p:cNvSpPr/>
          <p:nvPr/>
        </p:nvSpPr>
        <p:spPr>
          <a:xfrm>
            <a:off x="548640" y="4069080"/>
            <a:ext cx="11064240" cy="1737360"/>
          </a:xfrm>
          <a:prstGeom prst="roundRect">
            <a:avLst>
              <a:gd name="adj" fmla="val 3158"/>
            </a:avLst>
          </a:prstGeom>
          <a:solidFill>
            <a:srgbClr val="12183A"/>
          </a:solidFill>
          <a:ln w="12700">
            <a:solidFill>
              <a:srgbClr val="2A35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233672"/>
            <a:ext cx="10607040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>
                <a:solidFill>
                  <a:srgbClr val="C79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r>
              <a:rPr lang="en-US" sz="125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 </a:t>
            </a:r>
            <a:r>
              <a:rPr lang="en-US" sz="1250">
                <a:solidFill>
                  <a:srgbClr val="C79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</a:t>
            </a:r>
            <a:r>
              <a:rPr lang="en-US" sz="125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</a:t>
            </a:r>
            <a:r>
              <a:rPr lang="en-US" sz="125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5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</a:t>
            </a:r>
            <a:r>
              <a:rPr lang="en-US" sz="1250">
                <a:solidFill>
                  <a:srgbClr val="7FD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'vendas.csv'</a:t>
            </a:r>
            <a:r>
              <a:rPr lang="en-US" sz="125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5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5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</a:t>
            </a:r>
            <a:r>
              <a:rPr lang="en-US" sz="1250">
                <a:solidFill>
                  <a:srgbClr val="7FD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'valor'</a:t>
            </a:r>
            <a:r>
              <a:rPr lang="en-US" sz="125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].describe()  </a:t>
            </a:r>
            <a:r>
              <a:rPr lang="en-US" sz="1250">
                <a:solidFill>
                  <a:srgbClr val="6E79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média, desvio, mín, máx, quartis</a:t>
            </a:r>
            <a:r>
              <a:rPr lang="en-US" sz="125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250"/>
          </a:p>
        </p:txBody>
      </p:sp>
      <p:sp>
        <p:nvSpPr>
          <p:cNvPr id="14" name="TextBox 7">
            <a:extLst>
              <a:ext uri="{FF2B5EF4-FFF2-40B4-BE49-F238E27FC236}">
                <a16:creationId xmlns:a16="http://schemas.microsoft.com/office/drawing/2014/main" id="{374AB4ED-6301-4F07-046D-316F88C2AB14}"/>
              </a:ext>
            </a:extLst>
          </p:cNvPr>
          <p:cNvSpPr txBox="1"/>
          <p:nvPr/>
        </p:nvSpPr>
        <p:spPr>
          <a:xfrm>
            <a:off x="651510" y="632841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/>
              <a:t>Inteligência Artificial</a:t>
            </a:r>
          </a:p>
        </p:txBody>
      </p:sp>
      <p:sp>
        <p:nvSpPr>
          <p:cNvPr id="15" name="TextBox 8">
            <a:extLst>
              <a:ext uri="{FF2B5EF4-FFF2-40B4-BE49-F238E27FC236}">
                <a16:creationId xmlns:a16="http://schemas.microsoft.com/office/drawing/2014/main" id="{1F18BB50-1B4B-7849-249E-1D212B0F2FD7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0" i="0" u="none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6</a:t>
            </a:fld>
            <a:endParaRPr sz="900" b="0" i="0" u="none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 antes de modelar</a:t>
            </a:r>
            <a:endParaRPr lang="en-US" sz="3100"/>
          </a:p>
        </p:txBody>
      </p:sp>
      <p:sp>
        <p:nvSpPr>
          <p:cNvPr id="3" name="Text 1"/>
          <p:cNvSpPr/>
          <p:nvPr/>
        </p:nvSpPr>
        <p:spPr>
          <a:xfrm>
            <a:off x="475488" y="1152144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forma da distribuição conta o que números sozinhos escondem.</a:t>
            </a:r>
            <a:endParaRPr lang="en-US" sz="1500"/>
          </a:p>
        </p:txBody>
      </p:sp>
      <p:sp>
        <p:nvSpPr>
          <p:cNvPr id="4" name="Shape 2"/>
          <p:cNvSpPr/>
          <p:nvPr/>
        </p:nvSpPr>
        <p:spPr>
          <a:xfrm>
            <a:off x="822960" y="4389120"/>
            <a:ext cx="566928" cy="457200"/>
          </a:xfrm>
          <a:prstGeom prst="roundRect">
            <a:avLst>
              <a:gd name="adj" fmla="val 6000"/>
            </a:avLst>
          </a:prstGeom>
          <a:solidFill>
            <a:srgbClr val="9FBCE8"/>
          </a:solidFill>
          <a:ln/>
        </p:spPr>
      </p:sp>
      <p:sp>
        <p:nvSpPr>
          <p:cNvPr id="5" name="Shape 3"/>
          <p:cNvSpPr/>
          <p:nvPr/>
        </p:nvSpPr>
        <p:spPr>
          <a:xfrm>
            <a:off x="1499616" y="3840480"/>
            <a:ext cx="566928" cy="1005840"/>
          </a:xfrm>
          <a:prstGeom prst="roundRect">
            <a:avLst>
              <a:gd name="adj" fmla="val 4839"/>
            </a:avLst>
          </a:prstGeom>
          <a:solidFill>
            <a:srgbClr val="9FBCE8"/>
          </a:solidFill>
          <a:ln/>
        </p:spPr>
      </p:sp>
      <p:sp>
        <p:nvSpPr>
          <p:cNvPr id="6" name="Shape 4"/>
          <p:cNvSpPr/>
          <p:nvPr/>
        </p:nvSpPr>
        <p:spPr>
          <a:xfrm>
            <a:off x="2176272" y="3108960"/>
            <a:ext cx="566928" cy="1737360"/>
          </a:xfrm>
          <a:prstGeom prst="roundRect">
            <a:avLst>
              <a:gd name="adj" fmla="val 4839"/>
            </a:avLst>
          </a:prstGeom>
          <a:solidFill>
            <a:srgbClr val="9FBCE8"/>
          </a:solidFill>
          <a:ln/>
        </p:spPr>
      </p:sp>
      <p:sp>
        <p:nvSpPr>
          <p:cNvPr id="7" name="Shape 5"/>
          <p:cNvSpPr/>
          <p:nvPr/>
        </p:nvSpPr>
        <p:spPr>
          <a:xfrm>
            <a:off x="2852928" y="2468880"/>
            <a:ext cx="566928" cy="2377440"/>
          </a:xfrm>
          <a:prstGeom prst="roundRect">
            <a:avLst>
              <a:gd name="adj" fmla="val 4839"/>
            </a:avLst>
          </a:prstGeom>
          <a:solidFill>
            <a:srgbClr val="9FBCE8"/>
          </a:solidFill>
          <a:ln/>
        </p:spPr>
      </p:sp>
      <p:sp>
        <p:nvSpPr>
          <p:cNvPr id="8" name="Shape 6"/>
          <p:cNvSpPr/>
          <p:nvPr/>
        </p:nvSpPr>
        <p:spPr>
          <a:xfrm>
            <a:off x="3529584" y="2194560"/>
            <a:ext cx="566928" cy="2651760"/>
          </a:xfrm>
          <a:prstGeom prst="roundRect">
            <a:avLst>
              <a:gd name="adj" fmla="val 4839"/>
            </a:avLst>
          </a:prstGeom>
          <a:solidFill>
            <a:srgbClr val="4F7BE8"/>
          </a:solidFill>
          <a:ln/>
        </p:spPr>
      </p:sp>
      <p:sp>
        <p:nvSpPr>
          <p:cNvPr id="9" name="Shape 7"/>
          <p:cNvSpPr/>
          <p:nvPr/>
        </p:nvSpPr>
        <p:spPr>
          <a:xfrm>
            <a:off x="4206240" y="2651760"/>
            <a:ext cx="566928" cy="2194560"/>
          </a:xfrm>
          <a:prstGeom prst="roundRect">
            <a:avLst>
              <a:gd name="adj" fmla="val 4839"/>
            </a:avLst>
          </a:prstGeom>
          <a:solidFill>
            <a:srgbClr val="9FBCE8"/>
          </a:solidFill>
          <a:ln/>
        </p:spPr>
      </p:sp>
      <p:sp>
        <p:nvSpPr>
          <p:cNvPr id="10" name="Shape 8"/>
          <p:cNvSpPr/>
          <p:nvPr/>
        </p:nvSpPr>
        <p:spPr>
          <a:xfrm>
            <a:off x="4882896" y="3383280"/>
            <a:ext cx="566928" cy="1463040"/>
          </a:xfrm>
          <a:prstGeom prst="roundRect">
            <a:avLst>
              <a:gd name="adj" fmla="val 4839"/>
            </a:avLst>
          </a:prstGeom>
          <a:solidFill>
            <a:srgbClr val="9FBCE8"/>
          </a:solidFill>
          <a:ln/>
        </p:spPr>
      </p:sp>
      <p:sp>
        <p:nvSpPr>
          <p:cNvPr id="11" name="Shape 9"/>
          <p:cNvSpPr/>
          <p:nvPr/>
        </p:nvSpPr>
        <p:spPr>
          <a:xfrm>
            <a:off x="5559552" y="4023360"/>
            <a:ext cx="566928" cy="822960"/>
          </a:xfrm>
          <a:prstGeom prst="roundRect">
            <a:avLst>
              <a:gd name="adj" fmla="val 4839"/>
            </a:avLst>
          </a:prstGeom>
          <a:solidFill>
            <a:srgbClr val="9FBCE8"/>
          </a:solidFill>
          <a:ln/>
        </p:spPr>
      </p:sp>
      <p:sp>
        <p:nvSpPr>
          <p:cNvPr id="12" name="Shape 10"/>
          <p:cNvSpPr/>
          <p:nvPr/>
        </p:nvSpPr>
        <p:spPr>
          <a:xfrm>
            <a:off x="6236208" y="4480560"/>
            <a:ext cx="566928" cy="365760"/>
          </a:xfrm>
          <a:prstGeom prst="roundRect">
            <a:avLst>
              <a:gd name="adj" fmla="val 7500"/>
            </a:avLst>
          </a:prstGeom>
          <a:solidFill>
            <a:srgbClr val="9FBCE8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937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6E7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Histograma — onde os dados se concentram</a:t>
            </a:r>
            <a:endParaRPr lang="en-US" sz="1300"/>
          </a:p>
        </p:txBody>
      </p:sp>
      <p:sp>
        <p:nvSpPr>
          <p:cNvPr id="14" name="Shape 12"/>
          <p:cNvSpPr/>
          <p:nvPr/>
        </p:nvSpPr>
        <p:spPr>
          <a:xfrm>
            <a:off x="6766560" y="2011680"/>
            <a:ext cx="4846320" cy="2834640"/>
          </a:xfrm>
          <a:prstGeom prst="roundRect">
            <a:avLst>
              <a:gd name="adj" fmla="val 2581"/>
            </a:avLst>
          </a:prstGeom>
          <a:solidFill>
            <a:srgbClr val="EDF1FA"/>
          </a:solidFill>
          <a:ln w="12700">
            <a:solidFill>
              <a:srgbClr val="CFDB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0" y="21945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visualizar primeiro</a:t>
            </a:r>
            <a:endParaRPr lang="en-US" sz="1700"/>
          </a:p>
        </p:txBody>
      </p:sp>
      <p:sp>
        <p:nvSpPr>
          <p:cNvPr id="16" name="Text 14"/>
          <p:cNvSpPr/>
          <p:nvPr/>
        </p:nvSpPr>
        <p:spPr>
          <a:xfrm>
            <a:off x="7178040" y="2606040"/>
            <a:ext cx="42062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5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Revela distribuição, tendências e outliers</a:t>
            </a:r>
            <a:endParaRPr lang="en-US" sz="145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5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Expõe erros e valores faltantes</a:t>
            </a:r>
            <a:endParaRPr lang="en-US" sz="1450"/>
          </a:p>
          <a:p>
            <a:pPr marL="190500" indent="-190500">
              <a:buSzPct val="100000"/>
              <a:buChar char="•"/>
            </a:pPr>
            <a:r>
              <a:rPr lang="en-US" sz="145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Sugere qual modelo faz sentido</a:t>
            </a:r>
            <a:endParaRPr lang="en-US" sz="1450"/>
          </a:p>
        </p:txBody>
      </p:sp>
      <p:sp>
        <p:nvSpPr>
          <p:cNvPr id="17" name="Shape 15"/>
          <p:cNvSpPr/>
          <p:nvPr/>
        </p:nvSpPr>
        <p:spPr>
          <a:xfrm>
            <a:off x="6766560" y="5029200"/>
            <a:ext cx="4846320" cy="777240"/>
          </a:xfrm>
          <a:prstGeom prst="roundRect">
            <a:avLst>
              <a:gd name="adj" fmla="val 7059"/>
            </a:avLst>
          </a:prstGeom>
          <a:solidFill>
            <a:srgbClr val="12183A"/>
          </a:solidFill>
          <a:ln w="12700">
            <a:solidFill>
              <a:srgbClr val="2A35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95160" y="5193792"/>
            <a:ext cx="438912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</a:t>
            </a:r>
            <a:r>
              <a:rPr lang="en-US" sz="1250">
                <a:solidFill>
                  <a:srgbClr val="7FD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'valor'</a:t>
            </a:r>
            <a:r>
              <a:rPr lang="en-US" sz="125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].hist(bins=</a:t>
            </a:r>
            <a:r>
              <a:rPr lang="en-US" sz="1250">
                <a:solidFill>
                  <a:srgbClr val="7FB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r>
              <a:rPr lang="en-US" sz="125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5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250"/>
          </a:p>
        </p:txBody>
      </p:sp>
      <p:sp>
        <p:nvSpPr>
          <p:cNvPr id="21" name="TextBox 7">
            <a:extLst>
              <a:ext uri="{FF2B5EF4-FFF2-40B4-BE49-F238E27FC236}">
                <a16:creationId xmlns:a16="http://schemas.microsoft.com/office/drawing/2014/main" id="{A6A36423-2F43-EFA4-4BAF-C8F8F7BCEEA3}"/>
              </a:ext>
            </a:extLst>
          </p:cNvPr>
          <p:cNvSpPr txBox="1"/>
          <p:nvPr/>
        </p:nvSpPr>
        <p:spPr>
          <a:xfrm>
            <a:off x="651510" y="632841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/>
              <a:t>Inteligência Artificial</a:t>
            </a:r>
          </a:p>
        </p:txBody>
      </p:sp>
      <p:sp>
        <p:nvSpPr>
          <p:cNvPr id="22" name="TextBox 8">
            <a:extLst>
              <a:ext uri="{FF2B5EF4-FFF2-40B4-BE49-F238E27FC236}">
                <a16:creationId xmlns:a16="http://schemas.microsoft.com/office/drawing/2014/main" id="{703C4BC9-B8C6-F50D-CA8B-A19EF2980E69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0" i="0" u="none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7</a:t>
            </a:fld>
            <a:endParaRPr sz="900" b="0" i="0" u="none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>
                <a:solidFill>
                  <a:srgbClr val="4F7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A INCERTEZA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31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Probabilidade, bem básica</a:t>
            </a:r>
            <a:endParaRPr lang="pt-BR" sz="310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Probabilidade é a linguagem para falar do que ainda não sabemos — e todo modelo de IA fala essa língua.</a:t>
            </a:r>
            <a:endParaRPr lang="en-US" sz="170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11064240" cy="932688"/>
          </a:xfrm>
          <a:prstGeom prst="roundRect">
            <a:avLst>
              <a:gd name="adj" fmla="val 7843"/>
            </a:avLst>
          </a:prstGeom>
          <a:solidFill>
            <a:srgbClr val="232C6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606040"/>
            <a:ext cx="30175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Probabilidade</a:t>
            </a:r>
            <a:endParaRPr lang="en-US" sz="1800"/>
          </a:p>
        </p:txBody>
      </p:sp>
      <p:sp>
        <p:nvSpPr>
          <p:cNvPr id="7" name="Text 5"/>
          <p:cNvSpPr/>
          <p:nvPr/>
        </p:nvSpPr>
        <p:spPr>
          <a:xfrm>
            <a:off x="3931920" y="2606040"/>
            <a:ext cx="42062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chance de um evento, de 0 a 1</a:t>
            </a:r>
            <a:endParaRPr lang="en-US" sz="1450"/>
          </a:p>
        </p:txBody>
      </p:sp>
      <p:sp>
        <p:nvSpPr>
          <p:cNvPr id="8" name="Text 6"/>
          <p:cNvSpPr/>
          <p:nvPr/>
        </p:nvSpPr>
        <p:spPr>
          <a:xfrm>
            <a:off x="8229600" y="2606040"/>
            <a:ext cx="32004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>
                <a:solidFill>
                  <a:srgbClr val="9FB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chover amanhã: 0,7</a:t>
            </a:r>
            <a:endParaRPr lang="en-US" sz="1350"/>
          </a:p>
        </p:txBody>
      </p:sp>
      <p:sp>
        <p:nvSpPr>
          <p:cNvPr id="9" name="Shape 7"/>
          <p:cNvSpPr/>
          <p:nvPr/>
        </p:nvSpPr>
        <p:spPr>
          <a:xfrm>
            <a:off x="548640" y="3666744"/>
            <a:ext cx="11064240" cy="932688"/>
          </a:xfrm>
          <a:prstGeom prst="roundRect">
            <a:avLst>
              <a:gd name="adj" fmla="val 7843"/>
            </a:avLst>
          </a:prstGeom>
          <a:solidFill>
            <a:srgbClr val="232C63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666744"/>
            <a:ext cx="30175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Distribuição</a:t>
            </a:r>
            <a:endParaRPr lang="en-US" sz="1800"/>
          </a:p>
        </p:txBody>
      </p:sp>
      <p:sp>
        <p:nvSpPr>
          <p:cNvPr id="11" name="Text 9"/>
          <p:cNvSpPr/>
          <p:nvPr/>
        </p:nvSpPr>
        <p:spPr>
          <a:xfrm>
            <a:off x="3931920" y="3666744"/>
            <a:ext cx="42062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as chances se espalham</a:t>
            </a:r>
            <a:endParaRPr lang="en-US" sz="1450"/>
          </a:p>
        </p:txBody>
      </p:sp>
      <p:sp>
        <p:nvSpPr>
          <p:cNvPr id="12" name="Text 10"/>
          <p:cNvSpPr/>
          <p:nvPr/>
        </p:nvSpPr>
        <p:spPr>
          <a:xfrm>
            <a:off x="8229600" y="3666744"/>
            <a:ext cx="32004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>
                <a:solidFill>
                  <a:srgbClr val="9FB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alturas ~ curva normal</a:t>
            </a:r>
            <a:endParaRPr lang="en-US" sz="1350"/>
          </a:p>
        </p:txBody>
      </p:sp>
      <p:sp>
        <p:nvSpPr>
          <p:cNvPr id="13" name="Shape 11"/>
          <p:cNvSpPr/>
          <p:nvPr/>
        </p:nvSpPr>
        <p:spPr>
          <a:xfrm>
            <a:off x="548640" y="4727448"/>
            <a:ext cx="11064240" cy="932688"/>
          </a:xfrm>
          <a:prstGeom prst="roundRect">
            <a:avLst>
              <a:gd name="adj" fmla="val 7843"/>
            </a:avLst>
          </a:prstGeom>
          <a:solidFill>
            <a:srgbClr val="232C63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727448"/>
            <a:ext cx="30175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Condicional</a:t>
            </a:r>
            <a:endParaRPr lang="en-US" sz="1800"/>
          </a:p>
        </p:txBody>
      </p:sp>
      <p:sp>
        <p:nvSpPr>
          <p:cNvPr id="15" name="Text 13"/>
          <p:cNvSpPr/>
          <p:nvPr/>
        </p:nvSpPr>
        <p:spPr>
          <a:xfrm>
            <a:off x="3931920" y="4727448"/>
            <a:ext cx="42062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chance de A dado que B ocorreu</a:t>
            </a:r>
            <a:endParaRPr lang="en-US" sz="1450"/>
          </a:p>
        </p:txBody>
      </p:sp>
      <p:sp>
        <p:nvSpPr>
          <p:cNvPr id="16" name="Text 14"/>
          <p:cNvSpPr/>
          <p:nvPr/>
        </p:nvSpPr>
        <p:spPr>
          <a:xfrm>
            <a:off x="8229600" y="4727448"/>
            <a:ext cx="32004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>
                <a:solidFill>
                  <a:srgbClr val="9FB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spam, dado a palavra 'grátis'</a:t>
            </a:r>
            <a:endParaRPr lang="en-US" sz="1350"/>
          </a:p>
        </p:txBody>
      </p:sp>
      <p:sp>
        <p:nvSpPr>
          <p:cNvPr id="19" name="TextBox 7">
            <a:extLst>
              <a:ext uri="{FF2B5EF4-FFF2-40B4-BE49-F238E27FC236}">
                <a16:creationId xmlns:a16="http://schemas.microsoft.com/office/drawing/2014/main" id="{CBC1FCDE-56D7-BC8C-248D-20561ACF9B35}"/>
              </a:ext>
            </a:extLst>
          </p:cNvPr>
          <p:cNvSpPr txBox="1"/>
          <p:nvPr/>
        </p:nvSpPr>
        <p:spPr>
          <a:xfrm>
            <a:off x="651510" y="632841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/>
              <a:t>Inteligência Artificial</a:t>
            </a:r>
          </a:p>
        </p:txBody>
      </p:sp>
      <p:sp>
        <p:nvSpPr>
          <p:cNvPr id="20" name="TextBox 8">
            <a:extLst>
              <a:ext uri="{FF2B5EF4-FFF2-40B4-BE49-F238E27FC236}">
                <a16:creationId xmlns:a16="http://schemas.microsoft.com/office/drawing/2014/main" id="{12B8943F-7563-E317-C9A6-2499E773848D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0" i="0" u="none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8</a:t>
            </a:fld>
            <a:endParaRPr sz="900" b="0" i="0" u="none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estatística ao aprendizado</a:t>
            </a:r>
            <a:endParaRPr lang="en-US" sz="3100"/>
          </a:p>
        </p:txBody>
      </p:sp>
      <p:sp>
        <p:nvSpPr>
          <p:cNvPr id="3" name="Text 1"/>
          <p:cNvSpPr/>
          <p:nvPr/>
        </p:nvSpPr>
        <p:spPr>
          <a:xfrm>
            <a:off x="475488" y="1152144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modelo de ML é, no fundo, estatística que generaliza para dados novos.</a:t>
            </a:r>
            <a:endParaRPr lang="en-US" sz="150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291840" cy="2194560"/>
          </a:xfrm>
          <a:prstGeom prst="roundRect">
            <a:avLst>
              <a:gd name="adj" fmla="val 3333"/>
            </a:avLst>
          </a:prstGeom>
          <a:solidFill>
            <a:srgbClr val="EDF1FA"/>
          </a:solidFill>
          <a:ln w="12700">
            <a:solidFill>
              <a:srgbClr val="CFDB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3317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Estatística</a:t>
            </a:r>
            <a:endParaRPr lang="en-US" sz="1900"/>
          </a:p>
        </p:txBody>
      </p:sp>
      <p:sp>
        <p:nvSpPr>
          <p:cNvPr id="6" name="Text 4"/>
          <p:cNvSpPr/>
          <p:nvPr/>
        </p:nvSpPr>
        <p:spPr>
          <a:xfrm>
            <a:off x="777240" y="288036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descreve os dados que você </a:t>
            </a:r>
            <a:r>
              <a:rPr lang="en-US" sz="1450" b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</a:t>
            </a:r>
            <a:r>
              <a:rPr lang="en-US" sz="145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tem</a:t>
            </a:r>
            <a:endParaRPr lang="en-US" sz="1450"/>
          </a:p>
        </p:txBody>
      </p:sp>
      <p:sp>
        <p:nvSpPr>
          <p:cNvPr id="7" name="Text 5"/>
          <p:cNvSpPr/>
          <p:nvPr/>
        </p:nvSpPr>
        <p:spPr>
          <a:xfrm>
            <a:off x="3977640" y="2103120"/>
            <a:ext cx="8229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rgbClr val="4F7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400"/>
          </a:p>
        </p:txBody>
      </p:sp>
      <p:sp>
        <p:nvSpPr>
          <p:cNvPr id="8" name="Shape 6"/>
          <p:cNvSpPr/>
          <p:nvPr/>
        </p:nvSpPr>
        <p:spPr>
          <a:xfrm>
            <a:off x="4892040" y="2103120"/>
            <a:ext cx="3291840" cy="2194560"/>
          </a:xfrm>
          <a:prstGeom prst="roundRect">
            <a:avLst>
              <a:gd name="adj" fmla="val 3333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23317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1900"/>
          </a:p>
        </p:txBody>
      </p:sp>
      <p:sp>
        <p:nvSpPr>
          <p:cNvPr id="10" name="Text 8"/>
          <p:cNvSpPr/>
          <p:nvPr/>
        </p:nvSpPr>
        <p:spPr>
          <a:xfrm>
            <a:off x="5120640" y="288036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prevê sobre dados que você AINDA </a:t>
            </a:r>
            <a:r>
              <a:rPr lang="en-US" sz="1450" b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viu</a:t>
            </a:r>
            <a:endParaRPr lang="en-US" sz="1450" b="1">
              <a:solidFill>
                <a:srgbClr val="FF0000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8321040" y="2103120"/>
            <a:ext cx="8229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rgbClr val="4F7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400"/>
          </a:p>
        </p:txBody>
      </p:sp>
      <p:sp>
        <p:nvSpPr>
          <p:cNvPr id="12" name="Shape 10"/>
          <p:cNvSpPr/>
          <p:nvPr/>
        </p:nvSpPr>
        <p:spPr>
          <a:xfrm>
            <a:off x="9235440" y="2103120"/>
            <a:ext cx="2377440" cy="2194560"/>
          </a:xfrm>
          <a:prstGeom prst="roundRect">
            <a:avLst>
              <a:gd name="adj" fmla="val 3333"/>
            </a:avLst>
          </a:prstGeom>
          <a:solidFill>
            <a:srgbClr val="EDF1FA"/>
          </a:solidFill>
          <a:ln w="19050">
            <a:solidFill>
              <a:srgbClr val="F2B8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35440" y="2331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Generalização</a:t>
            </a:r>
            <a:endParaRPr lang="en-US" sz="1600"/>
          </a:p>
        </p:txBody>
      </p:sp>
      <p:sp>
        <p:nvSpPr>
          <p:cNvPr id="14" name="Text 12"/>
          <p:cNvSpPr/>
          <p:nvPr/>
        </p:nvSpPr>
        <p:spPr>
          <a:xfrm>
            <a:off x="9372600" y="288036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objetivo central</a:t>
            </a:r>
            <a:endParaRPr lang="en-US" sz="1350"/>
          </a:p>
        </p:txBody>
      </p:sp>
      <p:sp>
        <p:nvSpPr>
          <p:cNvPr id="15" name="Text 13"/>
          <p:cNvSpPr/>
          <p:nvPr/>
        </p:nvSpPr>
        <p:spPr>
          <a:xfrm>
            <a:off x="548640" y="4846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>
                <a:solidFill>
                  <a:srgbClr val="6E7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palavra-chave é generalizar: acertar no que ainda não foi visto — não decorar o passado.</a:t>
            </a:r>
            <a:endParaRPr lang="en-US" sz="1500"/>
          </a:p>
        </p:txBody>
      </p:sp>
      <p:sp>
        <p:nvSpPr>
          <p:cNvPr id="18" name="TextBox 7">
            <a:extLst>
              <a:ext uri="{FF2B5EF4-FFF2-40B4-BE49-F238E27FC236}">
                <a16:creationId xmlns:a16="http://schemas.microsoft.com/office/drawing/2014/main" id="{CDB60840-AEC1-DA88-9D28-AF1CDF3CC54B}"/>
              </a:ext>
            </a:extLst>
          </p:cNvPr>
          <p:cNvSpPr txBox="1"/>
          <p:nvPr/>
        </p:nvSpPr>
        <p:spPr>
          <a:xfrm>
            <a:off x="651510" y="632841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/>
              <a:t>Inteligência Artificial</a:t>
            </a:r>
          </a:p>
        </p:txBody>
      </p:sp>
      <p:sp>
        <p:nvSpPr>
          <p:cNvPr id="19" name="TextBox 8">
            <a:extLst>
              <a:ext uri="{FF2B5EF4-FFF2-40B4-BE49-F238E27FC236}">
                <a16:creationId xmlns:a16="http://schemas.microsoft.com/office/drawing/2014/main" id="{8B63480D-0043-3367-8E32-674F4741AD64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0" i="0" u="none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9</a:t>
            </a:fld>
            <a:endParaRPr sz="900" b="0" i="0" u="none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4688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>
                <a:solidFill>
                  <a:srgbClr val="4F7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600"/>
          </a:p>
        </p:txBody>
      </p:sp>
      <p:sp>
        <p:nvSpPr>
          <p:cNvPr id="3" name="Text 1"/>
          <p:cNvSpPr/>
          <p:nvPr/>
        </p:nvSpPr>
        <p:spPr>
          <a:xfrm>
            <a:off x="594360" y="29260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Introdução ao Machine Learning</a:t>
            </a:r>
            <a:endParaRPr lang="en-US" sz="3800"/>
          </a:p>
        </p:txBody>
      </p:sp>
      <p:sp>
        <p:nvSpPr>
          <p:cNvPr id="4" name="Text 2"/>
          <p:cNvSpPr/>
          <p:nvPr/>
        </p:nvSpPr>
        <p:spPr>
          <a:xfrm>
            <a:off x="640080" y="39319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Ensinar a máquina a partir de exemplos, em vez de programar regras.</a:t>
            </a:r>
            <a:endParaRPr lang="en-US" sz="1800"/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28366B1C-2AA8-8C4D-D69B-666CB2CD722C}"/>
              </a:ext>
            </a:extLst>
          </p:cNvPr>
          <p:cNvSpPr txBox="1"/>
          <p:nvPr/>
        </p:nvSpPr>
        <p:spPr>
          <a:xfrm>
            <a:off x="651510" y="632841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/>
              <a:t>Inteligência Artificial</a:t>
            </a:r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68628E61-B58D-7187-F7FF-B472D06C0C4C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0" i="0" u="none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10</a:t>
            </a:fld>
            <a:endParaRPr sz="900" b="0" i="0" u="none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Learning: </a:t>
            </a:r>
            <a:r>
              <a:rPr lang="en-US" sz="3100" b="1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generalização</a:t>
            </a:r>
            <a:r>
              <a:rPr lang="en-US" sz="31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3100"/>
          </a:p>
        </p:txBody>
      </p:sp>
      <p:sp>
        <p:nvSpPr>
          <p:cNvPr id="3" name="Text 1"/>
          <p:cNvSpPr/>
          <p:nvPr/>
        </p:nvSpPr>
        <p:spPr>
          <a:xfrm>
            <a:off x="475488" y="1152144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50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de aprender e generalizar.</a:t>
            </a:r>
            <a:endParaRPr lang="pt-BR" sz="150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0991850" cy="4132962"/>
          </a:xfrm>
          <a:prstGeom prst="roundRect">
            <a:avLst>
              <a:gd name="adj" fmla="val 2424"/>
            </a:avLst>
          </a:prstGeom>
          <a:solidFill>
            <a:srgbClr val="EDF1FA"/>
          </a:solidFill>
          <a:ln w="12700">
            <a:solidFill>
              <a:srgbClr val="CFDBF2"/>
            </a:solidFill>
            <a:prstDash val="solid"/>
          </a:ln>
        </p:spPr>
      </p:sp>
      <p:sp>
        <p:nvSpPr>
          <p:cNvPr id="14" name="TextBox 7">
            <a:extLst>
              <a:ext uri="{FF2B5EF4-FFF2-40B4-BE49-F238E27FC236}">
                <a16:creationId xmlns:a16="http://schemas.microsoft.com/office/drawing/2014/main" id="{79236007-E7DC-DA74-FFB5-168259B8485D}"/>
              </a:ext>
            </a:extLst>
          </p:cNvPr>
          <p:cNvSpPr txBox="1"/>
          <p:nvPr/>
        </p:nvSpPr>
        <p:spPr>
          <a:xfrm>
            <a:off x="651510" y="632841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/>
              <a:t>Inteligência Artificial</a:t>
            </a:r>
          </a:p>
        </p:txBody>
      </p:sp>
      <p:sp>
        <p:nvSpPr>
          <p:cNvPr id="15" name="TextBox 8">
            <a:extLst>
              <a:ext uri="{FF2B5EF4-FFF2-40B4-BE49-F238E27FC236}">
                <a16:creationId xmlns:a16="http://schemas.microsoft.com/office/drawing/2014/main" id="{F30C03CF-851E-152C-BA25-DEF08AC4DEC5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0" i="0" u="none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11</a:t>
            </a:fld>
            <a:endParaRPr sz="900" b="0" i="0" u="none">
              <a:solidFill>
                <a:srgbClr val="94A3B8"/>
              </a:solidFill>
              <a:latin typeface="Inter"/>
            </a:endParaRPr>
          </a:p>
        </p:txBody>
      </p:sp>
      <p:pic>
        <p:nvPicPr>
          <p:cNvPr id="12" name="Imagem 3">
            <a:extLst>
              <a:ext uri="{FF2B5EF4-FFF2-40B4-BE49-F238E27FC236}">
                <a16:creationId xmlns:a16="http://schemas.microsoft.com/office/drawing/2014/main" id="{10DDA0ED-4594-A5DB-910B-B12A2F4390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651" y="2086960"/>
            <a:ext cx="4851400" cy="3890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D4D47FDC-669D-23F6-7BC6-35A50DF0B626}"/>
              </a:ext>
            </a:extLst>
          </p:cNvPr>
          <p:cNvSpPr txBox="1"/>
          <p:nvPr/>
        </p:nvSpPr>
        <p:spPr>
          <a:xfrm>
            <a:off x="7420704" y="3589017"/>
            <a:ext cx="30043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>
                <a:solidFill>
                  <a:srgbClr val="FF0000"/>
                </a:solidFill>
              </a:rPr>
              <a:t>Que animal é esse?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no Machine Learning</a:t>
            </a:r>
            <a:endParaRPr lang="en-US" sz="3100"/>
          </a:p>
        </p:txBody>
      </p:sp>
      <p:sp>
        <p:nvSpPr>
          <p:cNvPr id="3" name="Text 1"/>
          <p:cNvSpPr/>
          <p:nvPr/>
        </p:nvSpPr>
        <p:spPr>
          <a:xfrm>
            <a:off x="475488" y="1152144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lógica se inverte: em vez de escrever regras, mostramos exemplos.</a:t>
            </a:r>
            <a:endParaRPr lang="en-US" sz="150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440680" cy="3017520"/>
          </a:xfrm>
          <a:prstGeom prst="roundRect">
            <a:avLst>
              <a:gd name="adj" fmla="val 2424"/>
            </a:avLst>
          </a:prstGeom>
          <a:solidFill>
            <a:srgbClr val="EDF1FA"/>
          </a:solidFill>
          <a:ln w="12700">
            <a:solidFill>
              <a:srgbClr val="CFDB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945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Programação tradicional</a:t>
            </a:r>
            <a:endParaRPr lang="en-US" sz="180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4F7B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Regras + Dados  →  Respostas</a:t>
            </a:r>
            <a:endParaRPr lang="en-US" sz="1500"/>
          </a:p>
        </p:txBody>
      </p:sp>
      <p:sp>
        <p:nvSpPr>
          <p:cNvPr id="7" name="Text 5"/>
          <p:cNvSpPr/>
          <p:nvPr/>
        </p:nvSpPr>
        <p:spPr>
          <a:xfrm>
            <a:off x="822960" y="329184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programador escreve as regras à mão. Ex.: "se valor &gt; X e país ≠ Y, marque como fraude."</a:t>
            </a:r>
            <a:endParaRPr lang="en-US" sz="1450"/>
          </a:p>
        </p:txBody>
      </p:sp>
      <p:sp>
        <p:nvSpPr>
          <p:cNvPr id="8" name="Shape 6"/>
          <p:cNvSpPr/>
          <p:nvPr/>
        </p:nvSpPr>
        <p:spPr>
          <a:xfrm>
            <a:off x="6172200" y="1965960"/>
            <a:ext cx="5440680" cy="3017520"/>
          </a:xfrm>
          <a:prstGeom prst="roundRect">
            <a:avLst>
              <a:gd name="adj" fmla="val 2424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446520" y="21945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6446520" y="26974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2B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Dados + Respostas  →  </a:t>
            </a:r>
            <a:r>
              <a:rPr lang="en-US" sz="1500" b="1" err="1">
                <a:solidFill>
                  <a:srgbClr val="F2B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Regras</a:t>
            </a:r>
            <a:r>
              <a:rPr lang="en-US" sz="1500" b="1">
                <a:solidFill>
                  <a:srgbClr val="F2B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500" b="1" err="1">
                <a:solidFill>
                  <a:srgbClr val="F2B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padrões</a:t>
            </a:r>
            <a:r>
              <a:rPr lang="en-US" sz="1500" b="1">
                <a:solidFill>
                  <a:srgbClr val="F2B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/>
          </a:p>
        </p:txBody>
      </p:sp>
      <p:sp>
        <p:nvSpPr>
          <p:cNvPr id="11" name="Text 9"/>
          <p:cNvSpPr/>
          <p:nvPr/>
        </p:nvSpPr>
        <p:spPr>
          <a:xfrm>
            <a:off x="6446520" y="329184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Mostramos exemplos já rotulados e o modelo descobre sozinho a regra que os separa.</a:t>
            </a:r>
            <a:endParaRPr lang="en-US" sz="1450"/>
          </a:p>
        </p:txBody>
      </p:sp>
      <p:sp>
        <p:nvSpPr>
          <p:cNvPr id="14" name="TextBox 7">
            <a:extLst>
              <a:ext uri="{FF2B5EF4-FFF2-40B4-BE49-F238E27FC236}">
                <a16:creationId xmlns:a16="http://schemas.microsoft.com/office/drawing/2014/main" id="{79236007-E7DC-DA74-FFB5-168259B8485D}"/>
              </a:ext>
            </a:extLst>
          </p:cNvPr>
          <p:cNvSpPr txBox="1"/>
          <p:nvPr/>
        </p:nvSpPr>
        <p:spPr>
          <a:xfrm>
            <a:off x="651510" y="632841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/>
              <a:t>Inteligência Artificial</a:t>
            </a:r>
          </a:p>
        </p:txBody>
      </p:sp>
      <p:sp>
        <p:nvSpPr>
          <p:cNvPr id="15" name="TextBox 8">
            <a:extLst>
              <a:ext uri="{FF2B5EF4-FFF2-40B4-BE49-F238E27FC236}">
                <a16:creationId xmlns:a16="http://schemas.microsoft.com/office/drawing/2014/main" id="{F30C03CF-851E-152C-BA25-DEF08AC4DEC5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0" i="0" u="none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12</a:t>
            </a:fld>
            <a:endParaRPr sz="900" b="0" i="0" u="none">
              <a:solidFill>
                <a:srgbClr val="94A3B8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9181905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>
                <a:solidFill>
                  <a:srgbClr val="4F7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MÁQUINA APRENDE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três tipos de aprendizado</a:t>
            </a:r>
            <a:endParaRPr lang="en-US" sz="310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611880" cy="3566160"/>
          </a:xfrm>
          <a:prstGeom prst="roundRect">
            <a:avLst>
              <a:gd name="adj" fmla="val 2308"/>
            </a:avLst>
          </a:prstGeom>
          <a:solidFill>
            <a:srgbClr val="232C63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224028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Supervisionado</a:t>
            </a:r>
            <a:endParaRPr lang="en-US" sz="2000"/>
          </a:p>
        </p:txBody>
      </p:sp>
      <p:sp>
        <p:nvSpPr>
          <p:cNvPr id="6" name="Text 4"/>
          <p:cNvSpPr/>
          <p:nvPr/>
        </p:nvSpPr>
        <p:spPr>
          <a:xfrm>
            <a:off x="804672" y="306324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 com exemplos rotulados</a:t>
            </a:r>
            <a:endParaRPr lang="en-US" sz="1450"/>
          </a:p>
        </p:txBody>
      </p:sp>
      <p:sp>
        <p:nvSpPr>
          <p:cNvPr id="7" name="Shape 5"/>
          <p:cNvSpPr/>
          <p:nvPr/>
        </p:nvSpPr>
        <p:spPr>
          <a:xfrm>
            <a:off x="804672" y="3977640"/>
            <a:ext cx="3108960" cy="777240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 w="12700">
            <a:solidFill>
              <a:srgbClr val="3440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397764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prever preço · classificar e-mail</a:t>
            </a:r>
            <a:endParaRPr lang="en-US" sz="1250"/>
          </a:p>
        </p:txBody>
      </p:sp>
      <p:sp>
        <p:nvSpPr>
          <p:cNvPr id="9" name="Text 7"/>
          <p:cNvSpPr/>
          <p:nvPr/>
        </p:nvSpPr>
        <p:spPr>
          <a:xfrm>
            <a:off x="804672" y="48920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>
                <a:solidFill>
                  <a:srgbClr val="9FB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regressão, árvore, redes</a:t>
            </a:r>
            <a:endParaRPr lang="en-US" sz="1250"/>
          </a:p>
        </p:txBody>
      </p:sp>
      <p:sp>
        <p:nvSpPr>
          <p:cNvPr id="10" name="Shape 8"/>
          <p:cNvSpPr/>
          <p:nvPr/>
        </p:nvSpPr>
        <p:spPr>
          <a:xfrm>
            <a:off x="4325112" y="2011680"/>
            <a:ext cx="3611880" cy="3566160"/>
          </a:xfrm>
          <a:prstGeom prst="roundRect">
            <a:avLst>
              <a:gd name="adj" fmla="val 2308"/>
            </a:avLst>
          </a:prstGeom>
          <a:solidFill>
            <a:srgbClr val="232C63"/>
          </a:solidFill>
          <a:ln/>
        </p:spPr>
      </p:sp>
      <p:sp>
        <p:nvSpPr>
          <p:cNvPr id="11" name="Text 9"/>
          <p:cNvSpPr/>
          <p:nvPr/>
        </p:nvSpPr>
        <p:spPr>
          <a:xfrm>
            <a:off x="4581144" y="224028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supervisionado</a:t>
            </a:r>
            <a:endParaRPr lang="en-US" sz="2000"/>
          </a:p>
        </p:txBody>
      </p:sp>
      <p:sp>
        <p:nvSpPr>
          <p:cNvPr id="12" name="Text 10"/>
          <p:cNvSpPr/>
          <p:nvPr/>
        </p:nvSpPr>
        <p:spPr>
          <a:xfrm>
            <a:off x="4581144" y="306324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 padrões sem rótulo</a:t>
            </a:r>
            <a:endParaRPr lang="en-US" sz="1450"/>
          </a:p>
        </p:txBody>
      </p:sp>
      <p:sp>
        <p:nvSpPr>
          <p:cNvPr id="13" name="Shape 11"/>
          <p:cNvSpPr/>
          <p:nvPr/>
        </p:nvSpPr>
        <p:spPr>
          <a:xfrm>
            <a:off x="4581144" y="3977640"/>
            <a:ext cx="3108960" cy="777240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 w="12700">
            <a:solidFill>
              <a:srgbClr val="34407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397764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agrupar clientes parecidos</a:t>
            </a:r>
            <a:endParaRPr lang="en-US" sz="1250"/>
          </a:p>
        </p:txBody>
      </p:sp>
      <p:sp>
        <p:nvSpPr>
          <p:cNvPr id="15" name="Text 13"/>
          <p:cNvSpPr/>
          <p:nvPr/>
        </p:nvSpPr>
        <p:spPr>
          <a:xfrm>
            <a:off x="4581144" y="48920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>
                <a:solidFill>
                  <a:srgbClr val="9FB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K-Means, clustering</a:t>
            </a:r>
            <a:endParaRPr lang="en-US" sz="1250"/>
          </a:p>
        </p:txBody>
      </p:sp>
      <p:sp>
        <p:nvSpPr>
          <p:cNvPr id="16" name="Shape 14"/>
          <p:cNvSpPr/>
          <p:nvPr/>
        </p:nvSpPr>
        <p:spPr>
          <a:xfrm>
            <a:off x="8101584" y="2011680"/>
            <a:ext cx="3611880" cy="3566160"/>
          </a:xfrm>
          <a:prstGeom prst="roundRect">
            <a:avLst>
              <a:gd name="adj" fmla="val 2308"/>
            </a:avLst>
          </a:prstGeom>
          <a:solidFill>
            <a:srgbClr val="141A45"/>
          </a:solidFill>
          <a:ln w="12700">
            <a:solidFill>
              <a:srgbClr val="34407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57616" y="224028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>
                <a:solidFill>
                  <a:srgbClr val="9FBC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reforço</a:t>
            </a:r>
            <a:endParaRPr lang="en-US" sz="2000"/>
          </a:p>
        </p:txBody>
      </p:sp>
      <p:sp>
        <p:nvSpPr>
          <p:cNvPr id="18" name="Text 16"/>
          <p:cNvSpPr/>
          <p:nvPr/>
        </p:nvSpPr>
        <p:spPr>
          <a:xfrm>
            <a:off x="8357616" y="306324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 por tentativa e recompensa</a:t>
            </a:r>
            <a:endParaRPr lang="en-US" sz="1450"/>
          </a:p>
        </p:txBody>
      </p:sp>
      <p:sp>
        <p:nvSpPr>
          <p:cNvPr id="19" name="Shape 17"/>
          <p:cNvSpPr/>
          <p:nvPr/>
        </p:nvSpPr>
        <p:spPr>
          <a:xfrm>
            <a:off x="8357616" y="3977640"/>
            <a:ext cx="3108960" cy="777240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 w="12700">
            <a:solidFill>
              <a:srgbClr val="34407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85632" y="397764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jogos, robôs, controle</a:t>
            </a:r>
            <a:endParaRPr lang="en-US" sz="1250"/>
          </a:p>
        </p:txBody>
      </p:sp>
      <p:sp>
        <p:nvSpPr>
          <p:cNvPr id="21" name="Text 19"/>
          <p:cNvSpPr/>
          <p:nvPr/>
        </p:nvSpPr>
        <p:spPr>
          <a:xfrm>
            <a:off x="8357616" y="48920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>
                <a:solidFill>
                  <a:srgbClr val="6E7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</a:t>
            </a:r>
            <a:endParaRPr lang="en-US" sz="1250"/>
          </a:p>
        </p:txBody>
      </p:sp>
      <p:sp>
        <p:nvSpPr>
          <p:cNvPr id="24" name="TextBox 7">
            <a:extLst>
              <a:ext uri="{FF2B5EF4-FFF2-40B4-BE49-F238E27FC236}">
                <a16:creationId xmlns:a16="http://schemas.microsoft.com/office/drawing/2014/main" id="{FC3555B6-7CBA-23AA-1164-E952560E439E}"/>
              </a:ext>
            </a:extLst>
          </p:cNvPr>
          <p:cNvSpPr txBox="1"/>
          <p:nvPr/>
        </p:nvSpPr>
        <p:spPr>
          <a:xfrm>
            <a:off x="651510" y="632841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/>
              <a:t>Inteligência Artificial</a:t>
            </a:r>
          </a:p>
        </p:txBody>
      </p:sp>
      <p:sp>
        <p:nvSpPr>
          <p:cNvPr id="25" name="TextBox 8">
            <a:extLst>
              <a:ext uri="{FF2B5EF4-FFF2-40B4-BE49-F238E27FC236}">
                <a16:creationId xmlns:a16="http://schemas.microsoft.com/office/drawing/2014/main" id="{D60EA272-011C-8C4C-5AC8-4E4CA5A71D93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0" i="0" u="none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13</a:t>
            </a:fld>
            <a:endParaRPr sz="900" b="0" i="0" u="none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Aprendizado supervisionado</a:t>
            </a:r>
            <a:endParaRPr lang="en-US" sz="3100"/>
          </a:p>
        </p:txBody>
      </p:sp>
      <p:sp>
        <p:nvSpPr>
          <p:cNvPr id="3" name="Text 1"/>
          <p:cNvSpPr/>
          <p:nvPr/>
        </p:nvSpPr>
        <p:spPr>
          <a:xfrm>
            <a:off x="475488" y="1152144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rótulos, dois sabores: prever número ou prever categoria.</a:t>
            </a:r>
            <a:endParaRPr lang="en-US" sz="150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440680" cy="2834640"/>
          </a:xfrm>
          <a:prstGeom prst="roundRect">
            <a:avLst>
              <a:gd name="adj" fmla="val 2581"/>
            </a:avLst>
          </a:prstGeom>
          <a:solidFill>
            <a:srgbClr val="EDF1FA"/>
          </a:solidFill>
          <a:ln w="12700">
            <a:solidFill>
              <a:srgbClr val="CFDB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2140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Regressão — prever um número</a:t>
            </a:r>
            <a:endParaRPr lang="en-US" sz="180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49377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 contínua
</a:t>
            </a:r>
            <a:r>
              <a:rPr lang="en-US" sz="145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preço de um imóvel, temperatura, vendas do mês
Modelo inicial: </a:t>
            </a:r>
            <a:r>
              <a:rPr lang="en-US" sz="1450" b="1">
                <a:solidFill>
                  <a:srgbClr val="4F7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regressão linear</a:t>
            </a:r>
            <a:endParaRPr lang="en-US" sz="1450"/>
          </a:p>
        </p:txBody>
      </p:sp>
      <p:sp>
        <p:nvSpPr>
          <p:cNvPr id="7" name="Shape 5"/>
          <p:cNvSpPr/>
          <p:nvPr/>
        </p:nvSpPr>
        <p:spPr>
          <a:xfrm>
            <a:off x="6172200" y="1920240"/>
            <a:ext cx="5440680" cy="2834640"/>
          </a:xfrm>
          <a:prstGeom prst="roundRect">
            <a:avLst>
              <a:gd name="adj" fmla="val 2581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446520" y="212140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Classificação — prever uma classe</a:t>
            </a:r>
            <a:endParaRPr lang="en-US" sz="1800"/>
          </a:p>
        </p:txBody>
      </p:sp>
      <p:sp>
        <p:nvSpPr>
          <p:cNvPr id="9" name="Text 7"/>
          <p:cNvSpPr/>
          <p:nvPr/>
        </p:nvSpPr>
        <p:spPr>
          <a:xfrm>
            <a:off x="6446520" y="2606040"/>
            <a:ext cx="49377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 categórica
</a:t>
            </a:r>
            <a:r>
              <a:rPr lang="en-US" sz="14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spam ou não · aprovado ou negado · doente ou saudável
Modelos iniciais: </a:t>
            </a:r>
            <a:r>
              <a:rPr lang="en-US" sz="1450" b="1">
                <a:solidFill>
                  <a:srgbClr val="F2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árvore de decisão, redes </a:t>
            </a:r>
            <a:r>
              <a:rPr lang="en-US" sz="1450" b="1" err="1">
                <a:solidFill>
                  <a:srgbClr val="F2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neurais</a:t>
            </a:r>
            <a:endParaRPr lang="en-US" sz="1450"/>
          </a:p>
        </p:txBody>
      </p:sp>
      <p:sp>
        <p:nvSpPr>
          <p:cNvPr id="10" name="Text 8"/>
          <p:cNvSpPr/>
          <p:nvPr/>
        </p:nvSpPr>
        <p:spPr>
          <a:xfrm>
            <a:off x="548640" y="510774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i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que decide qual usar: </a:t>
            </a:r>
          </a:p>
          <a:p>
            <a:pPr marL="0" indent="0" algn="ctr">
              <a:buNone/>
            </a:pPr>
            <a:r>
              <a:rPr lang="pt-BR" i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resposta for um número (regressão)</a:t>
            </a:r>
          </a:p>
          <a:p>
            <a:pPr marL="0" indent="0" algn="ctr">
              <a:buNone/>
            </a:pPr>
            <a:r>
              <a:rPr lang="pt-BR" i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resposta for um </a:t>
            </a:r>
            <a:r>
              <a:rPr lang="pt-BR" i="1" err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</a:t>
            </a:r>
            <a:r>
              <a:rPr lang="pt-BR" i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(classificação)?</a:t>
            </a:r>
            <a:endParaRPr lang="pt-BR">
              <a:solidFill>
                <a:srgbClr val="FF0000"/>
              </a:solidFill>
            </a:endParaRP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648603D2-A34D-5032-AA42-94D9FE0A2C5A}"/>
              </a:ext>
            </a:extLst>
          </p:cNvPr>
          <p:cNvSpPr txBox="1"/>
          <p:nvPr/>
        </p:nvSpPr>
        <p:spPr>
          <a:xfrm>
            <a:off x="651510" y="632841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/>
              <a:t>Inteligência Artificial</a:t>
            </a: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648045DB-E700-0055-B912-A037295EAB6C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0" i="0" u="none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14</a:t>
            </a:fld>
            <a:endParaRPr sz="900" b="0" i="0" u="none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Aprendizado não supervisionado</a:t>
            </a:r>
            <a:endParaRPr lang="en-US" sz="3100"/>
          </a:p>
        </p:txBody>
      </p:sp>
      <p:sp>
        <p:nvSpPr>
          <p:cNvPr id="3" name="Text 1"/>
          <p:cNvSpPr/>
          <p:nvPr/>
        </p:nvSpPr>
        <p:spPr>
          <a:xfrm>
            <a:off x="475488" y="1152144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rótulos: deixamos os próprios dados revelarem seus grupos.</a:t>
            </a:r>
            <a:endParaRPr lang="en-US" sz="150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486400" cy="2880360"/>
          </a:xfrm>
          <a:prstGeom prst="roundRect">
            <a:avLst>
              <a:gd name="adj" fmla="val 2540"/>
            </a:avLst>
          </a:prstGeom>
          <a:solidFill>
            <a:srgbClr val="EDF1FA"/>
          </a:solidFill>
          <a:ln w="12700">
            <a:solidFill>
              <a:srgbClr val="CFDB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2140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Agrupamento (clustering)</a:t>
            </a:r>
            <a:endParaRPr lang="en-US" sz="180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50292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 os dados em grupos internamente parecidos.
Ex.: </a:t>
            </a:r>
            <a:r>
              <a:rPr lang="en-US" sz="145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segmentar clientes</a:t>
            </a:r>
            <a:r>
              <a:rPr lang="en-US" sz="145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por comportamento, sem saber de antemão quais são os perfis.
Modelo clássico: </a:t>
            </a:r>
            <a:r>
              <a:rPr lang="en-US" sz="1450" b="1">
                <a:solidFill>
                  <a:srgbClr val="4F7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1450"/>
          </a:p>
        </p:txBody>
      </p:sp>
      <p:sp>
        <p:nvSpPr>
          <p:cNvPr id="7" name="Shape 5"/>
          <p:cNvSpPr/>
          <p:nvPr/>
        </p:nvSpPr>
        <p:spPr>
          <a:xfrm>
            <a:off x="6217920" y="1920240"/>
            <a:ext cx="5394960" cy="2880360"/>
          </a:xfrm>
          <a:prstGeom prst="roundRect">
            <a:avLst>
              <a:gd name="adj" fmla="val 1905"/>
            </a:avLst>
          </a:prstGeom>
          <a:solidFill>
            <a:srgbClr val="12183A"/>
          </a:solidFill>
          <a:ln w="12700">
            <a:solidFill>
              <a:srgbClr val="2A35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2084832"/>
            <a:ext cx="4937760" cy="2551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>
                <a:solidFill>
                  <a:srgbClr val="C79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125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sklearn.cluster </a:t>
            </a:r>
            <a:r>
              <a:rPr lang="en-US" sz="1250">
                <a:solidFill>
                  <a:srgbClr val="C79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r>
              <a:rPr lang="en-US" sz="125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KMeans</a:t>
            </a:r>
            <a:r>
              <a:rPr lang="en-US" sz="125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5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modelo = KMeans(n_clusters=</a:t>
            </a:r>
            <a:r>
              <a:rPr lang="en-US" sz="1250">
                <a:solidFill>
                  <a:srgbClr val="7FB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25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5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5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modelo.fit(X)</a:t>
            </a:r>
            <a:r>
              <a:rPr lang="en-US" sz="125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50">
                <a:solidFill>
                  <a:srgbClr val="6E79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cada cliente recebe um grupo</a:t>
            </a:r>
            <a:r>
              <a:rPr lang="en-US" sz="125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5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grupos = modelo.labels_</a:t>
            </a:r>
            <a:r>
              <a:rPr lang="en-US" sz="125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250"/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F2E14B03-790B-C401-CD56-23189BA80758}"/>
              </a:ext>
            </a:extLst>
          </p:cNvPr>
          <p:cNvSpPr txBox="1"/>
          <p:nvPr/>
        </p:nvSpPr>
        <p:spPr>
          <a:xfrm>
            <a:off x="651510" y="632841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/>
              <a:t>Inteligência Artificial</a:t>
            </a:r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AAF4C333-EC8D-D3A8-14E9-196D91D54123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0" i="0" u="none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15</a:t>
            </a:fld>
            <a:endParaRPr sz="900" b="0" i="0" u="none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Avaliando um modelo — as quatro métricas</a:t>
            </a:r>
            <a:endParaRPr lang="en-US" sz="290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2B84A"/>
                </a:solidFill>
              </a:rPr>
              <a:t>Exemplo: </a:t>
            </a:r>
            <a:r>
              <a:rPr lang="en-US" sz="1400">
                <a:solidFill>
                  <a:srgbClr val="5A6072"/>
                </a:solidFill>
              </a:rPr>
              <a:t>um filtro de spam classificou 100 e-mails. Havia 40 spams de </a:t>
            </a:r>
            <a:r>
              <a:rPr lang="en-US" sz="1400" err="1">
                <a:solidFill>
                  <a:srgbClr val="5A6072"/>
                </a:solidFill>
              </a:rPr>
              <a:t>verdade</a:t>
            </a:r>
            <a:r>
              <a:rPr lang="en-US" sz="1400">
                <a:solidFill>
                  <a:srgbClr val="5A6072"/>
                </a:solidFill>
              </a:rPr>
              <a:t> (</a:t>
            </a:r>
            <a:r>
              <a:rPr lang="en-US" sz="1400" err="1">
                <a:solidFill>
                  <a:srgbClr val="5A6072"/>
                </a:solidFill>
              </a:rPr>
              <a:t>olhar</a:t>
            </a:r>
            <a:r>
              <a:rPr lang="en-US" sz="1400">
                <a:solidFill>
                  <a:srgbClr val="5A6072"/>
                </a:solidFill>
              </a:rPr>
              <a:t> a </a:t>
            </a:r>
            <a:r>
              <a:rPr lang="en-US" sz="1400" err="1">
                <a:solidFill>
                  <a:srgbClr val="5A6072"/>
                </a:solidFill>
              </a:rPr>
              <a:t>linha</a:t>
            </a:r>
            <a:r>
              <a:rPr lang="en-US" sz="1400">
                <a:solidFill>
                  <a:srgbClr val="5A6072"/>
                </a:solidFill>
              </a:rPr>
              <a:t> “Spam” com </a:t>
            </a:r>
            <a:r>
              <a:rPr lang="en-US" sz="1400" err="1">
                <a:solidFill>
                  <a:srgbClr val="5A6072"/>
                </a:solidFill>
              </a:rPr>
              <a:t>os</a:t>
            </a:r>
            <a:r>
              <a:rPr lang="en-US" sz="1400">
                <a:solidFill>
                  <a:srgbClr val="5A6072"/>
                </a:solidFill>
              </a:rPr>
              <a:t> </a:t>
            </a:r>
            <a:r>
              <a:rPr lang="en-US" sz="1400" err="1">
                <a:solidFill>
                  <a:srgbClr val="5A6072"/>
                </a:solidFill>
              </a:rPr>
              <a:t>valores</a:t>
            </a:r>
            <a:r>
              <a:rPr lang="en-US" sz="1400">
                <a:solidFill>
                  <a:srgbClr val="5A6072"/>
                </a:solidFill>
              </a:rPr>
              <a:t> </a:t>
            </a:r>
            <a:r>
              <a:rPr lang="en-US" sz="1400" b="1">
                <a:solidFill>
                  <a:srgbClr val="5A6072"/>
                </a:solidFill>
              </a:rPr>
              <a:t>35+5</a:t>
            </a:r>
            <a:r>
              <a:rPr lang="en-US" sz="1400">
                <a:solidFill>
                  <a:srgbClr val="5A6072"/>
                </a:solidFill>
              </a:rPr>
              <a:t>.</a:t>
            </a:r>
            <a:endParaRPr lang="en-US" sz="140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E7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Previsto →</a:t>
            </a:r>
            <a:endParaRPr lang="en-US" sz="1100"/>
          </a:p>
        </p:txBody>
      </p:sp>
      <p:sp>
        <p:nvSpPr>
          <p:cNvPr id="5" name="Text 3"/>
          <p:cNvSpPr/>
          <p:nvPr/>
        </p:nvSpPr>
        <p:spPr>
          <a:xfrm>
            <a:off x="1600200" y="155448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3474720" y="155448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spam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502920" y="192024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E7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↓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1051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</a:t>
            </a:r>
            <a:endParaRPr lang="en-US" sz="1300"/>
          </a:p>
        </p:txBody>
      </p:sp>
      <p:sp>
        <p:nvSpPr>
          <p:cNvPr id="9" name="Text 7"/>
          <p:cNvSpPr/>
          <p:nvPr/>
        </p:nvSpPr>
        <p:spPr>
          <a:xfrm>
            <a:off x="548640" y="2834640"/>
            <a:ext cx="1051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spam</a:t>
            </a:r>
            <a:endParaRPr lang="en-US" sz="1300"/>
          </a:p>
        </p:txBody>
      </p:sp>
      <p:sp>
        <p:nvSpPr>
          <p:cNvPr id="10" name="Shape 8"/>
          <p:cNvSpPr/>
          <p:nvPr/>
        </p:nvSpPr>
        <p:spPr>
          <a:xfrm>
            <a:off x="1600200" y="1920240"/>
            <a:ext cx="1874520" cy="914400"/>
          </a:xfrm>
          <a:prstGeom prst="rect">
            <a:avLst/>
          </a:prstGeom>
          <a:solidFill>
            <a:srgbClr val="E4F3E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00200" y="1993392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3E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
</a:t>
            </a:r>
            <a:r>
              <a:rPr lang="en-US" sz="1100">
                <a:solidFill>
                  <a:srgbClr val="3E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acertou spam</a:t>
            </a:r>
            <a:endParaRPr lang="en-US" sz="2600"/>
          </a:p>
        </p:txBody>
      </p:sp>
      <p:sp>
        <p:nvSpPr>
          <p:cNvPr id="12" name="Text 10"/>
          <p:cNvSpPr/>
          <p:nvPr/>
        </p:nvSpPr>
        <p:spPr>
          <a:xfrm>
            <a:off x="1691640" y="1956816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3E9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VP</a:t>
            </a:r>
            <a:endParaRPr lang="en-US" sz="1000"/>
          </a:p>
        </p:txBody>
      </p:sp>
      <p:sp>
        <p:nvSpPr>
          <p:cNvPr id="13" name="Shape 11"/>
          <p:cNvSpPr/>
          <p:nvPr/>
        </p:nvSpPr>
        <p:spPr>
          <a:xfrm>
            <a:off x="3474720" y="1920240"/>
            <a:ext cx="1874520" cy="914400"/>
          </a:xfrm>
          <a:prstGeom prst="rect">
            <a:avLst/>
          </a:prstGeom>
          <a:solidFill>
            <a:srgbClr val="F7E4E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1993392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C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
</a:t>
            </a:r>
            <a:r>
              <a:rPr lang="en-US" sz="1100">
                <a:solidFill>
                  <a:srgbClr val="C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perdeu spam</a:t>
            </a:r>
            <a:endParaRPr lang="en-US" sz="2600"/>
          </a:p>
        </p:txBody>
      </p:sp>
      <p:sp>
        <p:nvSpPr>
          <p:cNvPr id="15" name="Text 13"/>
          <p:cNvSpPr/>
          <p:nvPr/>
        </p:nvSpPr>
        <p:spPr>
          <a:xfrm>
            <a:off x="3566160" y="1956816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C450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</a:t>
            </a:r>
            <a:endParaRPr lang="en-US" sz="1000"/>
          </a:p>
        </p:txBody>
      </p:sp>
      <p:sp>
        <p:nvSpPr>
          <p:cNvPr id="16" name="Shape 14"/>
          <p:cNvSpPr/>
          <p:nvPr/>
        </p:nvSpPr>
        <p:spPr>
          <a:xfrm>
            <a:off x="1600200" y="2834640"/>
            <a:ext cx="1874520" cy="914400"/>
          </a:xfrm>
          <a:prstGeom prst="rect">
            <a:avLst/>
          </a:prstGeom>
          <a:solidFill>
            <a:srgbClr val="F7E4E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00200" y="2907792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C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
</a:t>
            </a:r>
            <a:r>
              <a:rPr lang="en-US" sz="1100">
                <a:solidFill>
                  <a:srgbClr val="C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alarme falso</a:t>
            </a:r>
            <a:endParaRPr lang="en-US" sz="2600"/>
          </a:p>
        </p:txBody>
      </p:sp>
      <p:sp>
        <p:nvSpPr>
          <p:cNvPr id="18" name="Text 16"/>
          <p:cNvSpPr/>
          <p:nvPr/>
        </p:nvSpPr>
        <p:spPr>
          <a:xfrm>
            <a:off x="1691640" y="2871216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C450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FP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3474720" y="2834640"/>
            <a:ext cx="1874520" cy="914400"/>
          </a:xfrm>
          <a:prstGeom prst="rect">
            <a:avLst/>
          </a:prstGeom>
          <a:solidFill>
            <a:srgbClr val="E4F3E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2907792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3E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
</a:t>
            </a:r>
            <a:r>
              <a:rPr lang="en-US" sz="1100">
                <a:solidFill>
                  <a:srgbClr val="3E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acertou normal</a:t>
            </a:r>
            <a:endParaRPr lang="en-US" sz="2600"/>
          </a:p>
        </p:txBody>
      </p:sp>
      <p:sp>
        <p:nvSpPr>
          <p:cNvPr id="21" name="Text 19"/>
          <p:cNvSpPr/>
          <p:nvPr/>
        </p:nvSpPr>
        <p:spPr>
          <a:xfrm>
            <a:off x="3566160" y="2871216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3E9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VN</a:t>
            </a:r>
            <a:endParaRPr lang="en-US" sz="1000"/>
          </a:p>
        </p:txBody>
      </p:sp>
      <p:sp>
        <p:nvSpPr>
          <p:cNvPr id="22" name="Text 20"/>
          <p:cNvSpPr/>
          <p:nvPr/>
        </p:nvSpPr>
        <p:spPr>
          <a:xfrm>
            <a:off x="1600200" y="38404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6E7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VP/VN = acertos · FP = falso positivo · FN = falso negativo</a:t>
            </a:r>
            <a:endParaRPr lang="en-US" sz="1100"/>
          </a:p>
        </p:txBody>
      </p:sp>
      <p:sp>
        <p:nvSpPr>
          <p:cNvPr id="23" name="Shape 21"/>
          <p:cNvSpPr/>
          <p:nvPr/>
        </p:nvSpPr>
        <p:spPr>
          <a:xfrm>
            <a:off x="5806440" y="1554480"/>
            <a:ext cx="5806440" cy="914400"/>
          </a:xfrm>
          <a:prstGeom prst="roundRect">
            <a:avLst>
              <a:gd name="adj" fmla="val 6000"/>
            </a:avLst>
          </a:prstGeom>
          <a:solidFill>
            <a:srgbClr val="EDF1FA"/>
          </a:solidFill>
          <a:ln w="12700">
            <a:solidFill>
              <a:srgbClr val="CFDB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35040" y="166420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Acurácia</a:t>
            </a:r>
            <a:endParaRPr lang="en-US" sz="1600"/>
          </a:p>
        </p:txBody>
      </p:sp>
      <p:sp>
        <p:nvSpPr>
          <p:cNvPr id="25" name="Text 23"/>
          <p:cNvSpPr/>
          <p:nvPr/>
        </p:nvSpPr>
        <p:spPr>
          <a:xfrm>
            <a:off x="6035040" y="20574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E79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(VP+VN) / total</a:t>
            </a:r>
            <a:endParaRPr lang="en-US" sz="1050"/>
          </a:p>
        </p:txBody>
      </p:sp>
      <p:sp>
        <p:nvSpPr>
          <p:cNvPr id="26" name="Text 24"/>
          <p:cNvSpPr/>
          <p:nvPr/>
        </p:nvSpPr>
        <p:spPr>
          <a:xfrm>
            <a:off x="8869680" y="164592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5A60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(35+50)/100  =  </a:t>
            </a:r>
            <a:r>
              <a:rPr lang="en-US" sz="1600" b="1">
                <a:solidFill>
                  <a:srgbClr val="4F7B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85%</a:t>
            </a:r>
            <a:endParaRPr lang="en-US" sz="1250"/>
          </a:p>
        </p:txBody>
      </p:sp>
      <p:sp>
        <p:nvSpPr>
          <p:cNvPr id="27" name="Text 25"/>
          <p:cNvSpPr/>
          <p:nvPr/>
        </p:nvSpPr>
        <p:spPr>
          <a:xfrm>
            <a:off x="8869680" y="20574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1050" i="1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acertos gerais de Spam e Não Spam: o que classificou certo!</a:t>
            </a:r>
            <a:endParaRPr lang="pt-BR" sz="1050">
              <a:solidFill>
                <a:srgbClr val="00B050"/>
              </a:solidFill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806440" y="2578608"/>
            <a:ext cx="5806440" cy="914400"/>
          </a:xfrm>
          <a:prstGeom prst="roundRect">
            <a:avLst>
              <a:gd name="adj" fmla="val 6000"/>
            </a:avLst>
          </a:prstGeom>
          <a:solidFill>
            <a:srgbClr val="EDF1FA"/>
          </a:solidFill>
          <a:ln w="12700">
            <a:solidFill>
              <a:srgbClr val="CFDB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35040" y="268833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Precisão</a:t>
            </a:r>
            <a:endParaRPr lang="en-US" sz="1600"/>
          </a:p>
        </p:txBody>
      </p:sp>
      <p:sp>
        <p:nvSpPr>
          <p:cNvPr id="30" name="Text 28"/>
          <p:cNvSpPr/>
          <p:nvPr/>
        </p:nvSpPr>
        <p:spPr>
          <a:xfrm>
            <a:off x="6035040" y="308152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E79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VP / (VP+FP)</a:t>
            </a:r>
            <a:endParaRPr lang="en-US" sz="1050"/>
          </a:p>
        </p:txBody>
      </p:sp>
      <p:sp>
        <p:nvSpPr>
          <p:cNvPr id="31" name="Text 29"/>
          <p:cNvSpPr/>
          <p:nvPr/>
        </p:nvSpPr>
        <p:spPr>
          <a:xfrm>
            <a:off x="8869680" y="267004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5A60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35/(35+10)  =  </a:t>
            </a:r>
            <a:r>
              <a:rPr lang="en-US" sz="1600" b="1">
                <a:solidFill>
                  <a:srgbClr val="4F7B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78%</a:t>
            </a:r>
            <a:endParaRPr lang="en-US" sz="1250"/>
          </a:p>
        </p:txBody>
      </p:sp>
      <p:sp>
        <p:nvSpPr>
          <p:cNvPr id="32" name="Text 30"/>
          <p:cNvSpPr/>
          <p:nvPr/>
        </p:nvSpPr>
        <p:spPr>
          <a:xfrm>
            <a:off x="8869680" y="308152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1050" i="1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tudo que o filtro chamou de spam, quanto realmente era spam?</a:t>
            </a:r>
            <a:endParaRPr lang="en-US" sz="1050">
              <a:solidFill>
                <a:srgbClr val="00B050"/>
              </a:solidFill>
            </a:endParaRPr>
          </a:p>
        </p:txBody>
      </p:sp>
      <p:sp>
        <p:nvSpPr>
          <p:cNvPr id="33" name="Shape 31"/>
          <p:cNvSpPr/>
          <p:nvPr/>
        </p:nvSpPr>
        <p:spPr>
          <a:xfrm>
            <a:off x="5806440" y="3602736"/>
            <a:ext cx="5806440" cy="914400"/>
          </a:xfrm>
          <a:prstGeom prst="roundRect">
            <a:avLst>
              <a:gd name="adj" fmla="val 6000"/>
            </a:avLst>
          </a:prstGeom>
          <a:solidFill>
            <a:srgbClr val="EDF1FA"/>
          </a:solidFill>
          <a:ln w="12700">
            <a:solidFill>
              <a:srgbClr val="CFDBF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35040" y="371246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Revocação</a:t>
            </a:r>
            <a:r>
              <a:rPr lang="en-US" sz="16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(Recall)</a:t>
            </a:r>
            <a:endParaRPr lang="en-US" sz="1600"/>
          </a:p>
        </p:txBody>
      </p:sp>
      <p:sp>
        <p:nvSpPr>
          <p:cNvPr id="35" name="Text 33"/>
          <p:cNvSpPr/>
          <p:nvPr/>
        </p:nvSpPr>
        <p:spPr>
          <a:xfrm>
            <a:off x="6035040" y="4105656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E79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VP / (VP+FN)</a:t>
            </a:r>
            <a:endParaRPr lang="en-US" sz="1050"/>
          </a:p>
        </p:txBody>
      </p:sp>
      <p:sp>
        <p:nvSpPr>
          <p:cNvPr id="36" name="Text 34"/>
          <p:cNvSpPr/>
          <p:nvPr/>
        </p:nvSpPr>
        <p:spPr>
          <a:xfrm>
            <a:off x="8869680" y="3694176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5A60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35/(35+5)  =  </a:t>
            </a:r>
            <a:r>
              <a:rPr lang="en-US" sz="1600" b="1">
                <a:solidFill>
                  <a:srgbClr val="4F7B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88%</a:t>
            </a:r>
            <a:endParaRPr lang="en-US" sz="1250"/>
          </a:p>
        </p:txBody>
      </p:sp>
      <p:sp>
        <p:nvSpPr>
          <p:cNvPr id="37" name="Text 35"/>
          <p:cNvSpPr/>
          <p:nvPr/>
        </p:nvSpPr>
        <p:spPr>
          <a:xfrm>
            <a:off x="8869680" y="4070484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1050" i="1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todos os spams que realmente existiam, quantos o filtro conseguiu pegar?</a:t>
            </a:r>
            <a:endParaRPr lang="en-US" sz="1050">
              <a:solidFill>
                <a:srgbClr val="00B050"/>
              </a:solidFill>
            </a:endParaRPr>
          </a:p>
        </p:txBody>
      </p:sp>
      <p:sp>
        <p:nvSpPr>
          <p:cNvPr id="38" name="Shape 36"/>
          <p:cNvSpPr/>
          <p:nvPr/>
        </p:nvSpPr>
        <p:spPr>
          <a:xfrm>
            <a:off x="5806440" y="4626864"/>
            <a:ext cx="5806440" cy="1600200"/>
          </a:xfrm>
          <a:prstGeom prst="roundRect">
            <a:avLst>
              <a:gd name="adj" fmla="val 3429"/>
            </a:avLst>
          </a:prstGeom>
          <a:solidFill>
            <a:srgbClr val="1E2761"/>
          </a:solidFill>
          <a:ln/>
        </p:spPr>
      </p:sp>
      <p:sp>
        <p:nvSpPr>
          <p:cNvPr id="39" name="Text 37"/>
          <p:cNvSpPr/>
          <p:nvPr/>
        </p:nvSpPr>
        <p:spPr>
          <a:xfrm>
            <a:off x="6035040" y="47365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 médio (MAE)</a:t>
            </a:r>
            <a:endParaRPr lang="en-US" sz="1600"/>
          </a:p>
        </p:txBody>
      </p:sp>
      <p:sp>
        <p:nvSpPr>
          <p:cNvPr id="40" name="Text 38"/>
          <p:cNvSpPr/>
          <p:nvPr/>
        </p:nvSpPr>
        <p:spPr>
          <a:xfrm>
            <a:off x="6035040" y="5074920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>
                <a:solidFill>
                  <a:srgbClr val="9FB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outra tarefa: prever um número, não classificar</a:t>
            </a:r>
            <a:endParaRPr lang="en-US" sz="1150"/>
          </a:p>
        </p:txBody>
      </p:sp>
      <p:sp>
        <p:nvSpPr>
          <p:cNvPr id="41" name="Text 39"/>
          <p:cNvSpPr/>
          <p:nvPr/>
        </p:nvSpPr>
        <p:spPr>
          <a:xfrm>
            <a:off x="6035040" y="5440680"/>
            <a:ext cx="5349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>
                <a:solidFill>
                  <a:srgbClr val="CADCFC"/>
                </a:solidFill>
              </a:rPr>
              <a:t>Ex.: previ 3 preços — errei por </a:t>
            </a:r>
            <a:r>
              <a:rPr lang="en-US" sz="1200" b="1">
                <a:solidFill>
                  <a:srgbClr val="FFFFFF"/>
                </a:solidFill>
              </a:rPr>
              <a:t>R$10, R$20, R$30</a:t>
            </a:r>
            <a:r>
              <a:rPr lang="en-US" sz="1200">
                <a:solidFill>
                  <a:srgbClr val="000000"/>
                </a:solidFill>
              </a:rPr>
              <a:t>
</a:t>
            </a:r>
            <a:r>
              <a:rPr lang="en-US" sz="120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MAE = média dos erros  =  (10+20+30)/3  =  </a:t>
            </a:r>
            <a:r>
              <a:rPr lang="en-US" sz="1500" b="1">
                <a:solidFill>
                  <a:srgbClr val="F2B8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R$20</a:t>
            </a:r>
            <a:endParaRPr lang="en-US" sz="1200"/>
          </a:p>
        </p:txBody>
      </p:sp>
      <p:sp>
        <p:nvSpPr>
          <p:cNvPr id="42" name="Shape 40"/>
          <p:cNvSpPr/>
          <p:nvPr/>
        </p:nvSpPr>
        <p:spPr>
          <a:xfrm>
            <a:off x="548640" y="4892040"/>
            <a:ext cx="5120640" cy="1325880"/>
          </a:xfrm>
          <a:prstGeom prst="roundRect">
            <a:avLst>
              <a:gd name="adj" fmla="val 4828"/>
            </a:avLst>
          </a:prstGeom>
          <a:solidFill>
            <a:srgbClr val="FDF4E0"/>
          </a:solidFill>
          <a:ln/>
        </p:spPr>
      </p:sp>
      <p:sp>
        <p:nvSpPr>
          <p:cNvPr id="43" name="Text 41"/>
          <p:cNvSpPr/>
          <p:nvPr/>
        </p:nvSpPr>
        <p:spPr>
          <a:xfrm>
            <a:off x="777240" y="50292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9A6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não basta a acurácia</a:t>
            </a:r>
            <a:endParaRPr lang="en-US" sz="1500"/>
          </a:p>
        </p:txBody>
      </p:sp>
      <p:sp>
        <p:nvSpPr>
          <p:cNvPr id="44" name="Text 42"/>
          <p:cNvSpPr/>
          <p:nvPr/>
        </p:nvSpPr>
        <p:spPr>
          <a:xfrm>
            <a:off x="777240" y="5394960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Precisão</a:t>
            </a:r>
            <a:r>
              <a:rPr lang="en-US" sz="120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protege contra alarme falso; </a:t>
            </a:r>
            <a:r>
              <a:rPr lang="en-US" sz="1200" b="1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revocação</a:t>
            </a:r>
            <a:r>
              <a:rPr lang="en-US" sz="120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contra deixar passar. Há um trade-off entre as duas — e a acurácia sozinha esconde isso quando as classes são desbalanceadas.</a:t>
            </a:r>
            <a:endParaRPr lang="en-US" sz="12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>
                <a:solidFill>
                  <a:srgbClr val="F2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ATIVIDADE: MACHINE LEARNING com CARDS</a:t>
            </a:r>
            <a:endParaRPr lang="en-US" sz="140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Tipos de Aprendizagem — vocês são o algoritmo</a:t>
            </a:r>
            <a:endParaRPr lang="en-US" sz="310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</a:t>
            </a:r>
            <a:r>
              <a:rPr lang="en-US" sz="1500" i="1" err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organizar</a:t>
            </a:r>
            <a:r>
              <a:rPr lang="en-US" sz="1500" i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i="1" err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lang="en-US" sz="1500" i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i="1" err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</a:t>
            </a:r>
            <a:r>
              <a:rPr lang="en-US" sz="1500" i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API. Cada grupo treina um "modelo" a partir de cards e testa sua </a:t>
            </a:r>
            <a:r>
              <a:rPr lang="en-US" sz="1500" i="1" err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</a:t>
            </a:r>
            <a:r>
              <a:rPr lang="en-US" sz="1500" i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buNone/>
            </a:pPr>
            <a:r>
              <a:rPr lang="en-US" sz="1500" i="1" err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</a:t>
            </a:r>
            <a:r>
              <a:rPr lang="en-US" sz="1500" i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i="1" err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</a:t>
            </a:r>
            <a:r>
              <a:rPr lang="en-US" sz="1500" i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i="1" err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</a:t>
            </a:r>
            <a:r>
              <a:rPr lang="en-US" sz="1500" i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i="1" err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</a:t>
            </a:r>
            <a:r>
              <a:rPr lang="en-US" sz="1500" i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i="1" err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</a:t>
            </a:r>
            <a:r>
              <a:rPr lang="en-US" sz="1500" i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i="1" err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lang="en-US" sz="1500" i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cards – </a:t>
            </a:r>
            <a:r>
              <a:rPr lang="en-US" sz="1500" i="1" err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temos</a:t>
            </a:r>
            <a:r>
              <a:rPr lang="en-US" sz="1500" i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84 cards; divider entre </a:t>
            </a:r>
            <a:r>
              <a:rPr lang="en-US" sz="1500" i="1" err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r>
              <a:rPr lang="en-US" sz="1500" i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i="1" err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</a:t>
            </a:r>
            <a:r>
              <a:rPr lang="en-US" sz="1500" i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forma </a:t>
            </a:r>
            <a:r>
              <a:rPr lang="en-US" sz="1500" i="1" err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igual</a:t>
            </a:r>
            <a:endParaRPr lang="en-US" sz="1500">
              <a:solidFill>
                <a:srgbClr val="FF0000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5440680" cy="2514600"/>
          </a:xfrm>
          <a:prstGeom prst="roundRect">
            <a:avLst>
              <a:gd name="adj" fmla="val 2909"/>
            </a:avLst>
          </a:prstGeom>
          <a:solidFill>
            <a:srgbClr val="232C63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194560"/>
            <a:ext cx="5440680" cy="118872"/>
          </a:xfrm>
          <a:prstGeom prst="roundRect">
            <a:avLst>
              <a:gd name="adj" fmla="val 23077"/>
            </a:avLst>
          </a:prstGeom>
          <a:solidFill>
            <a:srgbClr val="4F7BE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9572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PARTE 1 · Treinamento com os dados</a:t>
            </a:r>
            <a:endParaRPr lang="en-US" sz="1700"/>
          </a:p>
        </p:txBody>
      </p:sp>
      <p:sp>
        <p:nvSpPr>
          <p:cNvPr id="9" name="Text 7"/>
          <p:cNvSpPr/>
          <p:nvPr/>
        </p:nvSpPr>
        <p:spPr>
          <a:xfrm>
            <a:off x="822960" y="2880360"/>
            <a:ext cx="50292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pt-BR" sz="145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</a:t>
            </a:r>
            <a:r>
              <a:rPr lang="pt-BR" sz="14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amostras: parte para treino, parte para teste
</a:t>
            </a:r>
            <a:r>
              <a:rPr lang="pt-BR" sz="145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Observar</a:t>
            </a:r>
            <a:r>
              <a:rPr lang="pt-BR" sz="14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os objetos e </a:t>
            </a:r>
            <a:r>
              <a:rPr lang="pt-BR" sz="1450" b="1">
                <a:solidFill>
                  <a:srgbClr val="F2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"aprender"</a:t>
            </a:r>
            <a:r>
              <a:rPr lang="pt-BR" sz="14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os padrões — gerando o modelo do grupo</a:t>
            </a:r>
          </a:p>
          <a:p>
            <a:pPr marL="0" indent="0">
              <a:lnSpc>
                <a:spcPct val="115000"/>
              </a:lnSpc>
              <a:buNone/>
            </a:pPr>
            <a:endParaRPr lang="pt-BR" sz="1450">
              <a:solidFill>
                <a:srgbClr val="CADCF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pt-BR" sz="1450" i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o modelo gerado?</a:t>
            </a:r>
            <a:endParaRPr lang="pt-BR" sz="1450" i="1">
              <a:solidFill>
                <a:srgbClr val="FF0000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6172200" y="2194560"/>
            <a:ext cx="5440680" cy="2514600"/>
          </a:xfrm>
          <a:prstGeom prst="roundRect">
            <a:avLst>
              <a:gd name="adj" fmla="val 2909"/>
            </a:avLst>
          </a:prstGeom>
          <a:solidFill>
            <a:srgbClr val="232C63"/>
          </a:solidFill>
          <a:ln/>
        </p:spPr>
      </p:sp>
      <p:sp>
        <p:nvSpPr>
          <p:cNvPr id="11" name="Shape 9"/>
          <p:cNvSpPr/>
          <p:nvPr/>
        </p:nvSpPr>
        <p:spPr>
          <a:xfrm>
            <a:off x="6172200" y="2194560"/>
            <a:ext cx="5440680" cy="118872"/>
          </a:xfrm>
          <a:prstGeom prst="roundRect">
            <a:avLst>
              <a:gd name="adj" fmla="val 23077"/>
            </a:avLst>
          </a:prstGeom>
          <a:solidFill>
            <a:srgbClr val="49B3A0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239572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PARTE 2 · Avaliação e testes</a:t>
            </a:r>
            <a:endParaRPr lang="en-US" sz="1700"/>
          </a:p>
        </p:txBody>
      </p:sp>
      <p:sp>
        <p:nvSpPr>
          <p:cNvPr id="13" name="Text 11"/>
          <p:cNvSpPr/>
          <p:nvPr/>
        </p:nvSpPr>
        <p:spPr>
          <a:xfrm>
            <a:off x="6446520" y="2880360"/>
            <a:ext cx="50292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pt-BR" sz="145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Submeter</a:t>
            </a:r>
            <a:r>
              <a:rPr lang="pt-BR" sz="14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amostras de teste ao modelo aprendido
</a:t>
            </a:r>
            <a:r>
              <a:rPr lang="pt-BR" sz="1450" b="1">
                <a:solidFill>
                  <a:srgbClr val="F2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a acurácia</a:t>
            </a:r>
            <a:r>
              <a:rPr lang="pt-BR" sz="14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de quantas o grupo acertou o padrão?</a:t>
            </a:r>
          </a:p>
          <a:p>
            <a:pPr marL="0" indent="0">
              <a:lnSpc>
                <a:spcPct val="115000"/>
              </a:lnSpc>
              <a:buNone/>
            </a:pPr>
            <a:endParaRPr lang="pt-BR" sz="1450">
              <a:solidFill>
                <a:srgbClr val="CADCF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15000"/>
              </a:lnSpc>
              <a:buNone/>
            </a:pPr>
            <a:endParaRPr lang="pt-BR" sz="1450">
              <a:solidFill>
                <a:srgbClr val="CADCF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pt-BR" sz="1450" i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a acurácia do modelo?</a:t>
            </a:r>
            <a:endParaRPr lang="pt-BR" sz="1450"/>
          </a:p>
        </p:txBody>
      </p:sp>
      <p:sp>
        <p:nvSpPr>
          <p:cNvPr id="14" name="Shape 12"/>
          <p:cNvSpPr/>
          <p:nvPr/>
        </p:nvSpPr>
        <p:spPr>
          <a:xfrm>
            <a:off x="548640" y="4892040"/>
            <a:ext cx="6720840" cy="960120"/>
          </a:xfrm>
          <a:prstGeom prst="roundRect">
            <a:avLst>
              <a:gd name="adj" fmla="val 6667"/>
            </a:avLst>
          </a:prstGeom>
          <a:solidFill>
            <a:srgbClr val="141A45"/>
          </a:solidFill>
          <a:ln w="12700">
            <a:solidFill>
              <a:srgbClr val="34407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02920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9FB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822960" y="534924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impressos</a:t>
            </a:r>
            <a:r>
              <a:rPr lang="en-US" sz="13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padrões de objetos (treino e teste)   </a:t>
            </a:r>
          </a:p>
          <a:p>
            <a:pPr marL="0" indent="0">
              <a:buNone/>
            </a:pPr>
            <a:r>
              <a:rPr lang="en-US" sz="13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de texto</a:t>
            </a:r>
            <a:r>
              <a:rPr lang="en-US" sz="13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anotações</a:t>
            </a:r>
            <a:endParaRPr lang="en-US" sz="1300"/>
          </a:p>
        </p:txBody>
      </p:sp>
      <p:sp>
        <p:nvSpPr>
          <p:cNvPr id="17" name="Shape 15"/>
          <p:cNvSpPr/>
          <p:nvPr/>
        </p:nvSpPr>
        <p:spPr>
          <a:xfrm>
            <a:off x="7452360" y="4892040"/>
            <a:ext cx="4160520" cy="960120"/>
          </a:xfrm>
          <a:prstGeom prst="roundRect">
            <a:avLst>
              <a:gd name="adj" fmla="val 6667"/>
            </a:avLst>
          </a:prstGeom>
          <a:solidFill>
            <a:srgbClr val="2A2140"/>
          </a:solidFill>
          <a:ln w="12700">
            <a:solidFill>
              <a:srgbClr val="5B4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0" y="50292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C6B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PREWORK · fechamento</a:t>
            </a:r>
            <a:endParaRPr lang="en-US" sz="1200"/>
          </a:p>
        </p:txBody>
      </p:sp>
      <p:sp>
        <p:nvSpPr>
          <p:cNvPr id="19" name="Text 17"/>
          <p:cNvSpPr/>
          <p:nvPr/>
        </p:nvSpPr>
        <p:spPr>
          <a:xfrm>
            <a:off x="7680960" y="53492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i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sabe o que é treinar um algoritmo? Se sim, explique com suas palavras.</a:t>
            </a:r>
            <a:endParaRPr lang="en-US" sz="1250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062F1548-5522-1146-9EFA-402396339E39}"/>
              </a:ext>
            </a:extLst>
          </p:cNvPr>
          <p:cNvSpPr txBox="1"/>
          <p:nvPr/>
        </p:nvSpPr>
        <p:spPr>
          <a:xfrm>
            <a:off x="2498456" y="5936146"/>
            <a:ext cx="627928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i="1">
                <a:solidFill>
                  <a:srgbClr val="FF0000"/>
                </a:solidFill>
              </a:rPr>
              <a:t>Por fim..	Qual o modelo certo?</a:t>
            </a:r>
          </a:p>
          <a:p>
            <a:r>
              <a:rPr lang="pt-BR" sz="2400" i="1">
                <a:solidFill>
                  <a:srgbClr val="FF0000"/>
                </a:solidFill>
              </a:rPr>
              <a:t>		Calcule a acurácia do seu modelo!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>
                <a:solidFill>
                  <a:srgbClr val="4F7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SE FAZ NA PRÁTICA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fluxo de um projeto de ML</a:t>
            </a:r>
            <a:endParaRPr lang="en-US" sz="3100"/>
          </a:p>
        </p:txBody>
      </p:sp>
      <p:sp>
        <p:nvSpPr>
          <p:cNvPr id="4" name="Shape 2"/>
          <p:cNvSpPr/>
          <p:nvPr/>
        </p:nvSpPr>
        <p:spPr>
          <a:xfrm>
            <a:off x="640080" y="2330450"/>
            <a:ext cx="685800" cy="685800"/>
          </a:xfrm>
          <a:prstGeom prst="ellipse">
            <a:avLst/>
          </a:prstGeom>
          <a:solidFill>
            <a:srgbClr val="4F7BE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33045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00"/>
          </a:p>
        </p:txBody>
      </p:sp>
      <p:sp>
        <p:nvSpPr>
          <p:cNvPr id="6" name="Text 4"/>
          <p:cNvSpPr/>
          <p:nvPr/>
        </p:nvSpPr>
        <p:spPr>
          <a:xfrm>
            <a:off x="1508760" y="233045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Entender o problema</a:t>
            </a:r>
            <a:endParaRPr lang="en-US" sz="1900"/>
          </a:p>
        </p:txBody>
      </p:sp>
      <p:sp>
        <p:nvSpPr>
          <p:cNvPr id="7" name="Text 5"/>
          <p:cNvSpPr/>
          <p:nvPr/>
        </p:nvSpPr>
        <p:spPr>
          <a:xfrm>
            <a:off x="5212080" y="2330450"/>
            <a:ext cx="6309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decisão o dado vai apoiar?</a:t>
            </a:r>
            <a:endParaRPr lang="en-US" sz="1500"/>
          </a:p>
        </p:txBody>
      </p:sp>
      <p:sp>
        <p:nvSpPr>
          <p:cNvPr id="8" name="Shape 6"/>
          <p:cNvSpPr/>
          <p:nvPr/>
        </p:nvSpPr>
        <p:spPr>
          <a:xfrm>
            <a:off x="640080" y="3125978"/>
            <a:ext cx="685800" cy="685800"/>
          </a:xfrm>
          <a:prstGeom prst="ellipse">
            <a:avLst/>
          </a:prstGeom>
          <a:solidFill>
            <a:srgbClr val="4F7BE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12597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00"/>
          </a:p>
        </p:txBody>
      </p:sp>
      <p:sp>
        <p:nvSpPr>
          <p:cNvPr id="10" name="Text 8"/>
          <p:cNvSpPr/>
          <p:nvPr/>
        </p:nvSpPr>
        <p:spPr>
          <a:xfrm>
            <a:off x="1508760" y="3125978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Coletar e preparar</a:t>
            </a:r>
            <a:endParaRPr lang="en-US" sz="1900"/>
          </a:p>
        </p:txBody>
      </p:sp>
      <p:sp>
        <p:nvSpPr>
          <p:cNvPr id="11" name="Text 9"/>
          <p:cNvSpPr/>
          <p:nvPr/>
        </p:nvSpPr>
        <p:spPr>
          <a:xfrm>
            <a:off x="5212080" y="3125978"/>
            <a:ext cx="6309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limpar, tratar faltantes, organizar</a:t>
            </a:r>
            <a:endParaRPr lang="en-US" sz="1500"/>
          </a:p>
        </p:txBody>
      </p:sp>
      <p:sp>
        <p:nvSpPr>
          <p:cNvPr id="12" name="Shape 10"/>
          <p:cNvSpPr/>
          <p:nvPr/>
        </p:nvSpPr>
        <p:spPr>
          <a:xfrm>
            <a:off x="640080" y="3921506"/>
            <a:ext cx="685800" cy="685800"/>
          </a:xfrm>
          <a:prstGeom prst="ellipse">
            <a:avLst/>
          </a:prstGeom>
          <a:solidFill>
            <a:srgbClr val="4F7BE8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921506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/>
          </a:p>
        </p:txBody>
      </p:sp>
      <p:sp>
        <p:nvSpPr>
          <p:cNvPr id="14" name="Text 12"/>
          <p:cNvSpPr/>
          <p:nvPr/>
        </p:nvSpPr>
        <p:spPr>
          <a:xfrm>
            <a:off x="1508760" y="3921506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Treinar o modelo</a:t>
            </a:r>
            <a:endParaRPr lang="en-US" sz="1900"/>
          </a:p>
        </p:txBody>
      </p:sp>
      <p:sp>
        <p:nvSpPr>
          <p:cNvPr id="15" name="Text 13"/>
          <p:cNvSpPr/>
          <p:nvPr/>
        </p:nvSpPr>
        <p:spPr>
          <a:xfrm>
            <a:off x="5212080" y="3921506"/>
            <a:ext cx="6309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 padrões nos dados de treino</a:t>
            </a:r>
            <a:endParaRPr lang="en-US" sz="1500"/>
          </a:p>
        </p:txBody>
      </p:sp>
      <p:sp>
        <p:nvSpPr>
          <p:cNvPr id="16" name="Shape 14"/>
          <p:cNvSpPr/>
          <p:nvPr/>
        </p:nvSpPr>
        <p:spPr>
          <a:xfrm>
            <a:off x="640080" y="4717034"/>
            <a:ext cx="685800" cy="685800"/>
          </a:xfrm>
          <a:prstGeom prst="ellipse">
            <a:avLst/>
          </a:prstGeom>
          <a:solidFill>
            <a:srgbClr val="4F7BE8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717034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900"/>
          </a:p>
        </p:txBody>
      </p:sp>
      <p:sp>
        <p:nvSpPr>
          <p:cNvPr id="18" name="Text 16"/>
          <p:cNvSpPr/>
          <p:nvPr/>
        </p:nvSpPr>
        <p:spPr>
          <a:xfrm>
            <a:off x="1508760" y="4717034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Avaliar</a:t>
            </a:r>
            <a:endParaRPr lang="en-US" sz="1900"/>
          </a:p>
        </p:txBody>
      </p:sp>
      <p:sp>
        <p:nvSpPr>
          <p:cNvPr id="19" name="Text 17"/>
          <p:cNvSpPr/>
          <p:nvPr/>
        </p:nvSpPr>
        <p:spPr>
          <a:xfrm>
            <a:off x="5212080" y="4717034"/>
            <a:ext cx="6309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em dados nunca vistos</a:t>
            </a:r>
            <a:endParaRPr lang="en-US" sz="1500"/>
          </a:p>
        </p:txBody>
      </p:sp>
      <p:sp>
        <p:nvSpPr>
          <p:cNvPr id="20" name="Shape 18"/>
          <p:cNvSpPr/>
          <p:nvPr/>
        </p:nvSpPr>
        <p:spPr>
          <a:xfrm>
            <a:off x="640080" y="5512562"/>
            <a:ext cx="685800" cy="685800"/>
          </a:xfrm>
          <a:prstGeom prst="ellipse">
            <a:avLst/>
          </a:prstGeom>
          <a:solidFill>
            <a:srgbClr val="4F7BE8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51256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900"/>
          </a:p>
        </p:txBody>
      </p:sp>
      <p:sp>
        <p:nvSpPr>
          <p:cNvPr id="22" name="Text 20"/>
          <p:cNvSpPr/>
          <p:nvPr/>
        </p:nvSpPr>
        <p:spPr>
          <a:xfrm>
            <a:off x="1508760" y="5512562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Implantar</a:t>
            </a:r>
            <a:endParaRPr lang="en-US" sz="1900"/>
          </a:p>
        </p:txBody>
      </p:sp>
      <p:sp>
        <p:nvSpPr>
          <p:cNvPr id="23" name="Text 21"/>
          <p:cNvSpPr/>
          <p:nvPr/>
        </p:nvSpPr>
        <p:spPr>
          <a:xfrm>
            <a:off x="5212080" y="5512562"/>
            <a:ext cx="6309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colocar em uso e monitorar</a:t>
            </a:r>
            <a:endParaRPr lang="en-US" sz="1500"/>
          </a:p>
        </p:txBody>
      </p:sp>
      <p:sp>
        <p:nvSpPr>
          <p:cNvPr id="24" name="Text 22"/>
          <p:cNvSpPr/>
          <p:nvPr/>
        </p:nvSpPr>
        <p:spPr>
          <a:xfrm>
            <a:off x="502920" y="1478154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espírito do CRISP-DM — o processo-padrão de projetos de ML.</a:t>
            </a:r>
            <a:endParaRPr lang="en-US" sz="1350">
              <a:solidFill>
                <a:srgbClr val="FF0000"/>
              </a:solidFill>
            </a:endParaRPr>
          </a:p>
        </p:txBody>
      </p:sp>
      <p:sp>
        <p:nvSpPr>
          <p:cNvPr id="27" name="TextBox 7">
            <a:extLst>
              <a:ext uri="{FF2B5EF4-FFF2-40B4-BE49-F238E27FC236}">
                <a16:creationId xmlns:a16="http://schemas.microsoft.com/office/drawing/2014/main" id="{B5725E5F-DB65-8E43-035D-D87A844B68C8}"/>
              </a:ext>
            </a:extLst>
          </p:cNvPr>
          <p:cNvSpPr txBox="1"/>
          <p:nvPr/>
        </p:nvSpPr>
        <p:spPr>
          <a:xfrm>
            <a:off x="651510" y="632841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/>
              <a:t>Inteligência Artificial</a:t>
            </a:r>
          </a:p>
        </p:txBody>
      </p:sp>
      <p:sp>
        <p:nvSpPr>
          <p:cNvPr id="28" name="TextBox 8">
            <a:extLst>
              <a:ext uri="{FF2B5EF4-FFF2-40B4-BE49-F238E27FC236}">
                <a16:creationId xmlns:a16="http://schemas.microsoft.com/office/drawing/2014/main" id="{E632A461-19D8-86C8-0F7F-AFC9B520085B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0" i="0" u="none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18</a:t>
            </a:fld>
            <a:endParaRPr sz="900" b="0" i="0" u="none">
              <a:solidFill>
                <a:srgbClr val="94A3B8"/>
              </a:solidFill>
              <a:latin typeface="Inter"/>
            </a:endParaRP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F4610295-FB3C-8902-F09C-7E4C2B658165}"/>
              </a:ext>
            </a:extLst>
          </p:cNvPr>
          <p:cNvSpPr txBox="1"/>
          <p:nvPr/>
        </p:nvSpPr>
        <p:spPr>
          <a:xfrm>
            <a:off x="8607086" y="2295276"/>
            <a:ext cx="24259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>
                <a:solidFill>
                  <a:schemeClr val="bg1"/>
                </a:solidFill>
              </a:rPr>
              <a:t>Business </a:t>
            </a:r>
            <a:r>
              <a:rPr lang="pt-BR" err="1">
                <a:solidFill>
                  <a:schemeClr val="bg1"/>
                </a:solidFill>
              </a:rPr>
              <a:t>Understanding</a:t>
            </a:r>
            <a:endParaRPr lang="pt-BR">
              <a:solidFill>
                <a:schemeClr val="bg1"/>
              </a:solidFill>
            </a:endParaRPr>
          </a:p>
          <a:p>
            <a:r>
              <a:rPr lang="pt-BR">
                <a:solidFill>
                  <a:schemeClr val="bg1"/>
                </a:solidFill>
              </a:rPr>
              <a:t>Data </a:t>
            </a:r>
            <a:r>
              <a:rPr lang="pt-BR" err="1">
                <a:solidFill>
                  <a:schemeClr val="bg1"/>
                </a:solidFill>
              </a:rPr>
              <a:t>Understanding</a:t>
            </a:r>
            <a:endParaRPr lang="pt-BR">
              <a:solidFill>
                <a:schemeClr val="bg1"/>
              </a:solidFill>
            </a:endParaRP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9BA8613A-46D0-3C97-6ADC-E4F9DF105002}"/>
              </a:ext>
            </a:extLst>
          </p:cNvPr>
          <p:cNvSpPr txBox="1"/>
          <p:nvPr/>
        </p:nvSpPr>
        <p:spPr>
          <a:xfrm>
            <a:off x="8607086" y="3221323"/>
            <a:ext cx="17744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>
                <a:solidFill>
                  <a:schemeClr val="bg1"/>
                </a:solidFill>
              </a:rPr>
              <a:t>Data </a:t>
            </a:r>
            <a:r>
              <a:rPr lang="pt-BR" err="1">
                <a:solidFill>
                  <a:schemeClr val="bg1"/>
                </a:solidFill>
              </a:rPr>
              <a:t>Preparation</a:t>
            </a:r>
            <a:endParaRPr lang="pt-BR">
              <a:solidFill>
                <a:schemeClr val="bg1"/>
              </a:solidFill>
            </a:endParaRP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34D3CE79-E514-4C96-45A0-99D0550A36A2}"/>
              </a:ext>
            </a:extLst>
          </p:cNvPr>
          <p:cNvSpPr txBox="1"/>
          <p:nvPr/>
        </p:nvSpPr>
        <p:spPr>
          <a:xfrm>
            <a:off x="8607086" y="4077080"/>
            <a:ext cx="10775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>
                <a:solidFill>
                  <a:schemeClr val="bg1"/>
                </a:solidFill>
              </a:rPr>
              <a:t>Modeling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4C4BC5EB-E61E-F591-E445-74CC1129FAF7}"/>
              </a:ext>
            </a:extLst>
          </p:cNvPr>
          <p:cNvSpPr txBox="1"/>
          <p:nvPr/>
        </p:nvSpPr>
        <p:spPr>
          <a:xfrm>
            <a:off x="8607086" y="4891803"/>
            <a:ext cx="1159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err="1">
                <a:solidFill>
                  <a:schemeClr val="bg1"/>
                </a:solidFill>
              </a:rPr>
              <a:t>Evaluation</a:t>
            </a:r>
            <a:endParaRPr lang="pt-BR">
              <a:solidFill>
                <a:schemeClr val="bg1"/>
              </a:solidFill>
            </a:endParaRP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33627469-762F-A2BF-CD81-28CF28EB166D}"/>
              </a:ext>
            </a:extLst>
          </p:cNvPr>
          <p:cNvSpPr txBox="1"/>
          <p:nvPr/>
        </p:nvSpPr>
        <p:spPr>
          <a:xfrm>
            <a:off x="8607086" y="5706526"/>
            <a:ext cx="1338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>
                <a:solidFill>
                  <a:schemeClr val="bg1"/>
                </a:solidFill>
              </a:rPr>
              <a:t>Deployment</a:t>
            </a:r>
          </a:p>
        </p:txBody>
      </p:sp>
      <p:pic>
        <p:nvPicPr>
          <p:cNvPr id="25" name="Imagem 1">
            <a:extLst>
              <a:ext uri="{FF2B5EF4-FFF2-40B4-BE49-F238E27FC236}">
                <a16:creationId xmlns:a16="http://schemas.microsoft.com/office/drawing/2014/main" id="{F79F5B36-3485-486A-5BC3-EDB29BF143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3574" y="135608"/>
            <a:ext cx="1926249" cy="1767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CaixaDeTexto 25">
            <a:extLst>
              <a:ext uri="{FF2B5EF4-FFF2-40B4-BE49-F238E27FC236}">
                <a16:creationId xmlns:a16="http://schemas.microsoft.com/office/drawing/2014/main" id="{1702F302-941E-694C-680A-32B2CAD9907C}"/>
              </a:ext>
            </a:extLst>
          </p:cNvPr>
          <p:cNvSpPr txBox="1"/>
          <p:nvPr/>
        </p:nvSpPr>
        <p:spPr>
          <a:xfrm>
            <a:off x="9150985" y="1870983"/>
            <a:ext cx="1231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>
                <a:solidFill>
                  <a:srgbClr val="FF0000"/>
                </a:solidFill>
              </a:rPr>
              <a:t>CRISP-DM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regra de ouro: separar os dados</a:t>
            </a:r>
            <a:endParaRPr lang="en-US" sz="3100"/>
          </a:p>
        </p:txBody>
      </p:sp>
      <p:sp>
        <p:nvSpPr>
          <p:cNvPr id="3" name="Text 1"/>
          <p:cNvSpPr/>
          <p:nvPr/>
        </p:nvSpPr>
        <p:spPr>
          <a:xfrm>
            <a:off x="475488" y="1152144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avalie o modelo nos mesmos dados em que ele aprendeu.</a:t>
            </a:r>
            <a:endParaRPr lang="en-US" sz="150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6400800" cy="822960"/>
          </a:xfrm>
          <a:prstGeom prst="roundRect">
            <a:avLst>
              <a:gd name="adj" fmla="val 6667"/>
            </a:avLst>
          </a:prstGeom>
          <a:solidFill>
            <a:srgbClr val="4F7BE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6596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  ~70%</a:t>
            </a:r>
            <a:endParaRPr lang="en-US" sz="1500"/>
          </a:p>
        </p:txBody>
      </p:sp>
      <p:sp>
        <p:nvSpPr>
          <p:cNvPr id="6" name="Shape 4"/>
          <p:cNvSpPr/>
          <p:nvPr/>
        </p:nvSpPr>
        <p:spPr>
          <a:xfrm>
            <a:off x="7086600" y="1965960"/>
            <a:ext cx="2194560" cy="822960"/>
          </a:xfrm>
          <a:prstGeom prst="roundRect">
            <a:avLst>
              <a:gd name="adj" fmla="val 6667"/>
            </a:avLst>
          </a:prstGeom>
          <a:solidFill>
            <a:srgbClr val="9FBCE8"/>
          </a:solidFill>
          <a:ln/>
        </p:spPr>
      </p:sp>
      <p:sp>
        <p:nvSpPr>
          <p:cNvPr id="7" name="Text 5"/>
          <p:cNvSpPr/>
          <p:nvPr/>
        </p:nvSpPr>
        <p:spPr>
          <a:xfrm>
            <a:off x="7086600" y="19659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</a:t>
            </a:r>
            <a:endParaRPr lang="en-US" sz="1300"/>
          </a:p>
        </p:txBody>
      </p:sp>
      <p:sp>
        <p:nvSpPr>
          <p:cNvPr id="8" name="Shape 6"/>
          <p:cNvSpPr/>
          <p:nvPr/>
        </p:nvSpPr>
        <p:spPr>
          <a:xfrm>
            <a:off x="9418320" y="1965960"/>
            <a:ext cx="2194560" cy="822960"/>
          </a:xfrm>
          <a:prstGeom prst="roundRect">
            <a:avLst>
              <a:gd name="adj" fmla="val 6667"/>
            </a:avLst>
          </a:prstGeom>
          <a:solidFill>
            <a:srgbClr val="F2B84A"/>
          </a:solidFill>
          <a:ln/>
        </p:spPr>
      </p:sp>
      <p:sp>
        <p:nvSpPr>
          <p:cNvPr id="9" name="Text 7"/>
          <p:cNvSpPr/>
          <p:nvPr/>
        </p:nvSpPr>
        <p:spPr>
          <a:xfrm>
            <a:off x="9418320" y="19659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</a:t>
            </a:r>
            <a:r>
              <a:rPr lang="en-US" sz="140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 modelo aprende aqui.   </a:t>
            </a:r>
            <a:r>
              <a:rPr lang="en-US" sz="14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</a:t>
            </a:r>
            <a:r>
              <a:rPr lang="en-US" sz="140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ajusta escolhas.   </a:t>
            </a:r>
            <a:r>
              <a:rPr lang="en-US" sz="14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</a:t>
            </a:r>
            <a:r>
              <a:rPr lang="en-US" sz="140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prova final, só uma vez.</a:t>
            </a:r>
            <a:endParaRPr lang="en-US" sz="1400"/>
          </a:p>
        </p:txBody>
      </p:sp>
      <p:sp>
        <p:nvSpPr>
          <p:cNvPr id="11" name="Shape 9"/>
          <p:cNvSpPr/>
          <p:nvPr/>
        </p:nvSpPr>
        <p:spPr>
          <a:xfrm>
            <a:off x="548640" y="365760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EDF1FA"/>
          </a:solidFill>
          <a:ln w="12700">
            <a:solidFill>
              <a:srgbClr val="CFDB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8404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Overfitting — decorou</a:t>
            </a:r>
            <a:endParaRPr lang="en-US" sz="1700"/>
          </a:p>
        </p:txBody>
      </p:sp>
      <p:sp>
        <p:nvSpPr>
          <p:cNvPr id="13" name="Text 11"/>
          <p:cNvSpPr/>
          <p:nvPr/>
        </p:nvSpPr>
        <p:spPr>
          <a:xfrm>
            <a:off x="822960" y="429768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 muito bem no treino e mal no teste. Memorizou o ruído em vez de aprender o padrão.</a:t>
            </a:r>
            <a:endParaRPr lang="en-US" sz="1400"/>
          </a:p>
        </p:txBody>
      </p:sp>
      <p:sp>
        <p:nvSpPr>
          <p:cNvPr id="14" name="Shape 12"/>
          <p:cNvSpPr/>
          <p:nvPr/>
        </p:nvSpPr>
        <p:spPr>
          <a:xfrm>
            <a:off x="6172200" y="365760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38404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Underfitting — não aprendeu</a:t>
            </a:r>
            <a:endParaRPr lang="en-US" sz="1700"/>
          </a:p>
        </p:txBody>
      </p:sp>
      <p:sp>
        <p:nvSpPr>
          <p:cNvPr id="16" name="Text 14"/>
          <p:cNvSpPr/>
          <p:nvPr/>
        </p:nvSpPr>
        <p:spPr>
          <a:xfrm>
            <a:off x="6446520" y="429768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 mal em treino e teste. O modelo é simples demais para o padrão dos dados.</a:t>
            </a:r>
            <a:endParaRPr lang="en-US" sz="1400"/>
          </a:p>
        </p:txBody>
      </p:sp>
      <p:sp>
        <p:nvSpPr>
          <p:cNvPr id="19" name="TextBox 7">
            <a:extLst>
              <a:ext uri="{FF2B5EF4-FFF2-40B4-BE49-F238E27FC236}">
                <a16:creationId xmlns:a16="http://schemas.microsoft.com/office/drawing/2014/main" id="{6F9FB0F2-5806-220F-61FF-B4D470517BAD}"/>
              </a:ext>
            </a:extLst>
          </p:cNvPr>
          <p:cNvSpPr txBox="1"/>
          <p:nvPr/>
        </p:nvSpPr>
        <p:spPr>
          <a:xfrm>
            <a:off x="651510" y="632841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/>
              <a:t>Inteligência Artificial</a:t>
            </a:r>
          </a:p>
        </p:txBody>
      </p:sp>
      <p:sp>
        <p:nvSpPr>
          <p:cNvPr id="20" name="TextBox 8">
            <a:extLst>
              <a:ext uri="{FF2B5EF4-FFF2-40B4-BE49-F238E27FC236}">
                <a16:creationId xmlns:a16="http://schemas.microsoft.com/office/drawing/2014/main" id="{F88371F5-DEA9-BBE4-0CB4-63C8ACA6173E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0" i="0" u="none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19</a:t>
            </a:fld>
            <a:endParaRPr sz="900" b="0" i="0" u="none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saber se o modelo é bom?</a:t>
            </a:r>
            <a:endParaRPr lang="en-US" sz="3100"/>
          </a:p>
        </p:txBody>
      </p:sp>
      <p:sp>
        <p:nvSpPr>
          <p:cNvPr id="3" name="Text 1"/>
          <p:cNvSpPr/>
          <p:nvPr/>
        </p:nvSpPr>
        <p:spPr>
          <a:xfrm>
            <a:off x="475488" y="1152144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métrica certa depende da tarefa — e acurácia às vezes engana.</a:t>
            </a:r>
            <a:endParaRPr lang="en-US" sz="150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F8FAFE"/>
          </a:solidFill>
          <a:ln w="12700">
            <a:solidFill>
              <a:srgbClr val="CFDB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11680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4F7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3108960" y="2011680"/>
            <a:ext cx="2651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Acurácia</a:t>
            </a:r>
            <a:endParaRPr lang="en-US" sz="1700"/>
          </a:p>
        </p:txBody>
      </p:sp>
      <p:sp>
        <p:nvSpPr>
          <p:cNvPr id="7" name="Text 5"/>
          <p:cNvSpPr/>
          <p:nvPr/>
        </p:nvSpPr>
        <p:spPr>
          <a:xfrm>
            <a:off x="5943600" y="2011680"/>
            <a:ext cx="5486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acertos — mas cuidado com classes desbalanceadas</a:t>
            </a:r>
            <a:endParaRPr lang="en-US" sz="135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EDF1FA"/>
          </a:solidFill>
          <a:ln w="12700">
            <a:solidFill>
              <a:srgbClr val="CFDB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108960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4F7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2651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Precisão / Revocação</a:t>
            </a:r>
            <a:endParaRPr lang="en-US" sz="1700"/>
          </a:p>
        </p:txBody>
      </p:sp>
      <p:sp>
        <p:nvSpPr>
          <p:cNvPr id="11" name="Text 9"/>
          <p:cNvSpPr/>
          <p:nvPr/>
        </p:nvSpPr>
        <p:spPr>
          <a:xfrm>
            <a:off x="5943600" y="3108960"/>
            <a:ext cx="5486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que marquei, quantos acertei / dos que existiam, quantos achei</a:t>
            </a:r>
            <a:endParaRPr lang="en-US" sz="1350"/>
          </a:p>
        </p:txBody>
      </p:sp>
      <p:sp>
        <p:nvSpPr>
          <p:cNvPr id="12" name="Shape 10"/>
          <p:cNvSpPr/>
          <p:nvPr/>
        </p:nvSpPr>
        <p:spPr>
          <a:xfrm>
            <a:off x="548640" y="420624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F8FAFE"/>
          </a:solidFill>
          <a:ln w="12700">
            <a:solidFill>
              <a:srgbClr val="CFDB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206240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4F7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Regressão</a:t>
            </a:r>
            <a:endParaRPr lang="en-US" sz="1300"/>
          </a:p>
        </p:txBody>
      </p:sp>
      <p:sp>
        <p:nvSpPr>
          <p:cNvPr id="14" name="Text 12"/>
          <p:cNvSpPr/>
          <p:nvPr/>
        </p:nvSpPr>
        <p:spPr>
          <a:xfrm>
            <a:off x="3108960" y="4206240"/>
            <a:ext cx="2651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 médio (MAE/RMSE)</a:t>
            </a:r>
            <a:endParaRPr lang="en-US" sz="1700"/>
          </a:p>
        </p:txBody>
      </p:sp>
      <p:sp>
        <p:nvSpPr>
          <p:cNvPr id="15" name="Text 13"/>
          <p:cNvSpPr/>
          <p:nvPr/>
        </p:nvSpPr>
        <p:spPr>
          <a:xfrm>
            <a:off x="5943600" y="4206240"/>
            <a:ext cx="5486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quanto, em média, a previsão erra do valor real</a:t>
            </a:r>
            <a:endParaRPr lang="en-US" sz="1350"/>
          </a:p>
        </p:txBody>
      </p:sp>
      <p:sp>
        <p:nvSpPr>
          <p:cNvPr id="16" name="Text 14"/>
          <p:cNvSpPr/>
          <p:nvPr/>
        </p:nvSpPr>
        <p:spPr>
          <a:xfrm>
            <a:off x="548640" y="5486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350" i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do perigo: em um teste de doença rara, dizer sempre "saudável" acerta 99% — e é inútil.</a:t>
            </a:r>
            <a:endParaRPr lang="pt-BR" sz="1350">
              <a:solidFill>
                <a:srgbClr val="FF0000"/>
              </a:solidFill>
            </a:endParaRPr>
          </a:p>
        </p:txBody>
      </p:sp>
      <p:sp>
        <p:nvSpPr>
          <p:cNvPr id="19" name="TextBox 7">
            <a:extLst>
              <a:ext uri="{FF2B5EF4-FFF2-40B4-BE49-F238E27FC236}">
                <a16:creationId xmlns:a16="http://schemas.microsoft.com/office/drawing/2014/main" id="{5B1B1613-5338-E1B2-A4AD-C0625A1C8243}"/>
              </a:ext>
            </a:extLst>
          </p:cNvPr>
          <p:cNvSpPr txBox="1"/>
          <p:nvPr/>
        </p:nvSpPr>
        <p:spPr>
          <a:xfrm>
            <a:off x="651510" y="632841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/>
              <a:t>Inteligência Artificial</a:t>
            </a:r>
          </a:p>
        </p:txBody>
      </p:sp>
      <p:sp>
        <p:nvSpPr>
          <p:cNvPr id="20" name="TextBox 8">
            <a:extLst>
              <a:ext uri="{FF2B5EF4-FFF2-40B4-BE49-F238E27FC236}">
                <a16:creationId xmlns:a16="http://schemas.microsoft.com/office/drawing/2014/main" id="{B7AFDE29-02FC-0078-64CF-99C287C71379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0" i="0" u="none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20</a:t>
            </a:fld>
            <a:endParaRPr sz="900" b="0" i="0" u="none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>
                <a:solidFill>
                  <a:srgbClr val="4F7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ECOSSISTEMA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Ferramentas e para onde vamos</a:t>
            </a:r>
            <a:endParaRPr lang="en-US" sz="310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440680" cy="3108960"/>
          </a:xfrm>
          <a:prstGeom prst="roundRect">
            <a:avLst>
              <a:gd name="adj" fmla="val 2353"/>
            </a:avLst>
          </a:prstGeom>
          <a:solidFill>
            <a:srgbClr val="232C6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945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Ferramentas de entrada</a:t>
            </a:r>
            <a:endParaRPr lang="en-US" sz="180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4937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r>
              <a:rPr lang="en-US" sz="15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língua franca da área
</a:t>
            </a:r>
            <a:r>
              <a:rPr lang="en-US" sz="15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r>
              <a:rPr lang="en-US" sz="15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manipular tabelas de dados
</a:t>
            </a:r>
            <a:r>
              <a:rPr lang="en-US" sz="15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r>
              <a:rPr lang="en-US" sz="15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modelos de ML prontos
</a:t>
            </a:r>
            <a:r>
              <a:rPr lang="en-US" sz="15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r>
              <a:rPr lang="en-US" sz="15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visualização</a:t>
            </a:r>
            <a:endParaRPr lang="en-US" sz="1500"/>
          </a:p>
        </p:txBody>
      </p:sp>
      <p:sp>
        <p:nvSpPr>
          <p:cNvPr id="7" name="Shape 5"/>
          <p:cNvSpPr/>
          <p:nvPr/>
        </p:nvSpPr>
        <p:spPr>
          <a:xfrm>
            <a:off x="6172200" y="1965960"/>
            <a:ext cx="5440680" cy="3108960"/>
          </a:xfrm>
          <a:prstGeom prst="roundRect">
            <a:avLst>
              <a:gd name="adj" fmla="val 2353"/>
            </a:avLst>
          </a:prstGeom>
          <a:solidFill>
            <a:srgbClr val="141A45"/>
          </a:solidFill>
          <a:ln w="12700">
            <a:solidFill>
              <a:srgbClr val="3440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21945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2B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os dados moram</a:t>
            </a:r>
            <a:endParaRPr lang="en-US" sz="1800"/>
          </a:p>
        </p:txBody>
      </p:sp>
      <p:sp>
        <p:nvSpPr>
          <p:cNvPr id="9" name="Text 7"/>
          <p:cNvSpPr/>
          <p:nvPr/>
        </p:nvSpPr>
        <p:spPr>
          <a:xfrm>
            <a:off x="6446520" y="2697480"/>
            <a:ext cx="4937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Repositórios públicos para praticar:
</a:t>
            </a:r>
            <a:r>
              <a:rPr lang="en-US" sz="15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ML Repository
Kaggle Datasets
KDnuggets</a:t>
            </a:r>
            <a:endParaRPr lang="en-US" sz="1500"/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FD180930-1DF8-E35D-2AF3-53ABD69D3356}"/>
              </a:ext>
            </a:extLst>
          </p:cNvPr>
          <p:cNvSpPr txBox="1"/>
          <p:nvPr/>
        </p:nvSpPr>
        <p:spPr>
          <a:xfrm>
            <a:off x="651510" y="632841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/>
              <a:t>Inteligência Artificial</a:t>
            </a:r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ED434574-957F-27DB-9CD9-34154D0D9054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0" i="0" u="none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21</a:t>
            </a:fld>
            <a:endParaRPr sz="900" b="0" i="0" u="none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>
                <a:solidFill>
                  <a:srgbClr val="4F7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CONSOLIDANDO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1155680" cy="822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3100" b="1" err="1">
                <a:solidFill>
                  <a:srgbClr val="002060"/>
                </a:solidFill>
                <a:latin typeface="Cambria"/>
                <a:ea typeface="Cambria"/>
                <a:cs typeface="Cambria" pitchFamily="34" charset="-120"/>
              </a:rPr>
              <a:t>Os</a:t>
            </a:r>
            <a:r>
              <a:rPr lang="en-US" sz="3100" b="1">
                <a:solidFill>
                  <a:srgbClr val="002060"/>
                </a:solidFill>
                <a:latin typeface="Cambria"/>
                <a:ea typeface="Cambria"/>
                <a:cs typeface="Cambria" pitchFamily="34" charset="-120"/>
              </a:rPr>
              <a:t> </a:t>
            </a:r>
            <a:r>
              <a:rPr lang="en-US" sz="3100" b="1" err="1">
                <a:solidFill>
                  <a:srgbClr val="002060"/>
                </a:solidFill>
                <a:latin typeface="Cambria"/>
                <a:ea typeface="Cambria"/>
                <a:cs typeface="Cambria" pitchFamily="34" charset="-120"/>
              </a:rPr>
              <a:t>quatro</a:t>
            </a:r>
            <a:r>
              <a:rPr lang="en-US" sz="3100" b="1">
                <a:solidFill>
                  <a:srgbClr val="002060"/>
                </a:solidFill>
                <a:latin typeface="Cambria"/>
                <a:ea typeface="Cambria"/>
                <a:cs typeface="Cambria" pitchFamily="34" charset="-120"/>
              </a:rPr>
              <a:t> </a:t>
            </a:r>
            <a:r>
              <a:rPr lang="en-US" sz="3100" b="1" err="1">
                <a:solidFill>
                  <a:srgbClr val="002060"/>
                </a:solidFill>
                <a:latin typeface="Cambria"/>
                <a:ea typeface="Cambria"/>
                <a:cs typeface="Cambria" pitchFamily="34" charset="-120"/>
              </a:rPr>
              <a:t>tipos</a:t>
            </a:r>
            <a:r>
              <a:rPr lang="en-US" sz="3100" b="1">
                <a:solidFill>
                  <a:srgbClr val="002060"/>
                </a:solidFill>
                <a:latin typeface="Cambria"/>
                <a:ea typeface="Cambria"/>
                <a:cs typeface="Cambria" pitchFamily="34" charset="-120"/>
              </a:rPr>
              <a:t> de </a:t>
            </a:r>
            <a:r>
              <a:rPr lang="en-US" sz="3100" b="1" err="1">
                <a:solidFill>
                  <a:srgbClr val="002060"/>
                </a:solidFill>
                <a:latin typeface="Cambria"/>
                <a:ea typeface="Cambria"/>
                <a:cs typeface="Cambria" pitchFamily="34" charset="-120"/>
              </a:rPr>
              <a:t>aprendizado</a:t>
            </a:r>
            <a:endParaRPr lang="en-US" sz="3100">
              <a:solidFill>
                <a:srgbClr val="002060"/>
              </a:solidFill>
              <a:latin typeface="Cambria"/>
              <a:ea typeface="Cambria"/>
              <a:cs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que separa tudo: os dados têm rótulo (a resposta certa) — e de onde vem o sinal que ensina a máquina?</a:t>
            </a:r>
            <a:endParaRPr lang="en-US" sz="160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2706624" cy="3063240"/>
          </a:xfrm>
          <a:prstGeom prst="roundRect">
            <a:avLst>
              <a:gd name="adj" fmla="val 3041"/>
            </a:avLst>
          </a:prstGeom>
          <a:solidFill>
            <a:srgbClr val="232C63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14600"/>
            <a:ext cx="2706624" cy="109728"/>
          </a:xfrm>
          <a:prstGeom prst="roundRect">
            <a:avLst>
              <a:gd name="adj" fmla="val 25000"/>
            </a:avLst>
          </a:prstGeom>
          <a:solidFill>
            <a:srgbClr val="4F7BE8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78892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Supervisionado</a:t>
            </a:r>
            <a:endParaRPr lang="en-US" sz="1700"/>
          </a:p>
        </p:txBody>
      </p:sp>
      <p:sp>
        <p:nvSpPr>
          <p:cNvPr id="8" name="Shape 6"/>
          <p:cNvSpPr/>
          <p:nvPr/>
        </p:nvSpPr>
        <p:spPr>
          <a:xfrm>
            <a:off x="749808" y="361188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141A45"/>
          </a:solidFill>
          <a:ln w="12700">
            <a:solidFill>
              <a:srgbClr val="4F7B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3611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4F7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rótulo</a:t>
            </a:r>
            <a:endParaRPr lang="en-US" sz="1250"/>
          </a:p>
        </p:txBody>
      </p:sp>
      <p:sp>
        <p:nvSpPr>
          <p:cNvPr id="10" name="Text 8"/>
          <p:cNvSpPr/>
          <p:nvPr/>
        </p:nvSpPr>
        <p:spPr>
          <a:xfrm>
            <a:off x="749808" y="420624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 com exemplos já respondidos</a:t>
            </a:r>
            <a:endParaRPr lang="en-US" sz="1350"/>
          </a:p>
        </p:txBody>
      </p:sp>
      <p:sp>
        <p:nvSpPr>
          <p:cNvPr id="11" name="Shape 9"/>
          <p:cNvSpPr/>
          <p:nvPr/>
        </p:nvSpPr>
        <p:spPr>
          <a:xfrm>
            <a:off x="3337560" y="2514600"/>
            <a:ext cx="2706624" cy="3063240"/>
          </a:xfrm>
          <a:prstGeom prst="roundRect">
            <a:avLst>
              <a:gd name="adj" fmla="val 3041"/>
            </a:avLst>
          </a:prstGeom>
          <a:solidFill>
            <a:srgbClr val="232C63"/>
          </a:solidFill>
          <a:ln/>
        </p:spPr>
      </p:sp>
      <p:sp>
        <p:nvSpPr>
          <p:cNvPr id="12" name="Shape 10"/>
          <p:cNvSpPr/>
          <p:nvPr/>
        </p:nvSpPr>
        <p:spPr>
          <a:xfrm>
            <a:off x="3337560" y="2514600"/>
            <a:ext cx="2706624" cy="109728"/>
          </a:xfrm>
          <a:prstGeom prst="roundRect">
            <a:avLst>
              <a:gd name="adj" fmla="val 25000"/>
            </a:avLst>
          </a:prstGeom>
          <a:solidFill>
            <a:srgbClr val="49B3A0"/>
          </a:solidFill>
          <a:ln/>
        </p:spPr>
      </p:sp>
      <p:sp>
        <p:nvSpPr>
          <p:cNvPr id="13" name="Text 11"/>
          <p:cNvSpPr/>
          <p:nvPr/>
        </p:nvSpPr>
        <p:spPr>
          <a:xfrm>
            <a:off x="3538728" y="278892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supervisionado</a:t>
            </a:r>
            <a:endParaRPr lang="en-US" sz="1700"/>
          </a:p>
        </p:txBody>
      </p:sp>
      <p:sp>
        <p:nvSpPr>
          <p:cNvPr id="14" name="Shape 12"/>
          <p:cNvSpPr/>
          <p:nvPr/>
        </p:nvSpPr>
        <p:spPr>
          <a:xfrm>
            <a:off x="3538728" y="361188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141A45"/>
          </a:solidFill>
          <a:ln w="12700">
            <a:solidFill>
              <a:srgbClr val="49B3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38728" y="3611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49B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rótulo</a:t>
            </a:r>
            <a:endParaRPr lang="en-US" sz="1250"/>
          </a:p>
        </p:txBody>
      </p:sp>
      <p:sp>
        <p:nvSpPr>
          <p:cNvPr id="16" name="Text 14"/>
          <p:cNvSpPr/>
          <p:nvPr/>
        </p:nvSpPr>
        <p:spPr>
          <a:xfrm>
            <a:off x="3538728" y="420624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descobre estrutura sozinho</a:t>
            </a:r>
            <a:endParaRPr lang="en-US" sz="1350"/>
          </a:p>
        </p:txBody>
      </p:sp>
      <p:sp>
        <p:nvSpPr>
          <p:cNvPr id="17" name="Shape 15"/>
          <p:cNvSpPr/>
          <p:nvPr/>
        </p:nvSpPr>
        <p:spPr>
          <a:xfrm>
            <a:off x="6126480" y="2514600"/>
            <a:ext cx="2706624" cy="3063240"/>
          </a:xfrm>
          <a:prstGeom prst="roundRect">
            <a:avLst>
              <a:gd name="adj" fmla="val 3041"/>
            </a:avLst>
          </a:prstGeom>
          <a:solidFill>
            <a:srgbClr val="232C63"/>
          </a:solidFill>
          <a:ln/>
        </p:spPr>
      </p:sp>
      <p:sp>
        <p:nvSpPr>
          <p:cNvPr id="18" name="Shape 16"/>
          <p:cNvSpPr/>
          <p:nvPr/>
        </p:nvSpPr>
        <p:spPr>
          <a:xfrm>
            <a:off x="6126480" y="2514600"/>
            <a:ext cx="2706624" cy="109728"/>
          </a:xfrm>
          <a:prstGeom prst="roundRect">
            <a:avLst>
              <a:gd name="adj" fmla="val 25000"/>
            </a:avLst>
          </a:prstGeom>
          <a:solidFill>
            <a:srgbClr val="F2B84A"/>
          </a:solidFill>
          <a:ln/>
        </p:spPr>
      </p:sp>
      <p:sp>
        <p:nvSpPr>
          <p:cNvPr id="19" name="Text 17"/>
          <p:cNvSpPr/>
          <p:nvPr/>
        </p:nvSpPr>
        <p:spPr>
          <a:xfrm>
            <a:off x="6327648" y="278892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reforço</a:t>
            </a:r>
            <a:endParaRPr lang="en-US" sz="1700"/>
          </a:p>
        </p:txBody>
      </p:sp>
      <p:sp>
        <p:nvSpPr>
          <p:cNvPr id="20" name="Shape 18"/>
          <p:cNvSpPr/>
          <p:nvPr/>
        </p:nvSpPr>
        <p:spPr>
          <a:xfrm>
            <a:off x="6327648" y="361188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141A45"/>
          </a:solidFill>
          <a:ln w="12700">
            <a:solidFill>
              <a:srgbClr val="F2B8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27648" y="3611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F2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recompensa</a:t>
            </a:r>
            <a:endParaRPr lang="en-US" sz="1250"/>
          </a:p>
        </p:txBody>
      </p:sp>
      <p:sp>
        <p:nvSpPr>
          <p:cNvPr id="22" name="Text 20"/>
          <p:cNvSpPr/>
          <p:nvPr/>
        </p:nvSpPr>
        <p:spPr>
          <a:xfrm>
            <a:off x="6327648" y="420624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 por tentativa e erro</a:t>
            </a:r>
            <a:endParaRPr lang="en-US" sz="1350"/>
          </a:p>
        </p:txBody>
      </p:sp>
      <p:sp>
        <p:nvSpPr>
          <p:cNvPr id="23" name="Shape 21"/>
          <p:cNvSpPr/>
          <p:nvPr/>
        </p:nvSpPr>
        <p:spPr>
          <a:xfrm>
            <a:off x="8915400" y="2514600"/>
            <a:ext cx="2706624" cy="3063240"/>
          </a:xfrm>
          <a:prstGeom prst="roundRect">
            <a:avLst>
              <a:gd name="adj" fmla="val 3041"/>
            </a:avLst>
          </a:prstGeom>
          <a:solidFill>
            <a:srgbClr val="232C63"/>
          </a:solidFill>
          <a:ln/>
        </p:spPr>
      </p:sp>
      <p:sp>
        <p:nvSpPr>
          <p:cNvPr id="24" name="Shape 22"/>
          <p:cNvSpPr/>
          <p:nvPr/>
        </p:nvSpPr>
        <p:spPr>
          <a:xfrm>
            <a:off x="8915400" y="2514600"/>
            <a:ext cx="2706624" cy="109728"/>
          </a:xfrm>
          <a:prstGeom prst="roundRect">
            <a:avLst>
              <a:gd name="adj" fmla="val 25000"/>
            </a:avLst>
          </a:prstGeom>
          <a:solidFill>
            <a:srgbClr val="9B7EDE"/>
          </a:solidFill>
          <a:ln/>
        </p:spPr>
      </p:sp>
      <p:sp>
        <p:nvSpPr>
          <p:cNvPr id="25" name="Text 23"/>
          <p:cNvSpPr/>
          <p:nvPr/>
        </p:nvSpPr>
        <p:spPr>
          <a:xfrm>
            <a:off x="9116568" y="278892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Semi-supervisionado</a:t>
            </a:r>
            <a:endParaRPr lang="en-US" sz="1700"/>
          </a:p>
        </p:txBody>
      </p:sp>
      <p:sp>
        <p:nvSpPr>
          <p:cNvPr id="26" name="Shape 24"/>
          <p:cNvSpPr/>
          <p:nvPr/>
        </p:nvSpPr>
        <p:spPr>
          <a:xfrm>
            <a:off x="9116568" y="361188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141A45"/>
          </a:solidFill>
          <a:ln w="12700">
            <a:solidFill>
              <a:srgbClr val="9B7E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16568" y="3611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9B7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POUCO rótulo</a:t>
            </a:r>
            <a:endParaRPr lang="en-US" sz="1250"/>
          </a:p>
        </p:txBody>
      </p:sp>
      <p:sp>
        <p:nvSpPr>
          <p:cNvPr id="28" name="Text 26"/>
          <p:cNvSpPr/>
          <p:nvPr/>
        </p:nvSpPr>
        <p:spPr>
          <a:xfrm>
            <a:off x="9116568" y="420624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mistura os dois primeiros</a:t>
            </a:r>
            <a:endParaRPr lang="en-US" sz="1350"/>
          </a:p>
        </p:txBody>
      </p:sp>
      <p:sp>
        <p:nvSpPr>
          <p:cNvPr id="31" name="TextBox 7">
            <a:extLst>
              <a:ext uri="{FF2B5EF4-FFF2-40B4-BE49-F238E27FC236}">
                <a16:creationId xmlns:a16="http://schemas.microsoft.com/office/drawing/2014/main" id="{859B4B0A-3E45-2DDF-A552-5DEEE9081A95}"/>
              </a:ext>
            </a:extLst>
          </p:cNvPr>
          <p:cNvSpPr txBox="1"/>
          <p:nvPr/>
        </p:nvSpPr>
        <p:spPr>
          <a:xfrm>
            <a:off x="651510" y="632841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/>
              <a:t>Inteligência Artificial</a:t>
            </a:r>
          </a:p>
        </p:txBody>
      </p:sp>
      <p:sp>
        <p:nvSpPr>
          <p:cNvPr id="32" name="TextBox 8">
            <a:extLst>
              <a:ext uri="{FF2B5EF4-FFF2-40B4-BE49-F238E27FC236}">
                <a16:creationId xmlns:a16="http://schemas.microsoft.com/office/drawing/2014/main" id="{77EEF87B-65D8-69AC-6EE2-7B70102417FD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0" i="0" u="none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22</a:t>
            </a:fld>
            <a:endParaRPr sz="900" b="0" i="0" u="none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dois pilares</a:t>
            </a:r>
            <a:endParaRPr lang="en-US" sz="3100"/>
          </a:p>
        </p:txBody>
      </p:sp>
      <p:sp>
        <p:nvSpPr>
          <p:cNvPr id="4" name="Shape 2"/>
          <p:cNvSpPr/>
          <p:nvPr/>
        </p:nvSpPr>
        <p:spPr>
          <a:xfrm>
            <a:off x="548640" y="1077348"/>
            <a:ext cx="5440680" cy="2633346"/>
          </a:xfrm>
          <a:prstGeom prst="roundRect">
            <a:avLst>
              <a:gd name="adj" fmla="val 1905"/>
            </a:avLst>
          </a:prstGeom>
          <a:solidFill>
            <a:srgbClr val="EDF1FA"/>
          </a:solidFill>
          <a:ln w="12700">
            <a:solidFill>
              <a:srgbClr val="CFDB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77348"/>
            <a:ext cx="5440680" cy="118872"/>
          </a:xfrm>
          <a:prstGeom prst="roundRect">
            <a:avLst>
              <a:gd name="adj" fmla="val 23077"/>
            </a:avLst>
          </a:prstGeom>
          <a:solidFill>
            <a:srgbClr val="4F7BE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30594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Supervisionado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822960" y="1763148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 com dados rotulados — cada exemplo traz a resposta certa.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822960" y="2448948"/>
            <a:ext cx="5029200" cy="11383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Regressão</a:t>
            </a:r>
            <a:r>
              <a:rPr lang="en-US" sz="140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prever número (preço, temperatura)
</a:t>
            </a:r>
            <a:r>
              <a:rPr lang="en-US" sz="14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</a:t>
            </a:r>
            <a:r>
              <a:rPr lang="en-US" sz="140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prever categoria (spam / não spam)
</a:t>
            </a:r>
            <a:r>
              <a:rPr lang="en-US" sz="1400">
                <a:solidFill>
                  <a:srgbClr val="6E7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Modelos: </a:t>
            </a:r>
            <a:r>
              <a:rPr lang="en-US" sz="1400" i="1">
                <a:solidFill>
                  <a:srgbClr val="6E7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regressão linear, árvore de decisão, redes</a:t>
            </a:r>
            <a:endParaRPr lang="en-US" sz="1400"/>
          </a:p>
        </p:txBody>
      </p:sp>
      <p:sp>
        <p:nvSpPr>
          <p:cNvPr id="9" name="Shape 7"/>
          <p:cNvSpPr/>
          <p:nvPr/>
        </p:nvSpPr>
        <p:spPr>
          <a:xfrm>
            <a:off x="6172200" y="1077348"/>
            <a:ext cx="5440680" cy="2633346"/>
          </a:xfrm>
          <a:prstGeom prst="roundRect">
            <a:avLst>
              <a:gd name="adj" fmla="val 1905"/>
            </a:avLst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6172200" y="1077348"/>
            <a:ext cx="5440680" cy="118872"/>
          </a:xfrm>
          <a:prstGeom prst="roundRect">
            <a:avLst>
              <a:gd name="adj" fmla="val 23077"/>
            </a:avLst>
          </a:prstGeom>
          <a:solidFill>
            <a:srgbClr val="49B3A0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30594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supervisionado</a:t>
            </a:r>
            <a:endParaRPr lang="en-US" sz="2000"/>
          </a:p>
        </p:txBody>
      </p:sp>
      <p:sp>
        <p:nvSpPr>
          <p:cNvPr id="12" name="Text 10"/>
          <p:cNvSpPr/>
          <p:nvPr/>
        </p:nvSpPr>
        <p:spPr>
          <a:xfrm>
            <a:off x="6446520" y="1763148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rótulos — a máquina descobre a estrutura escondida nos dados.</a:t>
            </a:r>
            <a:endParaRPr lang="en-US" sz="1400"/>
          </a:p>
        </p:txBody>
      </p:sp>
      <p:sp>
        <p:nvSpPr>
          <p:cNvPr id="13" name="Text 11"/>
          <p:cNvSpPr/>
          <p:nvPr/>
        </p:nvSpPr>
        <p:spPr>
          <a:xfrm>
            <a:off x="6446520" y="2448948"/>
            <a:ext cx="5029200" cy="11383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Agrupamento</a:t>
            </a:r>
            <a:r>
              <a:rPr lang="en-US" sz="14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juntar o que é parecido (segmentar clientes)
</a:t>
            </a:r>
            <a:r>
              <a:rPr lang="en-US" sz="14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de dimensão</a:t>
            </a:r>
            <a:r>
              <a:rPr lang="en-US" sz="14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simplificar dados complexos
</a:t>
            </a:r>
            <a:r>
              <a:rPr lang="en-US" sz="1400">
                <a:solidFill>
                  <a:srgbClr val="9FB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Modelos: </a:t>
            </a:r>
            <a:r>
              <a:rPr lang="en-US" sz="1400" i="1">
                <a:solidFill>
                  <a:srgbClr val="9FB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K-Means, clustering hierárquico, PCA</a:t>
            </a:r>
            <a:endParaRPr lang="en-US" sz="1400"/>
          </a:p>
        </p:txBody>
      </p:sp>
      <p:sp>
        <p:nvSpPr>
          <p:cNvPr id="16" name="TextBox 7">
            <a:extLst>
              <a:ext uri="{FF2B5EF4-FFF2-40B4-BE49-F238E27FC236}">
                <a16:creationId xmlns:a16="http://schemas.microsoft.com/office/drawing/2014/main" id="{BDAB84B4-B743-DED0-C687-17ED06B10C45}"/>
              </a:ext>
            </a:extLst>
          </p:cNvPr>
          <p:cNvSpPr txBox="1"/>
          <p:nvPr/>
        </p:nvSpPr>
        <p:spPr>
          <a:xfrm>
            <a:off x="651510" y="632841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/>
              <a:t>Inteligência Artificial</a:t>
            </a:r>
          </a:p>
        </p:txBody>
      </p:sp>
      <p:sp>
        <p:nvSpPr>
          <p:cNvPr id="17" name="TextBox 8">
            <a:extLst>
              <a:ext uri="{FF2B5EF4-FFF2-40B4-BE49-F238E27FC236}">
                <a16:creationId xmlns:a16="http://schemas.microsoft.com/office/drawing/2014/main" id="{12D0ECBA-2B60-8D75-76CA-47BC2AC68F72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0" i="0" u="none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23</a:t>
            </a:fld>
            <a:endParaRPr sz="900" b="0" i="0" u="none">
              <a:solidFill>
                <a:srgbClr val="94A3B8"/>
              </a:solidFill>
              <a:latin typeface="Inter"/>
            </a:endParaRPr>
          </a:p>
        </p:txBody>
      </p:sp>
      <p:pic>
        <p:nvPicPr>
          <p:cNvPr id="14" name="Imagem 4">
            <a:extLst>
              <a:ext uri="{FF2B5EF4-FFF2-40B4-BE49-F238E27FC236}">
                <a16:creationId xmlns:a16="http://schemas.microsoft.com/office/drawing/2014/main" id="{7C151CF2-3CC6-6B3E-3758-F60ED7D44F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8762" y="3710694"/>
            <a:ext cx="5974764" cy="3106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outros dois casos</a:t>
            </a:r>
            <a:endParaRPr lang="en-US" sz="3100"/>
          </a:p>
        </p:txBody>
      </p:sp>
      <p:sp>
        <p:nvSpPr>
          <p:cNvPr id="3" name="Text 1"/>
          <p:cNvSpPr/>
          <p:nvPr/>
        </p:nvSpPr>
        <p:spPr>
          <a:xfrm>
            <a:off x="475488" y="1152144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não há rótulo pronto — mas há outra forma de aprender.</a:t>
            </a:r>
            <a:endParaRPr lang="en-US" sz="150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440680" cy="3840480"/>
          </a:xfrm>
          <a:prstGeom prst="roundRect">
            <a:avLst>
              <a:gd name="adj" fmla="val 1905"/>
            </a:avLst>
          </a:prstGeom>
          <a:solidFill>
            <a:srgbClr val="EDF1FA"/>
          </a:solidFill>
          <a:ln w="12700">
            <a:solidFill>
              <a:srgbClr val="CFDB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74520"/>
            <a:ext cx="5440680" cy="118872"/>
          </a:xfrm>
          <a:prstGeom prst="roundRect">
            <a:avLst>
              <a:gd name="adj" fmla="val 23077"/>
            </a:avLst>
          </a:prstGeom>
          <a:solidFill>
            <a:srgbClr val="F2B84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0312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reforço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agente aprende agindo: recebe recompensa ou punição e ajusta o comportamento.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50292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ciclo: </a:t>
            </a:r>
            <a:r>
              <a:rPr lang="en-US" sz="140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agir → receber recompensa → melhorar
</a:t>
            </a:r>
            <a:r>
              <a:rPr lang="en-US" sz="14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Exemplos:</a:t>
            </a:r>
            <a:r>
              <a:rPr lang="en-US" sz="140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jogos (xadrez, Go), robôs que andam, carros autônomos, controle de tráfego</a:t>
            </a:r>
            <a:endParaRPr lang="en-US" sz="1400"/>
          </a:p>
        </p:txBody>
      </p:sp>
      <p:sp>
        <p:nvSpPr>
          <p:cNvPr id="9" name="Shape 7"/>
          <p:cNvSpPr/>
          <p:nvPr/>
        </p:nvSpPr>
        <p:spPr>
          <a:xfrm>
            <a:off x="6172200" y="1874520"/>
            <a:ext cx="5440680" cy="3840480"/>
          </a:xfrm>
          <a:prstGeom prst="roundRect">
            <a:avLst>
              <a:gd name="adj" fmla="val 1905"/>
            </a:avLst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6172200" y="1874520"/>
            <a:ext cx="5440680" cy="118872"/>
          </a:xfrm>
          <a:prstGeom prst="roundRect">
            <a:avLst>
              <a:gd name="adj" fmla="val 23077"/>
            </a:avLst>
          </a:prstGeom>
          <a:solidFill>
            <a:srgbClr val="9B7EDE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210312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Semi-supervisionado</a:t>
            </a:r>
            <a:endParaRPr lang="en-US" sz="2000"/>
          </a:p>
        </p:txBody>
      </p:sp>
      <p:sp>
        <p:nvSpPr>
          <p:cNvPr id="12" name="Text 10"/>
          <p:cNvSpPr/>
          <p:nvPr/>
        </p:nvSpPr>
        <p:spPr>
          <a:xfrm>
            <a:off x="6446520" y="256032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Poucos dados rotulados + muitos não rotulados. Usa o pouco que sabe para aproveitar o muito que não sabe.</a:t>
            </a:r>
            <a:endParaRPr lang="en-US" sz="1400"/>
          </a:p>
        </p:txBody>
      </p:sp>
      <p:sp>
        <p:nvSpPr>
          <p:cNvPr id="13" name="Text 11"/>
          <p:cNvSpPr/>
          <p:nvPr/>
        </p:nvSpPr>
        <p:spPr>
          <a:xfrm>
            <a:off x="6446520" y="3566160"/>
            <a:ext cx="5029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existe: </a:t>
            </a:r>
            <a:r>
              <a:rPr lang="en-US" sz="14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rotular dado é caro e lento
</a:t>
            </a:r>
            <a:r>
              <a:rPr lang="en-US" sz="14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Exemplos:</a:t>
            </a:r>
            <a:r>
              <a:rPr lang="en-US" sz="14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classificar milhões de fotos rotulando só algumas; triagem de documentos</a:t>
            </a:r>
            <a:endParaRPr lang="en-US" sz="1400"/>
          </a:p>
        </p:txBody>
      </p:sp>
      <p:sp>
        <p:nvSpPr>
          <p:cNvPr id="16" name="TextBox 7">
            <a:extLst>
              <a:ext uri="{FF2B5EF4-FFF2-40B4-BE49-F238E27FC236}">
                <a16:creationId xmlns:a16="http://schemas.microsoft.com/office/drawing/2014/main" id="{DC4F8869-800B-73E9-3C13-82DAEA1473A7}"/>
              </a:ext>
            </a:extLst>
          </p:cNvPr>
          <p:cNvSpPr txBox="1"/>
          <p:nvPr/>
        </p:nvSpPr>
        <p:spPr>
          <a:xfrm>
            <a:off x="651510" y="632841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/>
              <a:t>Inteligência Artificial</a:t>
            </a:r>
          </a:p>
        </p:txBody>
      </p:sp>
      <p:sp>
        <p:nvSpPr>
          <p:cNvPr id="17" name="TextBox 8">
            <a:extLst>
              <a:ext uri="{FF2B5EF4-FFF2-40B4-BE49-F238E27FC236}">
                <a16:creationId xmlns:a16="http://schemas.microsoft.com/office/drawing/2014/main" id="{05A56CCA-25C2-2500-E860-02641FDC28DC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0" i="0" u="none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24</a:t>
            </a:fld>
            <a:endParaRPr sz="900" b="0" i="0" u="none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>
                <a:solidFill>
                  <a:srgbClr val="4F7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PRÁTICA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1155680" cy="822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02060"/>
                </a:solidFill>
                <a:latin typeface="Cambria"/>
                <a:ea typeface="Cambria"/>
                <a:cs typeface="Cambria" pitchFamily="34" charset="-120"/>
              </a:rPr>
              <a:t>Como </a:t>
            </a:r>
            <a:r>
              <a:rPr lang="en-US" sz="3100" b="1" dirty="0" err="1">
                <a:solidFill>
                  <a:srgbClr val="002060"/>
                </a:solidFill>
                <a:latin typeface="Cambria"/>
                <a:ea typeface="Cambria"/>
                <a:cs typeface="Cambria" pitchFamily="34" charset="-120"/>
              </a:rPr>
              <a:t>escolher</a:t>
            </a:r>
            <a:r>
              <a:rPr lang="en-US" sz="3100" b="1" dirty="0">
                <a:solidFill>
                  <a:srgbClr val="002060"/>
                </a:solidFill>
                <a:latin typeface="Cambria"/>
                <a:ea typeface="Cambria"/>
                <a:cs typeface="Cambria" pitchFamily="34" charset="-120"/>
              </a:rPr>
              <a:t> o </a:t>
            </a:r>
            <a:r>
              <a:rPr lang="en-US" sz="3100" b="1" dirty="0" err="1">
                <a:solidFill>
                  <a:srgbClr val="002060"/>
                </a:solidFill>
                <a:latin typeface="Cambria"/>
                <a:ea typeface="Cambria"/>
                <a:cs typeface="Cambria" pitchFamily="34" charset="-120"/>
              </a:rPr>
              <a:t>tipo</a:t>
            </a:r>
            <a:r>
              <a:rPr lang="en-US" sz="3100" b="1" dirty="0">
                <a:solidFill>
                  <a:srgbClr val="002060"/>
                </a:solidFill>
                <a:latin typeface="Cambria"/>
                <a:ea typeface="Cambria"/>
                <a:cs typeface="Cambria" pitchFamily="34" charset="-120"/>
              </a:rPr>
              <a:t> </a:t>
            </a:r>
            <a:r>
              <a:rPr lang="en-US" sz="3100" b="1" dirty="0" err="1">
                <a:solidFill>
                  <a:srgbClr val="002060"/>
                </a:solidFill>
                <a:latin typeface="Cambria"/>
                <a:ea typeface="Cambria"/>
                <a:cs typeface="Cambria" pitchFamily="34" charset="-120"/>
              </a:rPr>
              <a:t>certo</a:t>
            </a:r>
            <a:endParaRPr lang="en-US" sz="3100" dirty="0" err="1">
              <a:solidFill>
                <a:srgbClr val="002060"/>
              </a:solidFill>
              <a:latin typeface="Cambria"/>
              <a:ea typeface="Cambria"/>
              <a:cs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389120" y="1874520"/>
            <a:ext cx="3383280" cy="685800"/>
          </a:xfrm>
          <a:prstGeom prst="roundRect">
            <a:avLst>
              <a:gd name="adj" fmla="val 13333"/>
            </a:avLst>
          </a:prstGeom>
          <a:solidFill>
            <a:srgbClr val="232C63"/>
          </a:solidFill>
          <a:ln w="12700">
            <a:solidFill>
              <a:srgbClr val="9FBC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0" y="187452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Seus dados têm rótulo?</a:t>
            </a:r>
            <a:endParaRPr lang="en-US" sz="1500"/>
          </a:p>
        </p:txBody>
      </p:sp>
      <p:sp>
        <p:nvSpPr>
          <p:cNvPr id="6" name="Text 4"/>
          <p:cNvSpPr/>
          <p:nvPr/>
        </p:nvSpPr>
        <p:spPr>
          <a:xfrm>
            <a:off x="1280160" y="27432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F7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SIM, todos</a:t>
            </a:r>
            <a:endParaRPr lang="en-US" sz="1200"/>
          </a:p>
        </p:txBody>
      </p:sp>
      <p:sp>
        <p:nvSpPr>
          <p:cNvPr id="7" name="Text 5"/>
          <p:cNvSpPr/>
          <p:nvPr/>
        </p:nvSpPr>
        <p:spPr>
          <a:xfrm>
            <a:off x="4892040" y="27432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9B7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alguns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8321040" y="2743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2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/ recompensa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1005840" y="3200400"/>
            <a:ext cx="3017520" cy="2286000"/>
          </a:xfrm>
          <a:prstGeom prst="roundRect">
            <a:avLst>
              <a:gd name="adj" fmla="val 3600"/>
            </a:avLst>
          </a:prstGeom>
          <a:solidFill>
            <a:srgbClr val="141A45"/>
          </a:solidFill>
          <a:ln w="19050">
            <a:solidFill>
              <a:srgbClr val="4F7B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3200400"/>
            <a:ext cx="3017520" cy="109728"/>
          </a:xfrm>
          <a:prstGeom prst="roundRect">
            <a:avLst>
              <a:gd name="adj" fmla="val 25000"/>
            </a:avLst>
          </a:prstGeom>
          <a:solidFill>
            <a:srgbClr val="4F7BE8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401568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Supervisionado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1188720" y="4160520"/>
            <a:ext cx="26974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Prever número → Regressão</a:t>
            </a:r>
            <a:endParaRPr lang="en-US" sz="1300"/>
          </a:p>
          <a:p>
            <a:pPr marL="0" indent="0">
              <a:lnSpc>
                <a:spcPct val="115000"/>
              </a:lnSpc>
              <a:buNone/>
            </a:pPr>
            <a:r>
              <a:rPr lang="en-US" sz="13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Prever categoria → Classificação</a:t>
            </a:r>
            <a:endParaRPr lang="en-US" sz="1300"/>
          </a:p>
        </p:txBody>
      </p:sp>
      <p:sp>
        <p:nvSpPr>
          <p:cNvPr id="13" name="Shape 11"/>
          <p:cNvSpPr/>
          <p:nvPr/>
        </p:nvSpPr>
        <p:spPr>
          <a:xfrm>
            <a:off x="4572000" y="3200400"/>
            <a:ext cx="3017520" cy="2286000"/>
          </a:xfrm>
          <a:prstGeom prst="roundRect">
            <a:avLst>
              <a:gd name="adj" fmla="val 3600"/>
            </a:avLst>
          </a:prstGeom>
          <a:solidFill>
            <a:srgbClr val="141A45"/>
          </a:solidFill>
          <a:ln w="19050">
            <a:solidFill>
              <a:srgbClr val="9B7E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3200400"/>
            <a:ext cx="3017520" cy="109728"/>
          </a:xfrm>
          <a:prstGeom prst="roundRect">
            <a:avLst>
              <a:gd name="adj" fmla="val 25000"/>
            </a:avLst>
          </a:prstGeom>
          <a:solidFill>
            <a:srgbClr val="9B7EDE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3401568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Semi-supervisionado</a:t>
            </a:r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4754880" y="4160520"/>
            <a:ext cx="26974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Aproveitar os não rotulados a partir dos poucos rotulados</a:t>
            </a:r>
            <a:endParaRPr lang="en-US" sz="1300"/>
          </a:p>
        </p:txBody>
      </p:sp>
      <p:sp>
        <p:nvSpPr>
          <p:cNvPr id="17" name="Shape 15"/>
          <p:cNvSpPr/>
          <p:nvPr/>
        </p:nvSpPr>
        <p:spPr>
          <a:xfrm>
            <a:off x="8138160" y="3200400"/>
            <a:ext cx="3017520" cy="2286000"/>
          </a:xfrm>
          <a:prstGeom prst="roundRect">
            <a:avLst>
              <a:gd name="adj" fmla="val 3600"/>
            </a:avLst>
          </a:prstGeom>
          <a:solidFill>
            <a:srgbClr val="141A45"/>
          </a:solidFill>
          <a:ln w="19050">
            <a:solidFill>
              <a:srgbClr val="F2B8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38160" y="3200400"/>
            <a:ext cx="3017520" cy="109728"/>
          </a:xfrm>
          <a:prstGeom prst="roundRect">
            <a:avLst>
              <a:gd name="adj" fmla="val 25000"/>
            </a:avLst>
          </a:prstGeom>
          <a:solidFill>
            <a:srgbClr val="F2B84A"/>
          </a:solidFill>
          <a:ln/>
        </p:spPr>
      </p:sp>
      <p:sp>
        <p:nvSpPr>
          <p:cNvPr id="19" name="Text 17"/>
          <p:cNvSpPr/>
          <p:nvPr/>
        </p:nvSpPr>
        <p:spPr>
          <a:xfrm>
            <a:off x="8321040" y="3401568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Reforço ou Não superv.</a:t>
            </a:r>
            <a:endParaRPr lang="en-US" sz="1600"/>
          </a:p>
        </p:txBody>
      </p:sp>
      <p:sp>
        <p:nvSpPr>
          <p:cNvPr id="20" name="Text 18"/>
          <p:cNvSpPr/>
          <p:nvPr/>
        </p:nvSpPr>
        <p:spPr>
          <a:xfrm>
            <a:off x="8321040" y="4160520"/>
            <a:ext cx="26974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recompensa? → Reforço</a:t>
            </a:r>
            <a:endParaRPr lang="en-US" sz="1300"/>
          </a:p>
          <a:p>
            <a:pPr marL="0" indent="0">
              <a:lnSpc>
                <a:spcPct val="115000"/>
              </a:lnSpc>
              <a:buNone/>
            </a:pPr>
            <a:r>
              <a:rPr lang="en-US" sz="13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achar padrão? → Não superv.</a:t>
            </a:r>
            <a:endParaRPr lang="en-US" sz="1300"/>
          </a:p>
        </p:txBody>
      </p:sp>
      <p:sp>
        <p:nvSpPr>
          <p:cNvPr id="23" name="TextBox 7">
            <a:extLst>
              <a:ext uri="{FF2B5EF4-FFF2-40B4-BE49-F238E27FC236}">
                <a16:creationId xmlns:a16="http://schemas.microsoft.com/office/drawing/2014/main" id="{E714EC1F-7CB7-E3C6-CDC6-2A646E9B4D2E}"/>
              </a:ext>
            </a:extLst>
          </p:cNvPr>
          <p:cNvSpPr txBox="1"/>
          <p:nvPr/>
        </p:nvSpPr>
        <p:spPr>
          <a:xfrm>
            <a:off x="651510" y="632841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/>
              <a:t>Inteligência Artificial</a:t>
            </a:r>
          </a:p>
        </p:txBody>
      </p:sp>
      <p:sp>
        <p:nvSpPr>
          <p:cNvPr id="24" name="TextBox 8">
            <a:extLst>
              <a:ext uri="{FF2B5EF4-FFF2-40B4-BE49-F238E27FC236}">
                <a16:creationId xmlns:a16="http://schemas.microsoft.com/office/drawing/2014/main" id="{CC6FC1CE-18C2-9453-F61C-967C34A4A61C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0" i="0" u="none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25</a:t>
            </a:fld>
            <a:endParaRPr sz="900" b="0" i="0" u="none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Resumo comparativo</a:t>
            </a:r>
            <a:endParaRPr lang="en-US" sz="3100"/>
          </a:p>
        </p:txBody>
      </p:sp>
      <p:sp>
        <p:nvSpPr>
          <p:cNvPr id="3" name="Text 1"/>
          <p:cNvSpPr/>
          <p:nvPr/>
        </p:nvSpPr>
        <p:spPr>
          <a:xfrm>
            <a:off x="475488" y="1152144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linha por tipo — para revisar de relance.</a:t>
            </a:r>
            <a:endParaRPr lang="en-US" sz="150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468880" cy="548640"/>
          </a:xfrm>
          <a:prstGeom prst="rect">
            <a:avLst/>
          </a:prstGeom>
          <a:solidFill>
            <a:srgbClr val="1E2761"/>
          </a:solidFill>
          <a:ln w="6350">
            <a:solidFill>
              <a:srgbClr val="CFDB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9659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endParaRPr lang="en-US" sz="1300"/>
          </a:p>
        </p:txBody>
      </p:sp>
      <p:sp>
        <p:nvSpPr>
          <p:cNvPr id="6" name="Shape 4"/>
          <p:cNvSpPr/>
          <p:nvPr/>
        </p:nvSpPr>
        <p:spPr>
          <a:xfrm>
            <a:off x="3017520" y="1965960"/>
            <a:ext cx="2377440" cy="548640"/>
          </a:xfrm>
          <a:prstGeom prst="rect">
            <a:avLst/>
          </a:prstGeom>
          <a:solidFill>
            <a:srgbClr val="1E2761"/>
          </a:solidFill>
          <a:ln w="6350">
            <a:solidFill>
              <a:srgbClr val="CFDB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82112" y="19659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Sinal que ensina</a:t>
            </a:r>
            <a:endParaRPr lang="en-US" sz="1300"/>
          </a:p>
        </p:txBody>
      </p:sp>
      <p:sp>
        <p:nvSpPr>
          <p:cNvPr id="8" name="Shape 6"/>
          <p:cNvSpPr/>
          <p:nvPr/>
        </p:nvSpPr>
        <p:spPr>
          <a:xfrm>
            <a:off x="5394960" y="1965960"/>
            <a:ext cx="2651760" cy="548640"/>
          </a:xfrm>
          <a:prstGeom prst="rect">
            <a:avLst/>
          </a:prstGeom>
          <a:solidFill>
            <a:srgbClr val="1E2761"/>
          </a:solidFill>
          <a:ln w="6350">
            <a:solidFill>
              <a:srgbClr val="CFDB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59552" y="19659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</a:t>
            </a:r>
            <a:endParaRPr lang="en-US" sz="1300"/>
          </a:p>
        </p:txBody>
      </p:sp>
      <p:sp>
        <p:nvSpPr>
          <p:cNvPr id="10" name="Shape 8"/>
          <p:cNvSpPr/>
          <p:nvPr/>
        </p:nvSpPr>
        <p:spPr>
          <a:xfrm>
            <a:off x="8046720" y="1965960"/>
            <a:ext cx="3017520" cy="548640"/>
          </a:xfrm>
          <a:prstGeom prst="rect">
            <a:avLst/>
          </a:prstGeom>
          <a:solidFill>
            <a:srgbClr val="1E2761"/>
          </a:solidFill>
          <a:ln w="6350">
            <a:solidFill>
              <a:srgbClr val="CFDB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11312" y="19659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</a:t>
            </a:r>
            <a:endParaRPr lang="en-US" sz="1300"/>
          </a:p>
        </p:txBody>
      </p:sp>
      <p:sp>
        <p:nvSpPr>
          <p:cNvPr id="12" name="Shape 10"/>
          <p:cNvSpPr/>
          <p:nvPr/>
        </p:nvSpPr>
        <p:spPr>
          <a:xfrm>
            <a:off x="548640" y="2514600"/>
            <a:ext cx="2468880" cy="749808"/>
          </a:xfrm>
          <a:prstGeom prst="rect">
            <a:avLst/>
          </a:prstGeom>
          <a:solidFill>
            <a:srgbClr val="EDF1FA"/>
          </a:solidFill>
          <a:ln w="6350">
            <a:solidFill>
              <a:srgbClr val="CFDB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514600"/>
            <a:ext cx="73152" cy="749808"/>
          </a:xfrm>
          <a:prstGeom prst="rect">
            <a:avLst/>
          </a:prstGeom>
          <a:solidFill>
            <a:srgbClr val="4F7BE8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2514600"/>
            <a:ext cx="2194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Supervisionado</a:t>
            </a:r>
            <a:endParaRPr lang="en-US" sz="1250"/>
          </a:p>
        </p:txBody>
      </p:sp>
      <p:sp>
        <p:nvSpPr>
          <p:cNvPr id="15" name="Shape 13"/>
          <p:cNvSpPr/>
          <p:nvPr/>
        </p:nvSpPr>
        <p:spPr>
          <a:xfrm>
            <a:off x="3017520" y="2514600"/>
            <a:ext cx="2377440" cy="749808"/>
          </a:xfrm>
          <a:prstGeom prst="rect">
            <a:avLst/>
          </a:prstGeom>
          <a:solidFill>
            <a:srgbClr val="EDF1FA"/>
          </a:solidFill>
          <a:ln w="6350">
            <a:solidFill>
              <a:srgbClr val="CFDB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82112" y="2514600"/>
            <a:ext cx="2103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rótulo (resposta certa)</a:t>
            </a:r>
            <a:endParaRPr lang="en-US" sz="1250"/>
          </a:p>
        </p:txBody>
      </p:sp>
      <p:sp>
        <p:nvSpPr>
          <p:cNvPr id="17" name="Shape 15"/>
          <p:cNvSpPr/>
          <p:nvPr/>
        </p:nvSpPr>
        <p:spPr>
          <a:xfrm>
            <a:off x="5394960" y="2514600"/>
            <a:ext cx="2651760" cy="749808"/>
          </a:xfrm>
          <a:prstGeom prst="rect">
            <a:avLst/>
          </a:prstGeom>
          <a:solidFill>
            <a:srgbClr val="EDF1FA"/>
          </a:solidFill>
          <a:ln w="6350">
            <a:solidFill>
              <a:srgbClr val="CFDB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59552" y="2514600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prever valor ou categoria</a:t>
            </a:r>
            <a:endParaRPr lang="en-US" sz="1250"/>
          </a:p>
        </p:txBody>
      </p:sp>
      <p:sp>
        <p:nvSpPr>
          <p:cNvPr id="19" name="Shape 17"/>
          <p:cNvSpPr/>
          <p:nvPr/>
        </p:nvSpPr>
        <p:spPr>
          <a:xfrm>
            <a:off x="8046720" y="2514600"/>
            <a:ext cx="3017520" cy="749808"/>
          </a:xfrm>
          <a:prstGeom prst="rect">
            <a:avLst/>
          </a:prstGeom>
          <a:solidFill>
            <a:srgbClr val="EDF1FA"/>
          </a:solidFill>
          <a:ln w="6350">
            <a:solidFill>
              <a:srgbClr val="CFDB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11312" y="2514600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prever se cliente vai sair</a:t>
            </a:r>
            <a:endParaRPr lang="en-US" sz="1250"/>
          </a:p>
        </p:txBody>
      </p:sp>
      <p:sp>
        <p:nvSpPr>
          <p:cNvPr id="21" name="Shape 19"/>
          <p:cNvSpPr/>
          <p:nvPr/>
        </p:nvSpPr>
        <p:spPr>
          <a:xfrm>
            <a:off x="548640" y="3264408"/>
            <a:ext cx="2468880" cy="749808"/>
          </a:xfrm>
          <a:prstGeom prst="rect">
            <a:avLst/>
          </a:prstGeom>
          <a:solidFill>
            <a:srgbClr val="F8FAFE"/>
          </a:solidFill>
          <a:ln w="6350">
            <a:solidFill>
              <a:srgbClr val="CFDB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264408"/>
            <a:ext cx="73152" cy="749808"/>
          </a:xfrm>
          <a:prstGeom prst="rect">
            <a:avLst/>
          </a:prstGeom>
          <a:solidFill>
            <a:srgbClr val="49B3A0"/>
          </a:solidFill>
          <a:ln/>
        </p:spPr>
      </p:sp>
      <p:sp>
        <p:nvSpPr>
          <p:cNvPr id="23" name="Text 21"/>
          <p:cNvSpPr/>
          <p:nvPr/>
        </p:nvSpPr>
        <p:spPr>
          <a:xfrm>
            <a:off x="713232" y="3264408"/>
            <a:ext cx="2194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supervisionado</a:t>
            </a:r>
            <a:endParaRPr lang="en-US" sz="1250"/>
          </a:p>
        </p:txBody>
      </p:sp>
      <p:sp>
        <p:nvSpPr>
          <p:cNvPr id="24" name="Shape 22"/>
          <p:cNvSpPr/>
          <p:nvPr/>
        </p:nvSpPr>
        <p:spPr>
          <a:xfrm>
            <a:off x="3017520" y="3264408"/>
            <a:ext cx="2377440" cy="749808"/>
          </a:xfrm>
          <a:prstGeom prst="rect">
            <a:avLst/>
          </a:prstGeom>
          <a:solidFill>
            <a:srgbClr val="F8FAFE"/>
          </a:solidFill>
          <a:ln w="6350">
            <a:solidFill>
              <a:srgbClr val="CFDB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82112" y="3264408"/>
            <a:ext cx="2103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</a:t>
            </a:r>
            <a:endParaRPr lang="en-US" sz="1250"/>
          </a:p>
        </p:txBody>
      </p:sp>
      <p:sp>
        <p:nvSpPr>
          <p:cNvPr id="26" name="Shape 24"/>
          <p:cNvSpPr/>
          <p:nvPr/>
        </p:nvSpPr>
        <p:spPr>
          <a:xfrm>
            <a:off x="5394960" y="3264408"/>
            <a:ext cx="2651760" cy="749808"/>
          </a:xfrm>
          <a:prstGeom prst="rect">
            <a:avLst/>
          </a:prstGeom>
          <a:solidFill>
            <a:srgbClr val="F8FAFE"/>
          </a:solidFill>
          <a:ln w="6350">
            <a:solidFill>
              <a:srgbClr val="CFDB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59552" y="3264408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achar grupos e estrutura</a:t>
            </a:r>
            <a:endParaRPr lang="en-US" sz="1250"/>
          </a:p>
        </p:txBody>
      </p:sp>
      <p:sp>
        <p:nvSpPr>
          <p:cNvPr id="28" name="Shape 26"/>
          <p:cNvSpPr/>
          <p:nvPr/>
        </p:nvSpPr>
        <p:spPr>
          <a:xfrm>
            <a:off x="8046720" y="3264408"/>
            <a:ext cx="3017520" cy="749808"/>
          </a:xfrm>
          <a:prstGeom prst="rect">
            <a:avLst/>
          </a:prstGeom>
          <a:solidFill>
            <a:srgbClr val="F8FAFE"/>
          </a:solidFill>
          <a:ln w="6350">
            <a:solidFill>
              <a:srgbClr val="CFDB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11312" y="3264408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segmentar clientes</a:t>
            </a:r>
            <a:endParaRPr lang="en-US" sz="1250"/>
          </a:p>
        </p:txBody>
      </p:sp>
      <p:sp>
        <p:nvSpPr>
          <p:cNvPr id="30" name="Shape 28"/>
          <p:cNvSpPr/>
          <p:nvPr/>
        </p:nvSpPr>
        <p:spPr>
          <a:xfrm>
            <a:off x="548640" y="4014216"/>
            <a:ext cx="2468880" cy="749808"/>
          </a:xfrm>
          <a:prstGeom prst="rect">
            <a:avLst/>
          </a:prstGeom>
          <a:solidFill>
            <a:srgbClr val="EDF1FA"/>
          </a:solidFill>
          <a:ln w="6350">
            <a:solidFill>
              <a:srgbClr val="CFDB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4014216"/>
            <a:ext cx="73152" cy="749808"/>
          </a:xfrm>
          <a:prstGeom prst="rect">
            <a:avLst/>
          </a:prstGeom>
          <a:solidFill>
            <a:srgbClr val="F2B84A"/>
          </a:solidFill>
          <a:ln/>
        </p:spPr>
      </p:sp>
      <p:sp>
        <p:nvSpPr>
          <p:cNvPr id="32" name="Text 30"/>
          <p:cNvSpPr/>
          <p:nvPr/>
        </p:nvSpPr>
        <p:spPr>
          <a:xfrm>
            <a:off x="713232" y="4014216"/>
            <a:ext cx="2194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reforço</a:t>
            </a:r>
            <a:endParaRPr lang="en-US" sz="1250"/>
          </a:p>
        </p:txBody>
      </p:sp>
      <p:sp>
        <p:nvSpPr>
          <p:cNvPr id="33" name="Shape 31"/>
          <p:cNvSpPr/>
          <p:nvPr/>
        </p:nvSpPr>
        <p:spPr>
          <a:xfrm>
            <a:off x="3017520" y="4014216"/>
            <a:ext cx="2377440" cy="749808"/>
          </a:xfrm>
          <a:prstGeom prst="rect">
            <a:avLst/>
          </a:prstGeom>
          <a:solidFill>
            <a:srgbClr val="EDF1FA"/>
          </a:solidFill>
          <a:ln w="6350">
            <a:solidFill>
              <a:srgbClr val="CFDBF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82112" y="4014216"/>
            <a:ext cx="2103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recompensa/punição</a:t>
            </a:r>
            <a:endParaRPr lang="en-US" sz="1250"/>
          </a:p>
        </p:txBody>
      </p:sp>
      <p:sp>
        <p:nvSpPr>
          <p:cNvPr id="35" name="Shape 33"/>
          <p:cNvSpPr/>
          <p:nvPr/>
        </p:nvSpPr>
        <p:spPr>
          <a:xfrm>
            <a:off x="5394960" y="4014216"/>
            <a:ext cx="2651760" cy="749808"/>
          </a:xfrm>
          <a:prstGeom prst="rect">
            <a:avLst/>
          </a:prstGeom>
          <a:solidFill>
            <a:srgbClr val="EDF1FA"/>
          </a:solidFill>
          <a:ln w="6350">
            <a:solidFill>
              <a:srgbClr val="CFDBF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59552" y="4014216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 a agir</a:t>
            </a:r>
            <a:endParaRPr lang="en-US" sz="1250"/>
          </a:p>
        </p:txBody>
      </p:sp>
      <p:sp>
        <p:nvSpPr>
          <p:cNvPr id="37" name="Shape 35"/>
          <p:cNvSpPr/>
          <p:nvPr/>
        </p:nvSpPr>
        <p:spPr>
          <a:xfrm>
            <a:off x="8046720" y="4014216"/>
            <a:ext cx="3017520" cy="749808"/>
          </a:xfrm>
          <a:prstGeom prst="rect">
            <a:avLst/>
          </a:prstGeom>
          <a:solidFill>
            <a:srgbClr val="EDF1FA"/>
          </a:solidFill>
          <a:ln w="6350">
            <a:solidFill>
              <a:srgbClr val="CFDBF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11312" y="4014216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robô que aprende a andar</a:t>
            </a:r>
            <a:endParaRPr lang="en-US" sz="1250"/>
          </a:p>
        </p:txBody>
      </p:sp>
      <p:sp>
        <p:nvSpPr>
          <p:cNvPr id="39" name="Shape 37"/>
          <p:cNvSpPr/>
          <p:nvPr/>
        </p:nvSpPr>
        <p:spPr>
          <a:xfrm>
            <a:off x="548640" y="4764024"/>
            <a:ext cx="2468880" cy="749808"/>
          </a:xfrm>
          <a:prstGeom prst="rect">
            <a:avLst/>
          </a:prstGeom>
          <a:solidFill>
            <a:srgbClr val="F8FAFE"/>
          </a:solidFill>
          <a:ln w="6350">
            <a:solidFill>
              <a:srgbClr val="CFDB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48640" y="4764024"/>
            <a:ext cx="73152" cy="749808"/>
          </a:xfrm>
          <a:prstGeom prst="rect">
            <a:avLst/>
          </a:prstGeom>
          <a:solidFill>
            <a:srgbClr val="9B7EDE"/>
          </a:solidFill>
          <a:ln/>
        </p:spPr>
      </p:sp>
      <p:sp>
        <p:nvSpPr>
          <p:cNvPr id="41" name="Text 39"/>
          <p:cNvSpPr/>
          <p:nvPr/>
        </p:nvSpPr>
        <p:spPr>
          <a:xfrm>
            <a:off x="713232" y="4764024"/>
            <a:ext cx="2194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Semi-supervisionado</a:t>
            </a:r>
            <a:endParaRPr lang="en-US" sz="1250"/>
          </a:p>
        </p:txBody>
      </p:sp>
      <p:sp>
        <p:nvSpPr>
          <p:cNvPr id="42" name="Shape 40"/>
          <p:cNvSpPr/>
          <p:nvPr/>
        </p:nvSpPr>
        <p:spPr>
          <a:xfrm>
            <a:off x="3017520" y="4764024"/>
            <a:ext cx="2377440" cy="749808"/>
          </a:xfrm>
          <a:prstGeom prst="rect">
            <a:avLst/>
          </a:prstGeom>
          <a:solidFill>
            <a:srgbClr val="F8FAFE"/>
          </a:solidFill>
          <a:ln w="6350">
            <a:solidFill>
              <a:srgbClr val="CFDBF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182112" y="4764024"/>
            <a:ext cx="2103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poucos rótulos</a:t>
            </a:r>
            <a:endParaRPr lang="en-US" sz="1250"/>
          </a:p>
        </p:txBody>
      </p:sp>
      <p:sp>
        <p:nvSpPr>
          <p:cNvPr id="44" name="Shape 42"/>
          <p:cNvSpPr/>
          <p:nvPr/>
        </p:nvSpPr>
        <p:spPr>
          <a:xfrm>
            <a:off x="5394960" y="4764024"/>
            <a:ext cx="2651760" cy="749808"/>
          </a:xfrm>
          <a:prstGeom prst="rect">
            <a:avLst/>
          </a:prstGeom>
          <a:solidFill>
            <a:srgbClr val="F8FAFE"/>
          </a:solidFill>
          <a:ln w="6350">
            <a:solidFill>
              <a:srgbClr val="CFDBF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59552" y="4764024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rotular muito a partir de pouco</a:t>
            </a:r>
            <a:endParaRPr lang="en-US" sz="1250"/>
          </a:p>
        </p:txBody>
      </p:sp>
      <p:sp>
        <p:nvSpPr>
          <p:cNvPr id="46" name="Shape 44"/>
          <p:cNvSpPr/>
          <p:nvPr/>
        </p:nvSpPr>
        <p:spPr>
          <a:xfrm>
            <a:off x="8046720" y="4764024"/>
            <a:ext cx="3017520" cy="749808"/>
          </a:xfrm>
          <a:prstGeom prst="rect">
            <a:avLst/>
          </a:prstGeom>
          <a:solidFill>
            <a:srgbClr val="F8FAFE"/>
          </a:solidFill>
          <a:ln w="6350">
            <a:solidFill>
              <a:srgbClr val="CFDBF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211312" y="4764024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classificar fotos em massa</a:t>
            </a:r>
            <a:endParaRPr lang="en-US" sz="1250"/>
          </a:p>
        </p:txBody>
      </p:sp>
      <p:sp>
        <p:nvSpPr>
          <p:cNvPr id="48" name="Text 46"/>
          <p:cNvSpPr/>
          <p:nvPr/>
        </p:nvSpPr>
        <p:spPr>
          <a:xfrm>
            <a:off x="548640" y="5669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>
                <a:solidFill>
                  <a:srgbClr val="6E7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mnemônica: o que ENSINA o modelo? Rótulo, nada, recompensa, ou poucos rótulos.</a:t>
            </a:r>
            <a:endParaRPr lang="en-US" sz="1350"/>
          </a:p>
        </p:txBody>
      </p:sp>
      <p:sp>
        <p:nvSpPr>
          <p:cNvPr id="51" name="TextBox 7">
            <a:extLst>
              <a:ext uri="{FF2B5EF4-FFF2-40B4-BE49-F238E27FC236}">
                <a16:creationId xmlns:a16="http://schemas.microsoft.com/office/drawing/2014/main" id="{B075BE3F-C86E-0DE0-C831-AB1A5309029F}"/>
              </a:ext>
            </a:extLst>
          </p:cNvPr>
          <p:cNvSpPr txBox="1"/>
          <p:nvPr/>
        </p:nvSpPr>
        <p:spPr>
          <a:xfrm>
            <a:off x="651510" y="632841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/>
              <a:t>Inteligência Artificial</a:t>
            </a:r>
          </a:p>
        </p:txBody>
      </p:sp>
      <p:sp>
        <p:nvSpPr>
          <p:cNvPr id="52" name="TextBox 8">
            <a:extLst>
              <a:ext uri="{FF2B5EF4-FFF2-40B4-BE49-F238E27FC236}">
                <a16:creationId xmlns:a16="http://schemas.microsoft.com/office/drawing/2014/main" id="{5C498852-DF87-AEA8-07B7-CA63D5182486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0" i="0" u="none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26</a:t>
            </a:fld>
            <a:endParaRPr sz="900" b="0" i="0" u="none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Science × Machine Learning</a:t>
            </a:r>
            <a:endParaRPr lang="en-US" sz="3300"/>
          </a:p>
        </p:txBody>
      </p:sp>
      <p:sp>
        <p:nvSpPr>
          <p:cNvPr id="3" name="Text 1"/>
          <p:cNvSpPr/>
          <p:nvPr/>
        </p:nvSpPr>
        <p:spPr>
          <a:xfrm>
            <a:off x="475488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campo amplo e uma das ferramentas dentro dele.</a:t>
            </a:r>
            <a:endParaRPr lang="en-US" sz="150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4160520"/>
          </a:xfrm>
          <a:prstGeom prst="roundRect">
            <a:avLst>
              <a:gd name="adj" fmla="val 2198"/>
            </a:avLst>
          </a:prstGeom>
          <a:solidFill>
            <a:srgbClr val="EDF1FA"/>
          </a:solidFill>
          <a:ln w="19050">
            <a:solidFill>
              <a:srgbClr val="4F7B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659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>
                <a:solidFill>
                  <a:srgbClr val="4F7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</a:t>
            </a:r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Extrair decisões a partir de dados — o ciclo inteiro.</a:t>
            </a:r>
            <a:endParaRPr lang="en-US" sz="1350"/>
          </a:p>
        </p:txBody>
      </p:sp>
      <p:sp>
        <p:nvSpPr>
          <p:cNvPr id="7" name="Shape 5"/>
          <p:cNvSpPr/>
          <p:nvPr/>
        </p:nvSpPr>
        <p:spPr>
          <a:xfrm>
            <a:off x="914400" y="2926080"/>
            <a:ext cx="4663440" cy="2788920"/>
          </a:xfrm>
          <a:prstGeom prst="roundRect">
            <a:avLst>
              <a:gd name="adj" fmla="val 2951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309067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>
                <a:solidFill>
                  <a:srgbClr val="F2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300"/>
          </a:p>
        </p:txBody>
      </p:sp>
      <p:sp>
        <p:nvSpPr>
          <p:cNvPr id="9" name="Text 7"/>
          <p:cNvSpPr/>
          <p:nvPr/>
        </p:nvSpPr>
        <p:spPr>
          <a:xfrm>
            <a:off x="1143000" y="342900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 padrões dos dados e generalizar para casos novos.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1143000" y="4114800"/>
            <a:ext cx="4206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etapa de </a:t>
            </a:r>
            <a:r>
              <a:rPr lang="en-US" sz="13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</a:t>
            </a:r>
            <a:r>
              <a:rPr lang="en-US" sz="13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dentro da Data Science — uma ferramenta potente, acionada quando o problema pede.</a:t>
            </a:r>
            <a:endParaRPr lang="en-US" sz="1350"/>
          </a:p>
        </p:txBody>
      </p:sp>
      <p:sp>
        <p:nvSpPr>
          <p:cNvPr id="11" name="Shape 9"/>
          <p:cNvSpPr/>
          <p:nvPr/>
        </p:nvSpPr>
        <p:spPr>
          <a:xfrm>
            <a:off x="6172200" y="178308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8FAFE"/>
          </a:solidFill>
          <a:ln w="12700">
            <a:solidFill>
              <a:srgbClr val="CFDB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193852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 Data Science faz</a:t>
            </a:r>
            <a:endParaRPr lang="en-US" sz="1600"/>
          </a:p>
        </p:txBody>
      </p:sp>
      <p:sp>
        <p:nvSpPr>
          <p:cNvPr id="13" name="Text 11"/>
          <p:cNvSpPr/>
          <p:nvPr/>
        </p:nvSpPr>
        <p:spPr>
          <a:xfrm>
            <a:off x="6583680" y="233172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5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 a pergunta de negócio</a:t>
            </a:r>
            <a:endParaRPr lang="en-US" sz="135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5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Coletar, limpar e organizar dados</a:t>
            </a:r>
            <a:endParaRPr lang="en-US" sz="135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5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Explorar, visualizar, analisar</a:t>
            </a:r>
            <a:endParaRPr lang="en-US" sz="1350"/>
          </a:p>
          <a:p>
            <a:pPr marL="190500" indent="-190500">
              <a:buSzPct val="100000"/>
              <a:buChar char="•"/>
            </a:pPr>
            <a:r>
              <a:rPr lang="en-US" sz="135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Comunicar e apoiar a decisão</a:t>
            </a:r>
            <a:endParaRPr lang="en-US" sz="1350"/>
          </a:p>
        </p:txBody>
      </p:sp>
      <p:sp>
        <p:nvSpPr>
          <p:cNvPr id="14" name="Shape 12"/>
          <p:cNvSpPr/>
          <p:nvPr/>
        </p:nvSpPr>
        <p:spPr>
          <a:xfrm>
            <a:off x="6172200" y="393192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408736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 Machine Learning faz</a:t>
            </a:r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6583680" y="448056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 a regra a partir de exemplos</a:t>
            </a:r>
            <a:endParaRPr lang="en-US" sz="135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Prever sobre dados que ainda não viu</a:t>
            </a:r>
            <a:endParaRPr lang="en-US" sz="135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Classificar, prever valores, agrupar</a:t>
            </a:r>
            <a:endParaRPr lang="en-US" sz="1350"/>
          </a:p>
          <a:p>
            <a:pPr marL="190500" indent="-190500">
              <a:buSzPct val="100000"/>
              <a:buChar char="•"/>
            </a:pPr>
            <a:r>
              <a:rPr lang="en-US" sz="1350">
                <a:solidFill>
                  <a:srgbClr val="F2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Generalizar — não decorar o passado</a:t>
            </a:r>
            <a:endParaRPr lang="en-US" sz="1350"/>
          </a:p>
        </p:txBody>
      </p:sp>
      <p:sp>
        <p:nvSpPr>
          <p:cNvPr id="17" name="Shape 15"/>
          <p:cNvSpPr/>
          <p:nvPr/>
        </p:nvSpPr>
        <p:spPr>
          <a:xfrm>
            <a:off x="548640" y="6080760"/>
            <a:ext cx="11064240" cy="658368"/>
          </a:xfrm>
          <a:prstGeom prst="roundRect">
            <a:avLst>
              <a:gd name="adj" fmla="val 9722"/>
            </a:avLst>
          </a:prstGeom>
          <a:solidFill>
            <a:srgbClr val="FDF4E0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6080760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— mesma empresa:  </a:t>
            </a:r>
            <a:r>
              <a:rPr lang="en-US" sz="130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pergunta "por que perdemos clientes?" e investiga os dados;  Machine Learning prevê "quais clientes vão sair no próximo mês".</a:t>
            </a:r>
            <a:endParaRPr lang="en-US" sz="13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1280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>
                <a:solidFill>
                  <a:srgbClr val="F2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CURIOSIDADE</a:t>
            </a:r>
            <a:endParaRPr lang="en-US" sz="1500"/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965D7677-A65B-CC02-3BEE-F542793A4EBB}"/>
              </a:ext>
            </a:extLst>
          </p:cNvPr>
          <p:cNvSpPr txBox="1"/>
          <p:nvPr/>
        </p:nvSpPr>
        <p:spPr>
          <a:xfrm>
            <a:off x="651510" y="632841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/>
              <a:t>Inteligência Artificial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E6110EDD-1478-E488-B450-DC880BE4101B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0" i="0" u="none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28</a:t>
            </a:fld>
            <a:endParaRPr sz="900" b="0" i="0" u="none">
              <a:solidFill>
                <a:srgbClr val="94A3B8"/>
              </a:solidFill>
              <a:latin typeface="Inter"/>
            </a:endParaRPr>
          </a:p>
        </p:txBody>
      </p:sp>
      <p:pic>
        <p:nvPicPr>
          <p:cNvPr id="7" name="Imagem 1">
            <a:extLst>
              <a:ext uri="{FF2B5EF4-FFF2-40B4-BE49-F238E27FC236}">
                <a16:creationId xmlns:a16="http://schemas.microsoft.com/office/drawing/2014/main" id="{567FE89A-F8A2-90BF-E384-1E2D8BB168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5245" y="881575"/>
            <a:ext cx="8303281" cy="4862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f55bb95-0e2d-49eb-8730-bda5c0a73d75" xsi:nil="true"/>
    <lcf76f155ced4ddcb4097134ff3c332f xmlns="f534e9f2-b7ec-4ccc-a69c-51d3e3635b48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8A2D2C2733B7342A34F941B973AA6E6" ma:contentTypeVersion="9" ma:contentTypeDescription="Crie um novo documento." ma:contentTypeScope="" ma:versionID="0683c89334ed78834fe33c164e772971">
  <xsd:schema xmlns:xsd="http://www.w3.org/2001/XMLSchema" xmlns:xs="http://www.w3.org/2001/XMLSchema" xmlns:p="http://schemas.microsoft.com/office/2006/metadata/properties" xmlns:ns2="f534e9f2-b7ec-4ccc-a69c-51d3e3635b48" xmlns:ns3="bf55bb95-0e2d-49eb-8730-bda5c0a73d75" targetNamespace="http://schemas.microsoft.com/office/2006/metadata/properties" ma:root="true" ma:fieldsID="b6ff691edaa762fc51b4ef2dd0edebb2" ns2:_="" ns3:_="">
    <xsd:import namespace="f534e9f2-b7ec-4ccc-a69c-51d3e3635b48"/>
    <xsd:import namespace="bf55bb95-0e2d-49eb-8730-bda5c0a73d7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34e9f2-b7ec-4ccc-a69c-51d3e3635b4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699e888a-e30d-4c0e-bef0-0db25144e5f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55bb95-0e2d-49eb-8730-bda5c0a73d7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5afc77d-9220-47df-90d7-402ba00a53d1}" ma:internalName="TaxCatchAll" ma:showField="CatchAllData" ma:web="bf55bb95-0e2d-49eb-8730-bda5c0a73d7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45F0FF1-8111-40E4-B4CC-64F3CB3C576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73932EE-B2E6-4FBC-92F1-7E30305FEAC4}">
  <ds:schemaRefs>
    <ds:schemaRef ds:uri="bf55bb95-0e2d-49eb-8730-bda5c0a73d75"/>
    <ds:schemaRef ds:uri="f534e9f2-b7ec-4ccc-a69c-51d3e3635b48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8F11BBB0-9AC5-423C-A7D3-A5E346974306}">
  <ds:schemaRefs>
    <ds:schemaRef ds:uri="bf55bb95-0e2d-49eb-8730-bda5c0a73d75"/>
    <ds:schemaRef ds:uri="f534e9f2-b7ec-4ccc-a69c-51d3e3635b4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28</Slides>
  <Notes>28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28</vt:i4>
      </vt:variant>
    </vt:vector>
  </HeadingPairs>
  <TitlesOfParts>
    <vt:vector size="29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revision>3</cp:revision>
  <dcterms:created xsi:type="dcterms:W3CDTF">2026-08-17T21:40:40Z</dcterms:created>
  <dcterms:modified xsi:type="dcterms:W3CDTF">2026-10-10T20:45:11Z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0x01010078A2D2C2733B7342A34F941B973AA6E6</vt:lpwstr>
  </property>
  <property fmtid="{D5CDD505-2E9C-101B-9397-08002B2CF9AE}" pid="3" name="MediaServiceImageTags">
    <vt:lpwstr/>
  </property>
</Properties>
</file>