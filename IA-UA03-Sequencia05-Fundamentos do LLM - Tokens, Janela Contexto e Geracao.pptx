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7" r:id="rId2"/>
    <p:sldId id="257" r:id="rId3"/>
    <p:sldId id="258" r:id="rId4"/>
    <p:sldId id="605" r:id="rId5"/>
    <p:sldId id="259" r:id="rId6"/>
    <p:sldId id="256" r:id="rId7"/>
    <p:sldId id="604" r:id="rId8"/>
    <p:sldId id="606" r:id="rId9"/>
    <p:sldId id="261" r:id="rId10"/>
    <p:sldId id="262" r:id="rId11"/>
    <p:sldId id="263" r:id="rId12"/>
    <p:sldId id="264" r:id="rId13"/>
    <p:sldId id="265" r:id="rId14"/>
    <p:sldId id="266" r:id="rId15"/>
    <p:sldId id="607" r:id="rId16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288234C-2258-4AE9-B456-4F346EA6433E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8A7C77-64BD-4DE7-A130-732D0A184DC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354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4A25BE-7DC4-49E6-A5A9-599A3281589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93A8E0-07C2-4F79-9284-FD9A210B8C0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8FAEF-D36F-4ED0-8FDF-1D35DA519BE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050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A2E497-4617-4C6B-823B-A9048A4A53B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E42836-4D6B-46FD-B2B6-5F8620CD987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tiktoken (tokenizer da OpenAI) como exemplo. O ponto: o texto vira IDs numéricos. Contar tokens é uma habilidade prática (custo/limite).</a:t>
            </a:r>
          </a:p>
        </p:txBody>
      </p:sp>
      <p:sp>
        <p:nvSpPr>
          <p:cNvPr id="1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8FAEF-D36F-4ED0-8FDF-1D35DA519BE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5930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tiktoken (tokenizer da OpenAI) como exemplo. O ponto: o texto vira IDs numéricos. Contar tokens é uma habilidade prática (custo/limite).</a:t>
            </a:r>
          </a:p>
        </p:txBody>
      </p:sp>
      <p:sp>
        <p:nvSpPr>
          <p:cNvPr id="1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8FAEF-D36F-4ED0-8FDF-1D35DA519BE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6221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B7FD05-E034-4F7A-A190-F9620681FEC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1B4DD5-3064-4D83-B3B4-5DD83EDDD6E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2673CD-2E78-401C-BCE4-12DA3C71B7A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5078E-DABD-4E75-B041-F873B785C70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27B9E8-063E-4DB1-8DB0-41A89B91D77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6379AD-5201-49E0-9F49-A9C6906DDC2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8FAEF-D36F-4ED0-8FDF-1D35DA519BE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743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ndetectable.ai/blog/pt/como-detetar-o-chatgpt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C6D2C22-A671-5C71-F88B-7F7002A153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358DFF1-D8F1-4D9C-D6DA-8885A0621539}"/>
              </a:ext>
            </a:extLst>
          </p:cNvPr>
          <p:cNvSpPr/>
          <p:nvPr/>
        </p:nvSpPr>
        <p:spPr>
          <a:xfrm>
            <a:off x="643456" y="2156822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strike="noStrike" spc="-1" dirty="0" err="1">
                <a:solidFill>
                  <a:srgbClr val="FFFFFF"/>
                </a:solidFill>
                <a:latin typeface="Cambria"/>
                <a:ea typeface="Cambria"/>
              </a:rPr>
              <a:t>Fundamentos</a:t>
            </a:r>
            <a:r>
              <a:rPr lang="en-US" sz="42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 de LLMs</a:t>
            </a:r>
            <a:endParaRPr lang="en-US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F012FE-54D7-E527-FF2C-EBA139DD2E70}"/>
              </a:ext>
            </a:extLst>
          </p:cNvPr>
          <p:cNvSpPr/>
          <p:nvPr/>
        </p:nvSpPr>
        <p:spPr>
          <a:xfrm>
            <a:off x="689176" y="3345542"/>
            <a:ext cx="10608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Tokens,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janela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de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contexto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e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geração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—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como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um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modelo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de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linguagem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realmente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funciona</a:t>
            </a:r>
            <a:endParaRPr lang="en-US" sz="17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475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Relembrando: o que é um LLM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Um modelo treinado para prever a próxima palavra — em escala massiva.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1965960"/>
            <a:ext cx="11063880" cy="13712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22960" y="1965960"/>
            <a:ext cx="105152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9FBCE8"/>
                </a:solidFill>
                <a:latin typeface="Calibri"/>
              </a:rPr>
              <a:t>Entrada (contexto):  </a:t>
            </a:r>
            <a:r>
              <a:rPr lang="en-US" sz="1700" b="1" strike="noStrike" spc="-1">
                <a:solidFill>
                  <a:srgbClr val="FFFFFF"/>
                </a:solidFill>
                <a:latin typeface="Consolas"/>
                <a:ea typeface="Consolas"/>
              </a:rPr>
              <a:t>"O céu está"</a:t>
            </a:r>
            <a:r>
              <a:rPr lang="en-US" sz="1500" b="0" strike="noStrike" spc="-1">
                <a:solidFill>
                  <a:srgbClr val="9FBCE8"/>
                </a:solidFill>
                <a:latin typeface="Calibri"/>
                <a:ea typeface="Consolas"/>
              </a:rPr>
              <a:t>     →     Saída:  </a:t>
            </a:r>
            <a:r>
              <a:rPr lang="en-US" sz="1700" b="1" strike="noStrike" spc="-1">
                <a:solidFill>
                  <a:srgbClr val="F2B84A"/>
                </a:solidFill>
                <a:latin typeface="Consolas"/>
                <a:ea typeface="Consolas"/>
              </a:rPr>
              <a:t>"azul"</a:t>
            </a: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onsolas"/>
              </a:rPr>
              <a:t>  (a mais provável)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48640" y="3611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Para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operar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um LLM,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três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conceitos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são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essenciais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— e é o que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veremos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agora: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548640" y="4114800"/>
            <a:ext cx="3611520" cy="1554120"/>
          </a:xfrm>
          <a:prstGeom prst="roundRect">
            <a:avLst>
              <a:gd name="adj" fmla="val 5294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548640" y="41148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804600" y="43434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1E2761"/>
                </a:solidFill>
                <a:latin typeface="Cambria"/>
                <a:ea typeface="Cambria"/>
              </a:rPr>
              <a:t>Token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804600" y="484632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a unidade que o modelo lê e gera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4325040" y="4114800"/>
            <a:ext cx="3611520" cy="1554120"/>
          </a:xfrm>
          <a:prstGeom prst="roundRect">
            <a:avLst>
              <a:gd name="adj" fmla="val 5294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4325040" y="41148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4581000" y="43434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1E2761"/>
                </a:solidFill>
                <a:latin typeface="Cambria"/>
                <a:ea typeface="Cambria"/>
              </a:rPr>
              <a:t>Contexto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4581000" y="484632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o quanto ele consegue "lembrar" de uma vez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8101440" y="4114800"/>
            <a:ext cx="3611520" cy="1554120"/>
          </a:xfrm>
          <a:prstGeom prst="roundRect">
            <a:avLst>
              <a:gd name="adj" fmla="val 5294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8101440" y="41148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8357760" y="43434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1E2761"/>
                </a:solidFill>
                <a:latin typeface="Cambria"/>
                <a:ea typeface="Cambria"/>
              </a:rPr>
              <a:t>Geração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8357760" y="484632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como ele escolhe a próxima palavra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33EC3831-8098-9FC7-1A00-BC3C2152AB3A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D4EED33-551D-6C8F-8171-ABCE1FC64306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CONCEITO 1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Tokens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A unidade de texto que o modelo realmente processa — nem sempre é uma palavra.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21E2CEC1-DDA4-BE79-539C-721D1EF9BAA1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6B433390-8AC2-E60B-41DA-EAFE40AE1EE9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Tokens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Transformar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texto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números</a:t>
            </a:r>
            <a:r>
              <a:rPr lang="en-US" sz="1500" spc="-1" dirty="0">
                <a:solidFill>
                  <a:srgbClr val="5A6072"/>
                </a:solidFill>
                <a:latin typeface="Calibri"/>
                <a:ea typeface="Calibri"/>
              </a:rPr>
              <a:t>!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546923" y="2331413"/>
            <a:ext cx="10996609" cy="3345231"/>
          </a:xfrm>
          <a:prstGeom prst="roundRect">
            <a:avLst>
              <a:gd name="adj" fmla="val 25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7A14F43-9213-CBFB-4B1D-86561F55DAAD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65E736D-50CD-42CF-D032-CCF832AA471F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4</a:t>
            </a:fld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A5FFF8-0943-47D9-EA1D-D93C9D9EF0FF}"/>
              </a:ext>
            </a:extLst>
          </p:cNvPr>
          <p:cNvSpPr txBox="1"/>
          <p:nvPr/>
        </p:nvSpPr>
        <p:spPr>
          <a:xfrm>
            <a:off x="785525" y="2525614"/>
            <a:ext cx="104879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/>
              <a:t>Para conseguir acessar texto, </a:t>
            </a:r>
            <a:r>
              <a:rPr lang="pt-BR" sz="1800" b="1" dirty="0">
                <a:solidFill>
                  <a:srgbClr val="FF0000"/>
                </a:solidFill>
              </a:rPr>
              <a:t>precisamos transformar texto em números</a:t>
            </a:r>
            <a:r>
              <a:rPr lang="pt-BR" sz="1800" dirty="0"/>
              <a:t> e vice-versa, de forma que seja possível recuperar o texto depois.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/>
              <a:t>Uma </a:t>
            </a:r>
            <a:r>
              <a:rPr lang="pt-BR" sz="1800" dirty="0" err="1"/>
              <a:t>idéia</a:t>
            </a:r>
            <a:r>
              <a:rPr lang="pt-BR" sz="1800" dirty="0"/>
              <a:t> inicial é a tokenização por caractere, definindo um código por letra. Por exemplo, A-1, B-2, C-3, etc. Assim, a palavra “cachorro” ficaria com 7 tokens: 3-1-3-8-15-18-18-15.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/>
              <a:t>Para reduzir a quantidade de tokens a serem processada por um LLM, também é possível </a:t>
            </a:r>
            <a:r>
              <a:rPr lang="pt-BR" sz="1800" dirty="0" err="1"/>
              <a:t>tokenizar</a:t>
            </a:r>
            <a:r>
              <a:rPr lang="pt-BR" sz="1800" dirty="0"/>
              <a:t> por palavra ao invés de por caractere. </a:t>
            </a:r>
            <a:r>
              <a:rPr lang="pt-BR" sz="1800" dirty="0" err="1"/>
              <a:t>Poderiamos</a:t>
            </a:r>
            <a:r>
              <a:rPr lang="pt-BR" sz="1800" dirty="0"/>
              <a:t> ter um léxico (conjunto de palavras) e atribuir um código a cada uma delas. Assim a palavra “cachorro” ficaria com apenas um código, um token, por exemplo, 31125.</a:t>
            </a:r>
          </a:p>
        </p:txBody>
      </p:sp>
    </p:spTree>
    <p:extLst>
      <p:ext uri="{BB962C8B-B14F-4D97-AF65-F5344CB8AC3E}">
        <p14:creationId xmlns:p14="http://schemas.microsoft.com/office/powerpoint/2010/main" val="164649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é um token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modelo não lê letras nem palavras inteiras — lê tokens (pedaços de texto).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548640" y="18288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A frase abaixo, dividida em tokens: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594360" y="2286000"/>
            <a:ext cx="1215720" cy="502560"/>
          </a:xfrm>
          <a:prstGeom prst="roundRect">
            <a:avLst>
              <a:gd name="adj" fmla="val 10909"/>
            </a:avLst>
          </a:prstGeom>
          <a:solidFill>
            <a:srgbClr val="3A6F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594360" y="2286000"/>
            <a:ext cx="1215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onsolas"/>
                <a:ea typeface="Consolas"/>
              </a:rPr>
              <a:t>Intelig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1901880" y="2286000"/>
            <a:ext cx="959760" cy="502560"/>
          </a:xfrm>
          <a:prstGeom prst="roundRect">
            <a:avLst>
              <a:gd name="adj" fmla="val 10909"/>
            </a:avLst>
          </a:prstGeom>
          <a:solidFill>
            <a:srgbClr val="2E8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1901880" y="228600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onsolas"/>
                <a:ea typeface="Consolas"/>
              </a:rPr>
              <a:t>ência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2953440" y="2286000"/>
            <a:ext cx="1728000" cy="502560"/>
          </a:xfrm>
          <a:prstGeom prst="roundRect">
            <a:avLst>
              <a:gd name="adj" fmla="val 10909"/>
            </a:avLst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2953440" y="2286000"/>
            <a:ext cx="1728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onsolas"/>
                <a:ea typeface="Consolas"/>
              </a:rPr>
              <a:t> artificial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4773240" y="2286000"/>
            <a:ext cx="575640" cy="502560"/>
          </a:xfrm>
          <a:prstGeom prst="roundRect">
            <a:avLst>
              <a:gd name="adj" fmla="val 10909"/>
            </a:avLst>
          </a:prstGeom>
          <a:solidFill>
            <a:srgbClr val="9B5BB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4773240" y="2286000"/>
            <a:ext cx="575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onsolas"/>
                <a:ea typeface="Consolas"/>
              </a:rPr>
              <a:t> é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5440680" y="2286000"/>
            <a:ext cx="959760" cy="502560"/>
          </a:xfrm>
          <a:prstGeom prst="roundRect">
            <a:avLst>
              <a:gd name="adj" fmla="val 10909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5440680" y="228600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onsolas"/>
                <a:ea typeface="Consolas"/>
              </a:rPr>
              <a:t> incr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6492240" y="2286000"/>
            <a:ext cx="831600" cy="502560"/>
          </a:xfrm>
          <a:prstGeom prst="roundRect">
            <a:avLst>
              <a:gd name="adj" fmla="val 10909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6492240" y="2286000"/>
            <a:ext cx="831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onsolas"/>
                <a:ea typeface="Consolas"/>
              </a:rPr>
              <a:t>ível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548640" y="30632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Repare: "Inteligência" virou 2 tokens; "incrível" também. Palavras comuns costumam ser 1 token; palavras longas ou raras se quebram.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548640" y="379476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822960" y="39502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Regra prática (inglês)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822960" y="434340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~1 token ≈ 4 caracteres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~100 tokens ≈ 75 palavras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(português gasta um pouco mais)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9"/>
          <p:cNvSpPr/>
          <p:nvPr/>
        </p:nvSpPr>
        <p:spPr>
          <a:xfrm>
            <a:off x="6172200" y="379476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6446520" y="39502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Por que </a:t>
            </a:r>
            <a:r>
              <a:rPr lang="en-US" sz="1600" b="1" strike="noStrike" spc="-1" dirty="0" err="1">
                <a:solidFill>
                  <a:srgbClr val="FFFFFF"/>
                </a:solidFill>
                <a:latin typeface="Cambria"/>
                <a:ea typeface="Cambria"/>
              </a:rPr>
              <a:t>você</a:t>
            </a:r>
            <a:r>
              <a:rPr lang="en-US" sz="16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 se </a:t>
            </a:r>
            <a:r>
              <a:rPr lang="en-US" sz="1600" b="1" strike="noStrike" spc="-1" dirty="0" err="1">
                <a:solidFill>
                  <a:srgbClr val="FFFFFF"/>
                </a:solidFill>
                <a:latin typeface="Cambria"/>
                <a:ea typeface="Cambria"/>
              </a:rPr>
              <a:t>importa</a:t>
            </a:r>
            <a:r>
              <a:rPr lang="en-US" sz="16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 (para o </a:t>
            </a:r>
            <a:r>
              <a:rPr lang="en-US" sz="1600" b="1" strike="noStrike" spc="-1" dirty="0" err="1">
                <a:solidFill>
                  <a:srgbClr val="FFFFFF"/>
                </a:solidFill>
                <a:latin typeface="Cambria"/>
                <a:ea typeface="Cambria"/>
              </a:rPr>
              <a:t>seu</a:t>
            </a:r>
            <a:r>
              <a:rPr lang="en-US" sz="16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 </a:t>
            </a:r>
            <a:r>
              <a:rPr lang="en-US" sz="1600" b="1" strike="noStrike" spc="-1" dirty="0" err="1">
                <a:solidFill>
                  <a:srgbClr val="FFFFFF"/>
                </a:solidFill>
                <a:latin typeface="Cambria"/>
                <a:ea typeface="Cambria"/>
              </a:rPr>
              <a:t>Projeto</a:t>
            </a:r>
            <a:r>
              <a:rPr lang="en-US" sz="16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):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6446520" y="434340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50" b="1" strike="noStrike" spc="-1">
                <a:solidFill>
                  <a:srgbClr val="F2B84A"/>
                </a:solidFill>
                <a:latin typeface="Calibri"/>
                <a:ea typeface="Calibri"/>
              </a:rPr>
              <a:t>Custo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é cobrado por token (entrada + saída)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350" b="1" strike="noStrike" spc="-1">
                <a:solidFill>
                  <a:srgbClr val="F2B84A"/>
                </a:solidFill>
                <a:latin typeface="Calibri"/>
                <a:ea typeface="Calibri"/>
              </a:rPr>
              <a:t>Limite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de contexto é medido em tokens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2B84A"/>
                </a:solidFill>
                <a:latin typeface="Calibri"/>
                <a:ea typeface="Calibri"/>
              </a:rPr>
              <a:t>Velocidade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cai com textos muito longos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20A397F-6DAB-7CDF-ABAC-9E504F4AD1A2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D346BCD-9BD2-D49E-05F4-5F70CDD3BB2C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457200" y="3474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1E2761"/>
                </a:solidFill>
                <a:latin typeface="Cambria"/>
                <a:ea typeface="Cambria"/>
              </a:rPr>
              <a:t>Por que tokens? Letras × Subpalavras × Palavras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475560" y="102420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O token (subpalavra) é o meio-termo que evita os problemas dos dois extremos.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2"/>
          <p:cNvSpPr/>
          <p:nvPr/>
        </p:nvSpPr>
        <p:spPr>
          <a:xfrm>
            <a:off x="548640" y="1554480"/>
            <a:ext cx="3611520" cy="3977280"/>
          </a:xfrm>
          <a:prstGeom prst="roundRect">
            <a:avLst>
              <a:gd name="adj" fmla="val 2278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3"/>
          <p:cNvSpPr/>
          <p:nvPr/>
        </p:nvSpPr>
        <p:spPr>
          <a:xfrm>
            <a:off x="548640" y="1554480"/>
            <a:ext cx="3611520" cy="118440"/>
          </a:xfrm>
          <a:prstGeom prst="roundRect">
            <a:avLst>
              <a:gd name="adj" fmla="val 15385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4"/>
          <p:cNvSpPr/>
          <p:nvPr/>
        </p:nvSpPr>
        <p:spPr>
          <a:xfrm>
            <a:off x="777240" y="173736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Letras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77240" y="217620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C4506B"/>
                </a:solidFill>
                <a:latin typeface="Calibri"/>
                <a:ea typeface="Calibri"/>
              </a:rPr>
              <a:t>vocabulário: ~100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777240" y="2487240"/>
            <a:ext cx="3154320" cy="456840"/>
          </a:xfrm>
          <a:prstGeom prst="roundRect">
            <a:avLst>
              <a:gd name="adj" fmla="val 10000"/>
            </a:avLst>
          </a:prstGeom>
          <a:solidFill>
            <a:srgbClr val="1218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77240" y="248724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FD1A8"/>
                </a:solidFill>
                <a:latin typeface="Consolas"/>
                <a:ea typeface="Consolas"/>
              </a:rPr>
              <a:t>i·n·t·e·l·i·g·ê·n·c·i·a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04600" y="3108960"/>
            <a:ext cx="315432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3E9E6E"/>
                </a:solidFill>
                <a:latin typeface="Calibri"/>
                <a:ea typeface="Calibri"/>
              </a:rPr>
              <a:t>✓ nunca há palavra desconhecida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3E9E6E"/>
                </a:solidFill>
                <a:latin typeface="Calibri"/>
                <a:ea typeface="Calibri"/>
              </a:rPr>
              <a:t>✓ vocabulário minúsculo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C4506B"/>
                </a:solidFill>
                <a:latin typeface="Calibri"/>
                <a:ea typeface="Calibri"/>
              </a:rPr>
              <a:t>✗ sequências longuíssimas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C4506B"/>
                </a:solidFill>
                <a:latin typeface="Calibri"/>
                <a:ea typeface="Calibri"/>
              </a:rPr>
              <a:t>✗ cada letra sem significado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C4506B"/>
                </a:solidFill>
                <a:latin typeface="Calibri"/>
                <a:ea typeface="Calibri"/>
              </a:rPr>
              <a:t>✗ caro e lento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4380120" y="1554480"/>
            <a:ext cx="3611520" cy="3977280"/>
          </a:xfrm>
          <a:prstGeom prst="roundRect">
            <a:avLst>
              <a:gd name="adj" fmla="val 2278"/>
            </a:avLst>
          </a:prstGeom>
          <a:solidFill>
            <a:srgbClr val="EAF4EE"/>
          </a:solidFill>
          <a:ln w="25400">
            <a:solidFill>
              <a:srgbClr val="3E9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380120" y="1554480"/>
            <a:ext cx="3611520" cy="118440"/>
          </a:xfrm>
          <a:prstGeom prst="roundRect">
            <a:avLst>
              <a:gd name="adj" fmla="val 15385"/>
            </a:avLst>
          </a:prstGeom>
          <a:solidFill>
            <a:srgbClr val="3E9E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4608720" y="173736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Subpalavras (tokens)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608720" y="217620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3E9E6E"/>
                </a:solidFill>
                <a:latin typeface="Calibri"/>
                <a:ea typeface="Calibri"/>
              </a:rPr>
              <a:t>vocabulário: ~30–100 mil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608720" y="2487240"/>
            <a:ext cx="3154320" cy="456840"/>
          </a:xfrm>
          <a:prstGeom prst="roundRect">
            <a:avLst>
              <a:gd name="adj" fmla="val 10000"/>
            </a:avLst>
          </a:prstGeom>
          <a:solidFill>
            <a:srgbClr val="1218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4608720" y="248724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FD1A8"/>
                </a:solidFill>
                <a:latin typeface="Consolas"/>
                <a:ea typeface="Consolas"/>
              </a:rPr>
              <a:t>Intelig·ência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4636080" y="3108960"/>
            <a:ext cx="315432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3E9E6E"/>
                </a:solidFill>
                <a:latin typeface="Calibri"/>
                <a:ea typeface="Calibri"/>
              </a:rPr>
              <a:t>✓ vocabulário controlado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3E9E6E"/>
                </a:solidFill>
                <a:latin typeface="Calibri"/>
                <a:ea typeface="Calibri"/>
              </a:rPr>
              <a:t>✓ cobre qualquer palavra nova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3E9E6E"/>
                </a:solidFill>
                <a:latin typeface="Calibri"/>
                <a:ea typeface="Calibri"/>
              </a:rPr>
              <a:t>✓ sequências curtas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3E9E6E"/>
                </a:solidFill>
                <a:latin typeface="Calibri"/>
                <a:ea typeface="Calibri"/>
              </a:rPr>
              <a:t>✓ capta raízes (corr-)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strike="noStrike" spc="-1">
                <a:solidFill>
                  <a:srgbClr val="9A6B00"/>
                </a:solidFill>
                <a:latin typeface="Calibri"/>
                <a:ea typeface="Calibri"/>
              </a:rPr>
              <a:t>★ o equilíbrio ideal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8211240" y="1554480"/>
            <a:ext cx="3611520" cy="3977280"/>
          </a:xfrm>
          <a:prstGeom prst="roundRect">
            <a:avLst>
              <a:gd name="adj" fmla="val 2278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8211240" y="1554480"/>
            <a:ext cx="3611520" cy="118440"/>
          </a:xfrm>
          <a:prstGeom prst="roundRect">
            <a:avLst>
              <a:gd name="adj" fmla="val 15385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439840" y="173736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Palavras inteiras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439840" y="217620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C4506B"/>
                </a:solidFill>
                <a:latin typeface="Calibri"/>
                <a:ea typeface="Calibri"/>
              </a:rPr>
              <a:t>vocabulário: milhões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8439840" y="2487240"/>
            <a:ext cx="3154320" cy="456840"/>
          </a:xfrm>
          <a:prstGeom prst="roundRect">
            <a:avLst>
              <a:gd name="adj" fmla="val 10000"/>
            </a:avLst>
          </a:prstGeom>
          <a:solidFill>
            <a:srgbClr val="1218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439840" y="248724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FD1A8"/>
                </a:solidFill>
                <a:latin typeface="Consolas"/>
                <a:ea typeface="Consolas"/>
              </a:rPr>
              <a:t>inteligência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8467200" y="3108960"/>
            <a:ext cx="315432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3E9E6E"/>
                </a:solidFill>
                <a:latin typeface="Calibri"/>
                <a:ea typeface="Calibri"/>
              </a:rPr>
              <a:t>✓ cada peça tem significado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C4506B"/>
                </a:solidFill>
                <a:latin typeface="Calibri"/>
                <a:ea typeface="Calibri"/>
              </a:rPr>
              <a:t>✗ vocabulário gigante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C4506B"/>
                </a:solidFill>
                <a:latin typeface="Calibri"/>
                <a:ea typeface="Calibri"/>
              </a:rPr>
              <a:t>✗ trava em palavra nova (&lt;UNK&gt;)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C4506B"/>
                </a:solidFill>
                <a:latin typeface="Calibri"/>
                <a:ea typeface="Calibri"/>
              </a:rPr>
              <a:t>✗ ignora a morfologia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strike="noStrike" spc="-1">
                <a:solidFill>
                  <a:srgbClr val="C4506B"/>
                </a:solidFill>
                <a:latin typeface="Calibri"/>
                <a:ea typeface="Calibri"/>
              </a:rPr>
              <a:t>✗ tabela de embeddings enorme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48640" y="5715000"/>
            <a:ext cx="11063880" cy="658080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868680" y="571500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2B84A"/>
                </a:solidFill>
                <a:latin typeface="Calibri"/>
              </a:rPr>
              <a:t>A analogia do Lego:  </a:t>
            </a:r>
            <a:r>
              <a:rPr lang="en-US" sz="1300" b="0" strike="noStrike" spc="-1">
                <a:solidFill>
                  <a:srgbClr val="CADCFC"/>
                </a:solidFill>
                <a:latin typeface="Calibri"/>
              </a:rPr>
              <a:t>peça = palavra → precisaria de uma para cada coisa do mundo · peça = letra → montar levaria uma eternidade · token = a peça do tamanho certo.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82FEBCB-019C-AD94-B324-5CD89246C952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2357D024-8829-C1E3-0192-E2B55F6B0D71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Vendo os tokens no código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Bibliotecas como tiktoken mostram exatamente como o texto é dividido.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548640" y="1920240"/>
            <a:ext cx="6674760" cy="2925720"/>
          </a:xfrm>
          <a:prstGeom prst="roundRect">
            <a:avLst>
              <a:gd name="adj" fmla="val 1875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749880" y="2057400"/>
            <a:ext cx="627228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tiktoken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enc = tiktoken.get_encoding(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"cl100k_base"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texto = 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"Inteligência artificial"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tokens = enc.encode(texto)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len(tokens)   </a:t>
            </a:r>
            <a:r>
              <a:rPr lang="en-US" sz="1200" b="0" strike="noStrike" spc="-1">
                <a:solidFill>
                  <a:srgbClr val="6E79A0"/>
                </a:solidFill>
                <a:latin typeface="Consolas"/>
                <a:ea typeface="Consolas"/>
              </a:rPr>
              <a:t># quantos tokens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7452360" y="1920240"/>
            <a:ext cx="4160160" cy="2925720"/>
          </a:xfrm>
          <a:prstGeom prst="roundRect">
            <a:avLst>
              <a:gd name="adj" fmla="val 25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7726680" y="2103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retorna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726680" y="2514600"/>
            <a:ext cx="36572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1" strike="noStrike" spc="-1">
                <a:solidFill>
                  <a:srgbClr val="4F7BE8"/>
                </a:solidFill>
                <a:latin typeface="Consolas"/>
                <a:ea typeface="Consolas"/>
              </a:rPr>
              <a:t>encode()</a:t>
            </a: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 → lista de IDs numéricos, um por token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É assim que o modelo "vê" o texto: como números, não letras.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548640" y="51206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Dica prática: antes de mandar um texto grande ao modelo, conte os tokens — evita estourar o limite e controla o custo.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7A14F43-9213-CBFB-4B1D-86561F55DAAD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65E736D-50CD-42CF-D032-CCF832AA471F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7</a:t>
            </a:fld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930007-D3DC-A4EE-5231-58AC1D0E5E98}"/>
              </a:ext>
            </a:extLst>
          </p:cNvPr>
          <p:cNvSpPr txBox="1"/>
          <p:nvPr/>
        </p:nvSpPr>
        <p:spPr>
          <a:xfrm>
            <a:off x="2761042" y="5584282"/>
            <a:ext cx="74323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tiktoken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(tokenizer da OpenAI)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como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exemplo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. 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pc="-1" dirty="0">
              <a:solidFill>
                <a:srgbClr val="FF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O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ponto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: o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texto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vira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IDs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numéricos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Contar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tokens é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uma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habilidade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prática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(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custo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/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limite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)</a:t>
            </a:r>
            <a:r>
              <a:rPr lang="en-US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pc="-1" dirty="0" err="1">
                <a:solidFill>
                  <a:srgbClr val="FF0000"/>
                </a:solidFill>
                <a:latin typeface="Arial"/>
              </a:rPr>
              <a:t>importante</a:t>
            </a:r>
            <a:r>
              <a:rPr lang="en-US" spc="-1" dirty="0">
                <a:solidFill>
                  <a:srgbClr val="FF0000"/>
                </a:solidFill>
                <a:latin typeface="Arial"/>
              </a:rPr>
              <a:t>!</a:t>
            </a:r>
            <a:endParaRPr lang="en-US" sz="1800" b="0" strike="noStrike" spc="-1" dirty="0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296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">
            <a:extLst>
              <a:ext uri="{FF2B5EF4-FFF2-40B4-BE49-F238E27FC236}">
                <a16:creationId xmlns:a16="http://schemas.microsoft.com/office/drawing/2014/main" id="{7638E84C-4BF2-5AEF-B31E-F1360AEC91CA}"/>
              </a:ext>
            </a:extLst>
          </p:cNvPr>
          <p:cNvSpPr/>
          <p:nvPr/>
        </p:nvSpPr>
        <p:spPr>
          <a:xfrm>
            <a:off x="2186279" y="1362419"/>
            <a:ext cx="8733613" cy="4737671"/>
          </a:xfrm>
          <a:prstGeom prst="roundRect">
            <a:avLst>
              <a:gd name="adj" fmla="val 25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Tokens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Experimente</a:t>
            </a:r>
            <a:r>
              <a:rPr lang="pt-BR" sz="1500" spc="-1">
                <a:solidFill>
                  <a:srgbClr val="5A6072"/>
                </a:solidFill>
                <a:latin typeface="Calibri"/>
                <a:ea typeface="Calibri"/>
              </a:rPr>
              <a:t>!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7A14F43-9213-CBFB-4B1D-86561F55DAAD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65E736D-50CD-42CF-D032-CCF832AA471F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8</a:t>
            </a:fld>
            <a:endParaRPr dirty="0"/>
          </a:p>
        </p:txBody>
      </p:sp>
      <p:sp>
        <p:nvSpPr>
          <p:cNvPr id="2" name="Caixa de Texto 1"/>
          <p:cNvSpPr txBox="1"/>
          <p:nvPr/>
        </p:nvSpPr>
        <p:spPr>
          <a:xfrm>
            <a:off x="2186280" y="1446054"/>
            <a:ext cx="8504221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u="sng" dirty="0">
                <a:solidFill>
                  <a:srgbClr val="0000FF"/>
                </a:solidFill>
              </a:rPr>
              <a:t>https://platform.openai.com/tokenizer</a:t>
            </a:r>
            <a:endParaRPr lang="pt-BR" sz="2400" dirty="0"/>
          </a:p>
          <a:p>
            <a:pPr algn="just">
              <a:buFont typeface="Arial" panose="020B0604020202020204" pitchFamily="34" charset="0"/>
            </a:pPr>
            <a:endParaRPr lang="pt-BR" sz="2400" dirty="0">
              <a:solidFill>
                <a:srgbClr val="FF0000"/>
              </a:solidFill>
            </a:endParaRPr>
          </a:p>
          <a:p>
            <a:pPr algn="ctr">
              <a:buFont typeface="Arial" panose="020B0604020202020204" pitchFamily="34" charset="0"/>
            </a:pPr>
            <a:r>
              <a:rPr lang="pt-BR" sz="2800" dirty="0">
                <a:solidFill>
                  <a:srgbClr val="FF0000"/>
                </a:solidFill>
              </a:rPr>
              <a:t>“O cachorro mordeu a perna do desenvolvedor de software para chamar atenção”</a:t>
            </a:r>
            <a:endParaRPr lang="pt-BR" sz="2400" dirty="0">
              <a:solidFill>
                <a:srgbClr val="FF0000"/>
              </a:solidFill>
            </a:endParaRPr>
          </a:p>
        </p:txBody>
      </p:sp>
      <p:graphicFrame>
        <p:nvGraphicFramePr>
          <p:cNvPr id="6" name="Objeto 5"/>
          <p:cNvGraphicFramePr/>
          <p:nvPr>
            <p:extLst>
              <p:ext uri="{D42A27DB-BD31-4B8C-83A1-F6EECF244321}">
                <p14:modId xmlns:p14="http://schemas.microsoft.com/office/powerpoint/2010/main" val="2766748282"/>
              </p:ext>
            </p:extLst>
          </p:nvPr>
        </p:nvGraphicFramePr>
        <p:xfrm>
          <a:off x="2328436" y="3675151"/>
          <a:ext cx="4213860" cy="193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076825" imgH="1933575" progId="Paint.Picture">
                  <p:embed/>
                </p:oleObj>
              </mc:Choice>
              <mc:Fallback>
                <p:oleObj r:id="rId3" imgW="5076825" imgH="1933575" progId="Paint.Picture">
                  <p:embed/>
                  <p:pic>
                    <p:nvPicPr>
                      <p:cNvPr id="3" name="Objeto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8436" y="3675151"/>
                        <a:ext cx="4213860" cy="1934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/>
          <p:nvPr>
            <p:extLst>
              <p:ext uri="{D42A27DB-BD31-4B8C-83A1-F6EECF244321}">
                <p14:modId xmlns:p14="http://schemas.microsoft.com/office/powerpoint/2010/main" val="3815854809"/>
              </p:ext>
            </p:extLst>
          </p:nvPr>
        </p:nvGraphicFramePr>
        <p:xfrm>
          <a:off x="6647072" y="3675151"/>
          <a:ext cx="4131945" cy="191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057775" imgH="1971675" progId="Paint.Picture">
                  <p:embed/>
                </p:oleObj>
              </mc:Choice>
              <mc:Fallback>
                <p:oleObj r:id="rId5" imgW="5057775" imgH="1971675" progId="Paint.Picture">
                  <p:embed/>
                  <p:pic>
                    <p:nvPicPr>
                      <p:cNvPr id="5" name="Objeto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47072" y="3675151"/>
                        <a:ext cx="4131945" cy="1913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ixa de Texto 6"/>
          <p:cNvSpPr txBox="1"/>
          <p:nvPr/>
        </p:nvSpPr>
        <p:spPr>
          <a:xfrm>
            <a:off x="2365896" y="5643015"/>
            <a:ext cx="832460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en-US" dirty="0">
                <a:solidFill>
                  <a:srgbClr val="FF0000"/>
                </a:solidFill>
              </a:rPr>
              <a:t>ChatGPT considera que um token corresponde a aproximadamente 4 caracteres!</a:t>
            </a:r>
          </a:p>
        </p:txBody>
      </p:sp>
    </p:spTree>
    <p:extLst>
      <p:ext uri="{BB962C8B-B14F-4D97-AF65-F5344CB8AC3E}">
        <p14:creationId xmlns:p14="http://schemas.microsoft.com/office/powerpoint/2010/main" val="1032243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CONCEITO 2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Janela de contexto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Tudo o que o modelo consegue "ver" de uma vez — e o que acontece quando estoura.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8A66DB9-9A93-9511-E13C-B0CCFDC6157B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82DF573-E863-9B28-39BE-3BBD752B9110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A janela de contexto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limite de tokens que o modelo processa numa única interação.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548640" y="1965960"/>
            <a:ext cx="11063880" cy="155412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2540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777240" y="2103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97">
                <a:solidFill>
                  <a:srgbClr val="4F7BE8"/>
                </a:solidFill>
                <a:latin typeface="Calibri"/>
                <a:ea typeface="Calibri"/>
              </a:rPr>
              <a:t>JANELA DE CONTEXTO  (ex.: 128 000 tokens)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822960" y="2514600"/>
            <a:ext cx="3657240" cy="7768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822960" y="251460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CADCFC"/>
                </a:solidFill>
                <a:latin typeface="Calibri"/>
                <a:ea typeface="Calibri"/>
              </a:rPr>
              <a:t>instruções + histórico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4617720" y="2514600"/>
            <a:ext cx="3657240" cy="776880"/>
          </a:xfrm>
          <a:prstGeom prst="roundRect">
            <a:avLst>
              <a:gd name="adj" fmla="val 7059"/>
            </a:avLst>
          </a:prstGeom>
          <a:solidFill>
            <a:srgbClr val="3A6F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4617720" y="251460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sua pergunta / documento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8412480" y="2514600"/>
            <a:ext cx="2925720" cy="776880"/>
          </a:xfrm>
          <a:prstGeom prst="roundRect">
            <a:avLst>
              <a:gd name="adj" fmla="val 7059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8412480" y="25146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1E2761"/>
                </a:solidFill>
                <a:latin typeface="Calibri"/>
                <a:ea typeface="Calibri"/>
              </a:rPr>
              <a:t>resposta gerada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548640" y="3703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Tudo — instruções, histórico da conversa, seu texto e a resposta — divide o mesmo orçamento de tokens.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548640" y="4206240"/>
            <a:ext cx="5440320" cy="1462680"/>
          </a:xfrm>
          <a:prstGeom prst="roundRect">
            <a:avLst>
              <a:gd name="adj" fmla="val 5000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822960" y="4370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Se não estourar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822960" y="475488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O modelo considera todo o conteúdo ao responder — quanto mais relevante o contexto, melhor a resposta.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6172200" y="4206240"/>
            <a:ext cx="5440320" cy="14626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6446520" y="4370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2B84A"/>
                </a:solidFill>
                <a:latin typeface="Cambria"/>
                <a:ea typeface="Cambria"/>
              </a:rPr>
              <a:t>Se estourar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6446520" y="475488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O texto é cortado (truncado) — o modelo "esquece" o começo. Por isso RAG traz só o pedaço relevante, não tudo.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6BEF9C48-EB92-D6B5-EE92-F6DC29070F89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25D6EAF-CEBA-8B1F-2A10-711D9DE0CEA9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10</a:t>
            </a:fld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44EE9D-9EF4-A5BA-8466-8FFCC1A0BD83}"/>
              </a:ext>
            </a:extLst>
          </p:cNvPr>
          <p:cNvSpPr txBox="1"/>
          <p:nvPr/>
        </p:nvSpPr>
        <p:spPr>
          <a:xfrm>
            <a:off x="3154531" y="5841680"/>
            <a:ext cx="60970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FF0000"/>
                </a:solidFill>
                <a:latin typeface="Arial"/>
              </a:rPr>
              <a:t>Janela de contexto = orçamento de tokens compartilhado. 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pt-BR" sz="1400" b="0" strike="noStrike" spc="-1" dirty="0">
                <a:solidFill>
                  <a:srgbClr val="FF0000"/>
                </a:solidFill>
                <a:latin typeface="Arial"/>
              </a:rPr>
              <a:t>Se estoura, trunca. 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pt-BR" sz="1400" b="0" strike="noStrike" spc="-1" dirty="0">
                <a:solidFill>
                  <a:srgbClr val="FF0000"/>
                </a:solidFill>
                <a:latin typeface="Arial"/>
              </a:rPr>
              <a:t>Este é um gancho importante para a técnica RAG (que traz somente o texto relevante) </a:t>
            </a:r>
            <a:r>
              <a:rPr lang="pt-BR" sz="1400" spc="-1" dirty="0">
                <a:solidFill>
                  <a:srgbClr val="FF0000"/>
                </a:solidFill>
                <a:latin typeface="Arial"/>
              </a:rPr>
              <a:t>- </a:t>
            </a:r>
            <a:r>
              <a:rPr lang="pt-BR" sz="1400" b="0" strike="noStrike" spc="-1" dirty="0">
                <a:solidFill>
                  <a:srgbClr val="FF0000"/>
                </a:solidFill>
                <a:latin typeface="Arial"/>
              </a:rPr>
              <a:t>veremos adiante!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CONCEITO 3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Geração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Como o modelo escolhe a próxima palavra — e por que a resposta muda a cada vez.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BA8D46B1-E35A-875F-9FA1-4D528C0E720B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C3EAA60-A1FA-A82A-246F-6731342D8F37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Como o modelo gera texto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Prevê a próxima palavra, escolhe uma, acrescenta, e repete — token a token.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548640" y="1920240"/>
            <a:ext cx="3520080" cy="1371240"/>
          </a:xfrm>
          <a:prstGeom prst="roundRect">
            <a:avLst>
              <a:gd name="adj" fmla="val 533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777240" y="20847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1. prevê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77240" y="248724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distribuição de probabilidade das próximas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3931920" y="1920240"/>
            <a:ext cx="2739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4325040" y="1920240"/>
            <a:ext cx="3520080" cy="1371240"/>
          </a:xfrm>
          <a:prstGeom prst="roundRect">
            <a:avLst>
              <a:gd name="adj" fmla="val 533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4553640" y="20847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2. escolhe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4553640" y="248724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uma palavra (conforme a temperatura)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7708320" y="1920240"/>
            <a:ext cx="2739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8101440" y="1920240"/>
            <a:ext cx="3520080" cy="1371240"/>
          </a:xfrm>
          <a:prstGeom prst="roundRect">
            <a:avLst>
              <a:gd name="adj" fmla="val 533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8330040" y="20847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3. acrescenta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8330040" y="248724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ao texto e recomeça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3"/>
          <p:cNvSpPr/>
          <p:nvPr/>
        </p:nvSpPr>
        <p:spPr>
          <a:xfrm>
            <a:off x="548640" y="3566160"/>
            <a:ext cx="5440320" cy="2102760"/>
          </a:xfrm>
          <a:prstGeom prst="roundRect">
            <a:avLst>
              <a:gd name="adj" fmla="val 3478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822960" y="37306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Temperatura baixa (≈0)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822960" y="4114800"/>
            <a:ext cx="493740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Sempre escolhe a mais provável.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300" b="1" strike="noStrike" spc="-1">
                <a:solidFill>
                  <a:srgbClr val="4F7BE8"/>
                </a:solidFill>
                <a:latin typeface="Calibri"/>
                <a:ea typeface="Calibri"/>
              </a:rPr>
              <a:t>→ determinístico, previsível, factual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Bom para: extrair dados, classificar, responder com precisão.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6"/>
          <p:cNvSpPr/>
          <p:nvPr/>
        </p:nvSpPr>
        <p:spPr>
          <a:xfrm>
            <a:off x="6172200" y="3566160"/>
            <a:ext cx="5440320" cy="210276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6446520" y="37306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2B84A"/>
                </a:solidFill>
                <a:latin typeface="Cambria"/>
                <a:ea typeface="Cambria"/>
              </a:rPr>
              <a:t>Temperatura alta (≈1)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6446520" y="4114800"/>
            <a:ext cx="493740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00" b="0" strike="noStrike" spc="-1">
                <a:solidFill>
                  <a:srgbClr val="CADCFC"/>
                </a:solidFill>
                <a:latin typeface="Calibri"/>
                <a:ea typeface="Calibri"/>
              </a:rPr>
              <a:t>Às vezes escolhe alternativas menos prováveis.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300" b="1" strike="noStrike" spc="-1">
                <a:solidFill>
                  <a:srgbClr val="F2B84A"/>
                </a:solidFill>
                <a:latin typeface="Calibri"/>
                <a:ea typeface="Calibri"/>
              </a:rPr>
              <a:t>→ criativo, variado, imprevisível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ADCFC"/>
                </a:solidFill>
                <a:latin typeface="Calibri"/>
                <a:ea typeface="Calibri"/>
              </a:rPr>
              <a:t>Bom para: brainstorm, texto criativo, variações.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009F885-B819-F93E-341A-C47A988F81E4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7CB51A8F-C668-2B09-CCD7-1948260D6E6E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12</a:t>
            </a:fld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459FA2-3866-6965-138E-2ED7B8659671}"/>
              </a:ext>
            </a:extLst>
          </p:cNvPr>
          <p:cNvSpPr txBox="1"/>
          <p:nvPr/>
        </p:nvSpPr>
        <p:spPr>
          <a:xfrm>
            <a:off x="2626599" y="5884740"/>
            <a:ext cx="72661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0" algn="ctr">
              <a:lnSpc>
                <a:spcPct val="100000"/>
              </a:lnSpc>
              <a:buNone/>
            </a:pPr>
            <a:r>
              <a:rPr lang="en-US" sz="1400" b="1" strike="noStrike" spc="-1" dirty="0" err="1">
                <a:solidFill>
                  <a:srgbClr val="FF0000"/>
                </a:solidFill>
                <a:latin typeface="Arial"/>
              </a:rPr>
              <a:t>Geração</a:t>
            </a:r>
            <a:r>
              <a:rPr lang="en-US" sz="1400" b="1" strike="noStrike" spc="-1" dirty="0">
                <a:solidFill>
                  <a:srgbClr val="FF0000"/>
                </a:solidFill>
                <a:latin typeface="Arial"/>
              </a:rPr>
              <a:t> token a token + temperature</a:t>
            </a:r>
            <a:r>
              <a:rPr lang="en-US" sz="1400" b="1" spc="-1" dirty="0">
                <a:solidFill>
                  <a:srgbClr val="FF0000"/>
                </a:solidFill>
                <a:latin typeface="Arial"/>
              </a:rPr>
              <a:t>!</a:t>
            </a:r>
            <a:endParaRPr lang="en-US" sz="1400" b="1" strike="noStrike" spc="-1" dirty="0">
              <a:solidFill>
                <a:srgbClr val="FF0000"/>
              </a:solidFill>
              <a:latin typeface="Arial"/>
            </a:endParaRPr>
          </a:p>
          <a:p>
            <a:pPr marL="216000" indent="0"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É a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resposta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à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provocação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da Aula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inicial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sobre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LLM (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por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que a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resposta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muda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?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Amostragem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com temperature –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Temperatura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Baixa=factual, Alta=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criativa</a:t>
            </a:r>
            <a:endParaRPr lang="en-US" sz="1400" b="0" strike="noStrike" spc="-1" dirty="0">
              <a:solidFill>
                <a:srgbClr val="FF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Gerando texto via API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Os parâmetros que você controla ao chamar um LLM.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548640" y="1920240"/>
            <a:ext cx="6857640" cy="3200040"/>
          </a:xfrm>
          <a:prstGeom prst="roundRect">
            <a:avLst>
              <a:gd name="adj" fmla="val 1714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749880" y="2057400"/>
            <a:ext cx="64551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resposta = client.chat.completions.create(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model=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"gpt-4"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,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messages=[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  {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"role"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: 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"user"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,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   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"content"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: 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"Explique o que é um token"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}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],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temperature=</a:t>
            </a:r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0.7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,   </a:t>
            </a:r>
            <a:r>
              <a:rPr lang="en-US" sz="1200" b="0" strike="noStrike" spc="-1">
                <a:solidFill>
                  <a:srgbClr val="6E79A0"/>
                </a:solidFill>
                <a:latin typeface="Consolas"/>
                <a:ea typeface="Consolas"/>
              </a:rPr>
              <a:t># criatividade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max_tokens=</a:t>
            </a:r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500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   </a:t>
            </a:r>
            <a:r>
              <a:rPr lang="en-US" sz="1200" b="0" strike="noStrike" spc="-1">
                <a:solidFill>
                  <a:srgbClr val="6E79A0"/>
                </a:solidFill>
                <a:latin typeface="Consolas"/>
                <a:ea typeface="Consolas"/>
              </a:rPr>
              <a:t># limite da resposta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7635240" y="1920240"/>
            <a:ext cx="3977280" cy="3200040"/>
          </a:xfrm>
          <a:prstGeom prst="roundRect">
            <a:avLst>
              <a:gd name="adj" fmla="val 2286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7863840" y="210312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Os controles-chave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7863840" y="2514600"/>
            <a:ext cx="3565800" cy="246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1" strike="noStrike" spc="-1">
                <a:solidFill>
                  <a:srgbClr val="4F7BE8"/>
                </a:solidFill>
                <a:latin typeface="Consolas"/>
                <a:ea typeface="Consolas"/>
              </a:rPr>
              <a:t>messages</a:t>
            </a: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 — o contexto/prompt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1" strike="noStrike" spc="-1">
                <a:solidFill>
                  <a:srgbClr val="4F7BE8"/>
                </a:solidFill>
                <a:latin typeface="Consolas"/>
                <a:ea typeface="Consolas"/>
              </a:rPr>
              <a:t>temperature</a:t>
            </a: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 — criatividade (0 a 1)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4F7BE8"/>
                </a:solidFill>
                <a:latin typeface="Consolas"/>
                <a:ea typeface="Consolas"/>
              </a:rPr>
              <a:t>max_tokens</a:t>
            </a: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 — teto da resposta (custo!)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548640" y="53492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Estes três já dão controle real sobre o comportamento do modelo — e são a base para a engenharia de prompt (próximo tema)!</a:t>
            </a:r>
            <a:endParaRPr lang="pt-BR" sz="135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A2C1E3E-9744-E159-B1FF-3C1A7189372D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849AB2D-4045-87F8-52F0-EB1595ED0204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1"/>
          <p:cNvSpPr/>
          <p:nvPr/>
        </p:nvSpPr>
        <p:spPr>
          <a:xfrm>
            <a:off x="640080" y="13716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199">
                <a:solidFill>
                  <a:srgbClr val="F2B84A"/>
                </a:solidFill>
                <a:latin typeface="Calibri"/>
                <a:ea typeface="Calibri"/>
              </a:rPr>
              <a:t>O QUE FICA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594360" y="182880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FFFFFF"/>
                </a:solidFill>
                <a:latin typeface="Cambria"/>
                <a:ea typeface="Cambria"/>
              </a:rPr>
              <a:t>Os três conceitos operacionais</a:t>
            </a:r>
            <a:endParaRPr lang="en-US" sz="3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640080" y="3017520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914400" y="3017520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2B84A"/>
                </a:solidFill>
                <a:latin typeface="Calibri"/>
              </a:rPr>
              <a:t>Token  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o texto vira pedaços → afeta custo e limite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640080" y="3886200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914400" y="3886200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2B84A"/>
                </a:solidFill>
                <a:latin typeface="Calibri"/>
              </a:rPr>
              <a:t>Contexto  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o orçamento de tokens que o modelo vê de uma vez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640080" y="4754880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914400" y="4754880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2B84A"/>
                </a:solidFill>
                <a:latin typeface="Calibri"/>
              </a:rPr>
              <a:t>Geração  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prevê e escolhe a próxima palavra → temperatura controla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A1EA02B-8B6D-93B4-B190-8564399BEB08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D9A93BED-FD68-78F0-4955-3C6AB0F8C5BC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">
            <a:extLst>
              <a:ext uri="{FF2B5EF4-FFF2-40B4-BE49-F238E27FC236}">
                <a16:creationId xmlns:a16="http://schemas.microsoft.com/office/drawing/2014/main" id="{F3E51F38-13FD-4DF3-CF57-E049CCD2807A}"/>
              </a:ext>
            </a:extLst>
          </p:cNvPr>
          <p:cNvSpPr/>
          <p:nvPr/>
        </p:nvSpPr>
        <p:spPr>
          <a:xfrm>
            <a:off x="1320356" y="1995462"/>
            <a:ext cx="9652443" cy="3200040"/>
          </a:xfrm>
          <a:prstGeom prst="roundRect">
            <a:avLst>
              <a:gd name="adj" fmla="val 2286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Detecção de texto gerado por IA</a:t>
            </a:r>
            <a:endParaRPr lang="pt-BR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Curiosidade</a:t>
            </a:r>
            <a:r>
              <a:rPr lang="pt-BR" sz="1500" spc="-1">
                <a:solidFill>
                  <a:srgbClr val="5A6072"/>
                </a:solidFill>
                <a:latin typeface="Calibri"/>
                <a:ea typeface="Calibri"/>
              </a:rPr>
              <a:t>!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7A14F43-9213-CBFB-4B1D-86561F55DAAD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65E736D-50CD-42CF-D032-CCF832AA471F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15</a:t>
            </a:fld>
            <a:endParaRPr dirty="0"/>
          </a:p>
        </p:txBody>
      </p:sp>
      <p:sp>
        <p:nvSpPr>
          <p:cNvPr id="2" name="Caixa de Texto 1"/>
          <p:cNvSpPr txBox="1"/>
          <p:nvPr/>
        </p:nvSpPr>
        <p:spPr>
          <a:xfrm>
            <a:off x="2186280" y="2348184"/>
            <a:ext cx="85042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>
              <a:buClrTx/>
              <a:buSzPct val="60000"/>
              <a:buFontTx/>
            </a:pPr>
            <a:r>
              <a:rPr lang="pt-BR" altLang="pt-BR" b="1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Artigo sobre Detecção de Textos gerados por ChatGPT</a:t>
            </a:r>
            <a:endParaRPr lang="pt-BR" altLang="pt-BR" dirty="0">
              <a:solidFill>
                <a:srgbClr val="0000FF"/>
              </a:solidFill>
              <a:latin typeface="Arial" panose="020B0604020202020204" pitchFamily="34" charset="0"/>
              <a:sym typeface="Arial" panose="020B0604020202020204" pitchFamily="34" charset="0"/>
              <a:hlinkClick r:id="rId3"/>
            </a:endParaRPr>
          </a:p>
          <a:p>
            <a:pPr algn="just" eaLnBrk="0" hangingPunct="0">
              <a:buClrTx/>
              <a:buSzPct val="60000"/>
              <a:buFontTx/>
            </a:pPr>
            <a:r>
              <a:rPr lang="pt-BR" altLang="pt-BR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  <a:hlinkClick r:id="rId3"/>
              </a:rPr>
              <a:t>https://undetectable.ai/blog/</a:t>
            </a:r>
            <a:r>
              <a:rPr lang="pt-BR" altLang="pt-BR" dirty="0" err="1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  <a:hlinkClick r:id="rId3"/>
              </a:rPr>
              <a:t>pt</a:t>
            </a:r>
            <a:r>
              <a:rPr lang="pt-BR" altLang="pt-BR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  <a:hlinkClick r:id="rId3"/>
              </a:rPr>
              <a:t>/como-</a:t>
            </a:r>
            <a:r>
              <a:rPr lang="pt-BR" altLang="pt-BR" dirty="0" err="1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  <a:hlinkClick r:id="rId3"/>
              </a:rPr>
              <a:t>detetar</a:t>
            </a:r>
            <a:r>
              <a:rPr lang="pt-BR" altLang="pt-BR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  <a:hlinkClick r:id="rId3"/>
              </a:rPr>
              <a:t>-o-</a:t>
            </a:r>
            <a:r>
              <a:rPr lang="pt-BR" altLang="pt-BR" dirty="0" err="1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  <a:hlinkClick r:id="rId3"/>
              </a:rPr>
              <a:t>chatgpt</a:t>
            </a:r>
            <a:r>
              <a:rPr lang="pt-BR" altLang="pt-BR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  <a:hlinkClick r:id="rId3"/>
              </a:rPr>
              <a:t>/#:~:text=Como%20%C3%A9%20que%20sei%20se%20algo%20foi%20escrito,originalidade%20...%208%208.%20Erros%20de%20facto%20</a:t>
            </a:r>
          </a:p>
          <a:p>
            <a:pPr algn="just" eaLnBrk="0" hangingPunct="0">
              <a:buClrTx/>
              <a:buSzPct val="60000"/>
              <a:buFontTx/>
            </a:pPr>
            <a:endParaRPr lang="pt-BR" altLang="pt-BR" dirty="0">
              <a:solidFill>
                <a:srgbClr val="0000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 eaLnBrk="0" hangingPunct="0">
              <a:buClrTx/>
              <a:buSzPct val="60000"/>
              <a:buFontTx/>
            </a:pPr>
            <a:endParaRPr lang="pt-BR" altLang="pt-BR" dirty="0">
              <a:solidFill>
                <a:srgbClr val="0000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 eaLnBrk="0" hangingPunct="0">
              <a:buClrTx/>
              <a:buSzPct val="60000"/>
              <a:buFontTx/>
            </a:pPr>
            <a:r>
              <a:rPr lang="pt-BR" altLang="pt-BR" b="1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Ferramentas:</a:t>
            </a:r>
            <a:endParaRPr lang="pt-BR" altLang="pt-BR" dirty="0">
              <a:solidFill>
                <a:srgbClr val="0000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 eaLnBrk="0" hangingPunct="0">
              <a:buClrTx/>
              <a:buSzPct val="60000"/>
              <a:buFontTx/>
            </a:pPr>
            <a:r>
              <a:rPr lang="pt-BR" altLang="pt-BR" dirty="0" err="1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ZeroGPT</a:t>
            </a:r>
            <a:r>
              <a:rPr lang="pt-BR" altLang="pt-BR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Writer, </a:t>
            </a:r>
            <a:r>
              <a:rPr lang="pt-BR" altLang="pt-BR" dirty="0" err="1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Copyleaks</a:t>
            </a:r>
            <a:r>
              <a:rPr lang="pt-BR" altLang="pt-BR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pt-BR" altLang="pt-BR" dirty="0" err="1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Sapling</a:t>
            </a:r>
            <a:endParaRPr lang="pt-BR" altLang="pt-BR" dirty="0">
              <a:solidFill>
                <a:srgbClr val="0000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539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D10DF46-0C87-430E-86C5-DD6C6D62FED0}"/>
</file>

<file path=customXml/itemProps2.xml><?xml version="1.0" encoding="utf-8"?>
<ds:datastoreItem xmlns:ds="http://schemas.openxmlformats.org/officeDocument/2006/customXml" ds:itemID="{9CADCA41-B59B-4504-8DAF-936BC98A3402}"/>
</file>

<file path=customXml/itemProps3.xml><?xml version="1.0" encoding="utf-8"?>
<ds:datastoreItem xmlns:ds="http://schemas.openxmlformats.org/officeDocument/2006/customXml" ds:itemID="{83E0970F-6810-4A1A-A1EF-3B6B8460C5D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1417</Words>
  <Application>Microsoft Office PowerPoint</Application>
  <PresentationFormat>Widescreen</PresentationFormat>
  <Paragraphs>210</Paragraphs>
  <Slides>15</Slides>
  <Notes>15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Symbol</vt:lpstr>
      <vt:lpstr>Times New Roman</vt:lpstr>
      <vt:lpstr>Wingdings</vt:lpstr>
      <vt:lpstr>Office Theme</vt:lpstr>
      <vt:lpstr>Paintbrush Picture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WALMIR GONCALVES DUQUE</cp:lastModifiedBy>
  <cp:revision>18</cp:revision>
  <dcterms:modified xsi:type="dcterms:W3CDTF">2026-09-21T18:26:29Z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2026-09-10T02:42:49Z</dcterms:created>
  <dc:creator>PptxGenJS</dc:creator>
  <dc:description/>
  <dc:language>en-US</dc:language>
  <cp:lastModifiedBy>PptxGenJS</cp:lastModifiedBy>
  <dcterms:modified xsi:type="dcterms:W3CDTF">2026-09-10T02:42:50Z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  <property fmtid="{D5CDD505-2E9C-101B-9397-08002B2CF9AE}" pid="5" name="ContentTypeId">
    <vt:lpwstr>0x01010078A2D2C2733B7342A34F941B973AA6E6</vt:lpwstr>
  </property>
</Properties>
</file>