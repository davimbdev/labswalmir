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8" r:id="rId22"/>
    <p:sldId id="273" r:id="rId23"/>
    <p:sldId id="277" r:id="rId24"/>
    <p:sldId id="274" r:id="rId25"/>
    <p:sldId id="275" r:id="rId26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434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Deck completo de EDA. Cobre o Lab 3 (CarPrice, CRISP-DM, 3 desafios) e amplia para as lacunas: bivariada com o alvo, outliers, faltantes, cardinalidade, feature engineering. Todos os slides com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fio condutor do deck. O Lab 3 original cobre bem a pergunta 1 e toca na 2. Este deck completa as perguntas 2 e 3, que são as lacunas.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Modelar é a parte pequena. Preparar/entender é o grosso. Enfatizar que EDA serve à modelagem que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3. read_csv, shape, head. Situar o alvo (price) e os tipos de coluna já aqui — orienta todo 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3. describe(include='O') para categóricas é um detalhe que muitos esquecem. value_counts revela desbalanceamento de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preenchida. O lab só faz isnull().sum(). Aqui adiciona a DECISÃO. Mediana é mais robusta que média para price (assimétrico).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 (duplicatas) + reforço de tipos. errors='coerce' transforma o que não é número em NaN — que aí vira um faltante a tratar.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preenchida. O lab faz o boxplot mas para aí. O ensino que falta: outlier-erro vs outlier-verdadeiro, e o que fazer em cada caso. IQR pode ser citado para detecção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3. O loop das numéricas revela que car_ID é a única — e é justamente a que se descarta. Boa deixa para falar de 'variável sem poder preditivo'.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 (histograma de price). Adiciona a leitura: assimetria → média≠mediana → possível transformação log. KDE só faz sentido em numérica.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+ Desafio 1 + Desafio 2 (parte). A marca NÃO é coluna pronta — extrai-se do CarName com str.split. Isso resolve o gráfico embolado E prepara a correção maxda→mazda. Dica: usar y= em vez de x= para rótulos longos.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Desafio 2 resolvido. .replace() com dicionário é o comando Pandas adequado. Mostrar unique() primeiro para o aluno DESCOBRIR os erros antes de corrigir.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PRINCIPAL. O lab não ranqueia correlação com o alvo. Isto é o coração do EDA para previsão: descobrir o que importa. enginesize/curbweight/horsepower lideram. Valores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3 (heatmap + correção do erro) + LACUNA (correlação≠causalidade). annot=True mostra os números; cmap coolwarm deixa claro positivo/negativo.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Pearson r: força+direção da relação LINEAR entre duas numéricas, de -1 a +1. Escala: sinal = direção, módulo = força (0.7+ forte). Heatmap = matriz de correlação visual; ler a linha/coluna do alvo (price) para achar as variáveis mais ligadas. Dois cuidados: (1) só relação linear — uma relação curva forte pode dar r baixo; (2) correlação ≠ causalidade. Valores do heatmap são ilustrativos, no estilo do CarPrice; ao rodar de verdade saem exatos.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(bivariada categórica) + Desafio 3 (scatter de correlacionadas). Boxplot de price por categoria é essencial e o lab não faz. hue adiciona uma 3a dimensão.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(bivariada categórica) + Desafio 3 (scatter de correlacionadas). Boxplot de price por categoria é essencial e o lab não faz. hue adiciona uma 3a dimensão.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7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LACUNA importante. EDA gera features. Reaproveita o str.split do brand e mostra uma feature derivada (pot/peso). Amarra EDA à modelagem que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Síntese. O checklist agora inclui as lacunas (decidir sobre outliers, bivariada com alvo, feature engineering). Fechar com perguntas de negócio — EDA serve a uma pergunta. Ponte com a API: 'que perguntas o dado do parceiro responde?'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4360" y="3253157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(ANÁLISE EXPLORATÓRIA DE DADOS)</a:t>
            </a:r>
            <a:endParaRPr lang="en-US" sz="1500"/>
          </a:p>
        </p:txBody>
      </p:sp>
      <p:sp>
        <p:nvSpPr>
          <p:cNvPr id="5" name="Text 2"/>
          <p:cNvSpPr/>
          <p:nvPr/>
        </p:nvSpPr>
        <p:spPr>
          <a:xfrm>
            <a:off x="594360" y="2343447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do primeiro olhar à decisão</a:t>
            </a:r>
            <a:endParaRPr lang="en-US" sz="3500"/>
          </a:p>
        </p:txBody>
      </p:sp>
      <p:sp>
        <p:nvSpPr>
          <p:cNvPr id="6" name="Text 3"/>
          <p:cNvSpPr/>
          <p:nvPr/>
        </p:nvSpPr>
        <p:spPr>
          <a:xfrm>
            <a:off x="640080" y="3760767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Conhecer, preparar e interrogar os dados antes de modelar — com o dataset CarPrice</a:t>
            </a:r>
            <a:endParaRPr lang="en-US" sz="160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C1133C3-A5C1-6168-30F9-C6721DD924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responde três perguntas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checklist mecânico — é uma investigação com direção.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128016"/>
          </a:xfrm>
          <a:prstGeom prst="roundRect">
            <a:avLst>
              <a:gd name="adj" fmla="val 21429"/>
            </a:avLst>
          </a:prstGeom>
          <a:solidFill>
            <a:srgbClr val="4F7BE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são meus dados?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04672" y="320040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univariada: tipos, distribuição, qualidade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804672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e 2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325112" y="201168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2011680"/>
            <a:ext cx="3611880" cy="128016"/>
          </a:xfrm>
          <a:prstGeom prst="roundRect">
            <a:avLst>
              <a:gd name="adj" fmla="val 21429"/>
            </a:avLst>
          </a:prstGeom>
          <a:solidFill>
            <a:srgbClr val="49B3A0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relaciona com quê?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581144" y="320040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bivariada: o que influencia o alvo (price)</a:t>
            </a:r>
            <a:endParaRPr lang="en-US" sz="1450"/>
          </a:p>
        </p:txBody>
      </p:sp>
      <p:sp>
        <p:nvSpPr>
          <p:cNvPr id="13" name="Text 11"/>
          <p:cNvSpPr/>
          <p:nvPr/>
        </p:nvSpPr>
        <p:spPr>
          <a:xfrm>
            <a:off x="4581144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4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8101584" y="201168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2011680"/>
            <a:ext cx="3611880" cy="128016"/>
          </a:xfrm>
          <a:prstGeom prst="roundRect">
            <a:avLst>
              <a:gd name="adj" fmla="val 21429"/>
            </a:avLst>
          </a:prstGeom>
          <a:solidFill>
            <a:srgbClr val="9B7EDE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86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diz para modelar?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8357616" y="320040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e novas variáveis (feature engineering)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8357616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250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DDC01594-C8E6-7F95-6F96-5FEF0D97EFF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EC37BB43-D641-5587-B40A-2AC09FE0CDB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explorar antes de modelar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é o passo 2 do CRISP-DM — e onde vai ~70% do tempo de um projeto.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Conhecer o terreno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cada coluna, como se distribuem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167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problemas cedo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faltantes, erros, outliers, duplicatas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959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Descobrir relações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influencia o alvo (o preço)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9959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a modelagem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6446520" y="44805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e ideias de novas variáveis</a:t>
            </a:r>
            <a:endParaRPr lang="en-US" sz="140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F20D655E-70C5-F3E0-1AF3-A56A339F50D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B32BE633-C10E-70B6-30D2-3E593F0A9068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contato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entender a cara dos dados — Data Understanding.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9F7BA-DE68-36A6-F8C4-A084C6A16F6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B33D2-E0AF-D3FF-91D2-754DF5239CE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Carregar o dataset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ritual de abertura de todo projeto.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675120" cy="329184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6272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20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</a:t>
            </a:r>
            <a:r>
              <a:rPr lang="en-US" sz="120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'CarPrice_Assignment.csv'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(205, 26)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primeiras linhas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7452360" y="187452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CarPrice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726680" y="2487168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carros × 26 colunas
</a:t>
            </a: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Alvo: 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
</a:t>
            </a: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Numéricas: 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horsepower, enginesize, carwidth…
</a:t>
            </a: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Categóricas: 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carbody, fueltype, CarName…</a:t>
            </a:r>
            <a:endParaRPr lang="en-US" sz="135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33F6D2FE-F29C-492A-9A61-50F01B322595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D9590525-1001-636C-8617-D24C2E7DCAA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5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tipos e estatísticas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revela tipos e faltantes; describe resume as numéricas e as categóricas.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3566160"/>
          </a:xfrm>
          <a:prstGeom prst="roundRect">
            <a:avLst>
              <a:gd name="adj" fmla="val 1538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1066190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   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tipos de cada coluna e contagem de não-nulos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   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média, desvio, mín, quartis (colunas numéricas)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df.describe(include=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colunas categóricas: contagem, únicos, top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list(df.carbody.unique())   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quais categorias existem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'carbody'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].value_counts()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quantos de cada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'fuelsystem'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].value_counts()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info() é o primeiro lugar onde você descobre faltantes e tipos errados (um número lido como texto).</a:t>
            </a:r>
            <a:endParaRPr lang="en-US" sz="135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3A65F9A-3179-80C4-6746-40FB5AC2A26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D8DEDE0-8FA2-9F4D-5F23-B1969C65419F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limpeza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Faltantes, duplicatas, outliers — detectar E decidir o que fazer.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F61DB-3955-DDCE-A3E4-B9563B4EDB4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04377-92ED-F1CF-EFD8-91DD99F23DC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faltantes: detectar e decidir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detecta; a decisão do que fazer é sua — e depende do contexto.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50840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coluna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preencher com a mediana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].median()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].fillna(m)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decisões possíveis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linha — se são poucas
</a:t>
            </a:r>
            <a:r>
              <a:rPr lang="en-US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média/mediana (num) ou moda (cat)
</a:t>
            </a:r>
            <a:r>
              <a:rPr lang="en-US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como categoria</a:t>
            </a: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"desconhecido" pode ser informativo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resposta única: quanto falta? é aleatório ou tem padrão? o que a coluna significa?</a:t>
            </a:r>
            <a:endParaRPr lang="en-US" sz="140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2FA6668-B4C1-C7C3-010A-C8CFB07B2943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BBE8DBE-E86C-3DD1-0F9F-02A9F21706E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Duplicatas e tipos errados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repetidas viesam a análise; número lido como texto impede contas.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2468880"/>
          </a:xfrm>
          <a:prstGeom prst="roundRect">
            <a:avLst>
              <a:gd name="adj" fmla="val 2222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106619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df[df.duplicated(keep=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'first'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 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linhas duplicadas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df.drop_duplicates(keep=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'first'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inplace=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remover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corrigir tipo (texto -&gt; número)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pd.to_numeric(df[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errors=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E7144-6F5A-46AB-5948-48CEAE3CE41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61680-B388-E1E6-9AB7-BA6627043B0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detectar e interpretar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boxplot mostra os extremos — mas o que fazer com eles é uma decisão.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1188720" y="3383280"/>
            <a:ext cx="0" cy="1463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566160"/>
            <a:ext cx="822960" cy="82296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977640"/>
            <a:ext cx="822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2286000"/>
            <a:ext cx="109728" cy="109728"/>
          </a:xfrm>
          <a:prstGeom prst="ellipse">
            <a:avLst/>
          </a:prstGeom>
          <a:solidFill>
            <a:srgbClr val="C4506B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2514600"/>
            <a:ext cx="109728" cy="109728"/>
          </a:xfrm>
          <a:prstGeom prst="ellipse">
            <a:avLst/>
          </a:prstGeom>
          <a:solidFill>
            <a:srgbClr val="C4506B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de price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011680"/>
            <a:ext cx="3438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data=df, y=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7315200" y="1874520"/>
            <a:ext cx="429768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pergunta-chave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7589520" y="248716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ou verdade?
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carro a US$45k num conjunto de US$10k…
• É erro de digitação → </a:t>
            </a:r>
            <a:r>
              <a:rPr lang="en-US" sz="13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corrigir/remover
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 uma Ferrari real → </a:t>
            </a:r>
            <a:r>
              <a:rPr lang="en-US" sz="13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(é informação!)
</a:t>
            </a:r>
            <a:r>
              <a:rPr lang="en-US" sz="135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remova outlier sem entender o que ele é.</a:t>
            </a:r>
            <a:endParaRPr lang="en-US" sz="135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1AB1AB4-7C7F-4416-A410-1531DB980CD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AEB085A3-BFDA-3601-AE42-643AE936467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o que não ajuda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coluna numérica é útil — um ID não tem significado para análise.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3333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57400"/>
            <a:ext cx="10661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car_ID é só um identificador — não serve para prever preço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'car_ID'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axis=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inplace=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remover?  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ID é único por linha — não tem padrão a aprender. Se entrar no modelo, só adiciona ruído. Ao varrer as numéricas, o car_ID aparece como a única "numérica" sem sentido analítico.</a:t>
            </a:r>
            <a:endParaRPr lang="en-US" sz="150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999C9093-5652-4F8B-6269-2E65D447DCE1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CE686E5-DA69-E4C7-B6AF-DBED1D3B7062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11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 e relações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Univariada (uma variável) e bivariada (o que se liga ao preço).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D9DA0-CAC7-9D5D-105B-F99676CDDD3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3CB72-DB59-EA27-7893-336BEAC4906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numérica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preço se distribui? O formato conta o que a média esconde.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868680" y="4480560"/>
            <a:ext cx="457200" cy="548640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3657600"/>
            <a:ext cx="457200" cy="1371600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6" name="Shape 4"/>
          <p:cNvSpPr/>
          <p:nvPr/>
        </p:nvSpPr>
        <p:spPr>
          <a:xfrm>
            <a:off x="2002536" y="2651760"/>
            <a:ext cx="457200" cy="2377440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7" name="Shape 5"/>
          <p:cNvSpPr/>
          <p:nvPr/>
        </p:nvSpPr>
        <p:spPr>
          <a:xfrm>
            <a:off x="2569464" y="2377440"/>
            <a:ext cx="457200" cy="2651760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8" name="Shape 6"/>
          <p:cNvSpPr/>
          <p:nvPr/>
        </p:nvSpPr>
        <p:spPr>
          <a:xfrm>
            <a:off x="3136392" y="3017520"/>
            <a:ext cx="457200" cy="2011680"/>
          </a:xfrm>
          <a:prstGeom prst="roundRect">
            <a:avLst>
              <a:gd name="adj" fmla="val 6000"/>
            </a:avLst>
          </a:prstGeom>
          <a:solidFill>
            <a:srgbClr val="9FBCE8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3657600"/>
            <a:ext cx="457200" cy="1371600"/>
          </a:xfrm>
          <a:prstGeom prst="roundRect">
            <a:avLst>
              <a:gd name="adj" fmla="val 6000"/>
            </a:avLst>
          </a:prstGeom>
          <a:solidFill>
            <a:srgbClr val="9FBCE8"/>
          </a:solidFill>
          <a:ln/>
        </p:spPr>
      </p:sp>
      <p:sp>
        <p:nvSpPr>
          <p:cNvPr id="10" name="Shape 8"/>
          <p:cNvSpPr/>
          <p:nvPr/>
        </p:nvSpPr>
        <p:spPr>
          <a:xfrm>
            <a:off x="4270248" y="4114800"/>
            <a:ext cx="457200" cy="914400"/>
          </a:xfrm>
          <a:prstGeom prst="roundRect">
            <a:avLst>
              <a:gd name="adj" fmla="val 6000"/>
            </a:avLst>
          </a:prstGeom>
          <a:solidFill>
            <a:srgbClr val="9FBCE8"/>
          </a:solidFill>
          <a:ln/>
        </p:spPr>
      </p:sp>
      <p:sp>
        <p:nvSpPr>
          <p:cNvPr id="11" name="Shape 9"/>
          <p:cNvSpPr/>
          <p:nvPr/>
        </p:nvSpPr>
        <p:spPr>
          <a:xfrm>
            <a:off x="4837176" y="4389120"/>
            <a:ext cx="457200" cy="640080"/>
          </a:xfrm>
          <a:prstGeom prst="roundRect">
            <a:avLst>
              <a:gd name="adj" fmla="val 6000"/>
            </a:avLst>
          </a:prstGeom>
          <a:solidFill>
            <a:srgbClr val="9FB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04104" y="4617720"/>
            <a:ext cx="457200" cy="411480"/>
          </a:xfrm>
          <a:prstGeom prst="roundRect">
            <a:avLst>
              <a:gd name="adj" fmla="val 6667"/>
            </a:avLst>
          </a:prstGeom>
          <a:solidFill>
            <a:srgbClr val="9FB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71032" y="4754880"/>
            <a:ext cx="457200" cy="274320"/>
          </a:xfrm>
          <a:prstGeom prst="roundRect">
            <a:avLst>
              <a:gd name="adj" fmla="val 10000"/>
            </a:avLst>
          </a:prstGeom>
          <a:solidFill>
            <a:srgbClr val="9FBCE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assimétrica à direita (cauda de carros caros)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7315200" y="192024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589520" y="2487168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 longa à direita → a média é maior que a mediana. Talvez valha transformar (log) o alvo antes de modelar.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7315200" y="3886200"/>
            <a:ext cx="4297680" cy="1463040"/>
          </a:xfrm>
          <a:prstGeom prst="roundRect">
            <a:avLst>
              <a:gd name="adj" fmla="val 375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4023360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sns.histplot(data=df,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kde=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EF8E9E74-50BE-9ACE-0290-AF6EAD69190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3DA8EE81-9856-618F-51F1-C757141B00F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 – Alta </a:t>
            </a:r>
            <a:r>
              <a:rPr lang="en-US" sz="30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Cardinalidade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categoria, conte ocorrências — e cuidado com alta cardinalidade.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50840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baixa cardinalidade: ok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sns.countplot(data=df,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x=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'carbody'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muitos valores? veja quantos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'CarName'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].nunique()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</a:t>
            </a:r>
            <a:r>
              <a:rPr lang="en-US" sz="1600" b="1" err="1">
                <a:solidFill>
                  <a:srgbClr val="F2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cardinalidade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537960" y="2487168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CarName tem dezenas de valores → o gráfico embola. É sinal de que a coluna precisa ser TRABALHADA, não só plotada.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do Desafio 1 — extrair a marca do CarName e contar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4F7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df['brand'] = df['CarName'].str.split(' ').str[0]</a:t>
            </a:r>
            <a:r>
              <a:rPr lang="en-US" sz="1300" i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agora sns.countplot(y='brand') fica legível</a:t>
            </a:r>
            <a:endParaRPr lang="en-US" sz="130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8C034DA-8D70-CD27-9D4A-4B8D5AD2D36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4E27E063-497C-C6B9-A0C3-88A889C7F292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2 — corrigir dados sujos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extrair a marca, aparecem erros de grafia: maxda → mazda.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106619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'brand'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].unique()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maxda, mazda, toyouta, vokswagen, porcshce...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'brand'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'brand'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].replace({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'maxda'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'mazda'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'toyouta'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'toyota'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'vokswagen'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'volkswagen'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'vw'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'volkswagen'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'porcshce'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'porsche'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Lição: dados do mundo real vêm sujos. Padronizar categorias é parte obrigatória da preparação.</a:t>
            </a:r>
            <a:endParaRPr lang="en-US" sz="140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A66C282-F21F-9517-41F4-1E175272EDD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49A0B1B-4784-2F68-65CE-B4607B532EE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15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influencia o preço?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central: correlação de cada variável com o alvo, ranqueada.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5084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df.select_dtypes(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include=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num.corr()[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.sort_values(ascending=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típico (top do ranking)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58368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enginesize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9875520" y="2514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658368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curbweight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9875520" y="28986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6583680" y="3282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horsepower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9875520" y="3282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6583680" y="3666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carwidth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9875520" y="36667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são as variáveis que mais 'explicam' o preço — as candidatas fortes para o modelo.</a:t>
            </a:r>
            <a:endParaRPr lang="en-US" sz="140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C355DC7-FEE2-C788-178C-B99E5264C8A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0C536E5-332D-5C86-4E57-2A290B28A68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16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de calor das correlações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todas as relações de uma vez — mas atenção ao tipo das colunas.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7817"/>
            <a:ext cx="106619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sns.heatmap(df.corr())      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 nas versões novas: há colunas de texto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correção — só as numéricas: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df.corr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numeric_only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20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4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Correlação ≠ causalidade:  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variáveis andarem juntas não significa que uma cause a outra — pode haver um terceiro fator (ex.: enginesize influencia horsepower E price).</a:t>
            </a:r>
            <a:endParaRPr lang="en-US" sz="140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F865D91-814B-861F-5C57-1C772B0B330B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6A335F8-4F8C-2094-079C-2DD447E0BF3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17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coeficiente de correlação de Pearson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475488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força e a direção da relação LINEAR entre duas variáveis numéricas — um número de −1 a +1.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escala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42416" cy="502920"/>
          </a:xfrm>
          <a:prstGeom prst="rect">
            <a:avLst/>
          </a:prstGeom>
          <a:solidFill>
            <a:srgbClr val="C45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517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1591056" y="2103120"/>
            <a:ext cx="1042416" cy="502920"/>
          </a:xfrm>
          <a:prstGeom prst="rect">
            <a:avLst/>
          </a:prstGeom>
          <a:solidFill>
            <a:srgbClr val="D98B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6517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−0,5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33472" y="2103120"/>
            <a:ext cx="1042416" cy="502920"/>
          </a:xfrm>
          <a:prstGeom prst="rect">
            <a:avLst/>
          </a:prstGeom>
          <a:solidFill>
            <a:srgbClr val="E8E8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6517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675888" y="2103120"/>
            <a:ext cx="1042416" cy="502920"/>
          </a:xfrm>
          <a:prstGeom prst="rect">
            <a:avLst/>
          </a:prstGeom>
          <a:solidFill>
            <a:srgbClr val="8FB0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6517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718304" y="2103120"/>
            <a:ext cx="1042416" cy="502920"/>
          </a:xfrm>
          <a:prstGeom prst="rect">
            <a:avLst/>
          </a:prstGeom>
          <a:solidFill>
            <a:srgbClr val="3A6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6517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>
                <a:solidFill>
                  <a:srgbClr val="3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sobem juntas (linear perfeita)
</a:t>
            </a:r>
            <a:r>
              <a:rPr lang="en-US" sz="1350" b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 relação linear
</a:t>
            </a:r>
            <a:r>
              <a:rPr lang="en-US" sz="1350" b="1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quando uma sobe, a outra desce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97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 (em módulo)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0,0–0,3  fraca      0,3–0,7  moderada
0,7–1,0  forte</a:t>
            </a:r>
            <a:r>
              <a:rPr lang="en-US" sz="1300" i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candidatas ao modelo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— a correlação de várias variáveis de uma vez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7040880" y="1993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7790688" y="1993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8540496" y="1993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9290304" y="1993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10040112" y="19933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6291072" y="2286000"/>
            <a:ext cx="694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7059168" y="2286000"/>
            <a:ext cx="749808" cy="749808"/>
          </a:xfrm>
          <a:prstGeom prst="rect">
            <a:avLst/>
          </a:prstGeom>
          <a:solidFill>
            <a:srgbClr val="3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22860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7808976" y="2286000"/>
            <a:ext cx="749808" cy="749808"/>
          </a:xfrm>
          <a:prstGeom prst="rect">
            <a:avLst/>
          </a:prstGeom>
          <a:solidFill>
            <a:srgbClr val="517F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8976" y="22860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8558784" y="2286000"/>
            <a:ext cx="749808" cy="749808"/>
          </a:xfrm>
          <a:prstGeom prst="rect">
            <a:avLst/>
          </a:prstGeom>
          <a:solidFill>
            <a:srgbClr val="5B86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58784" y="22860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9308592" y="2286000"/>
            <a:ext cx="749808" cy="749808"/>
          </a:xfrm>
          <a:prstGeom prst="rect">
            <a:avLst/>
          </a:prstGeom>
          <a:solidFill>
            <a:srgbClr val="648C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22860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10058400" y="2286000"/>
            <a:ext cx="749808" cy="749808"/>
          </a:xfrm>
          <a:prstGeom prst="rect">
            <a:avLst/>
          </a:prstGeom>
          <a:solidFill>
            <a:srgbClr val="CF7F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228600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-0.69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291072" y="3035808"/>
            <a:ext cx="694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7059168" y="3035808"/>
            <a:ext cx="749808" cy="749808"/>
          </a:xfrm>
          <a:prstGeom prst="rect">
            <a:avLst/>
          </a:prstGeom>
          <a:solidFill>
            <a:srgbClr val="517F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30358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7808976" y="3035808"/>
            <a:ext cx="749808" cy="749808"/>
          </a:xfrm>
          <a:prstGeom prst="rect">
            <a:avLst/>
          </a:prstGeom>
          <a:solidFill>
            <a:srgbClr val="3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30358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8558784" y="3035808"/>
            <a:ext cx="749808" cy="749808"/>
          </a:xfrm>
          <a:prstGeom prst="rect">
            <a:avLst/>
          </a:prstGeom>
          <a:solidFill>
            <a:srgbClr val="5682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58784" y="30358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9308592" y="3035808"/>
            <a:ext cx="749808" cy="749808"/>
          </a:xfrm>
          <a:prstGeom prst="rect">
            <a:avLst/>
          </a:prstGeom>
          <a:solidFill>
            <a:srgbClr val="678E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08592" y="30358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10058400" y="3035808"/>
            <a:ext cx="749808" cy="749808"/>
          </a:xfrm>
          <a:prstGeom prst="rect">
            <a:avLst/>
          </a:prstGeom>
          <a:solidFill>
            <a:srgbClr val="D185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0" y="30358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-0.65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6291072" y="3785616"/>
            <a:ext cx="694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7059168" y="3785616"/>
            <a:ext cx="749808" cy="749808"/>
          </a:xfrm>
          <a:prstGeom prst="rect">
            <a:avLst/>
          </a:prstGeom>
          <a:solidFill>
            <a:srgbClr val="5B86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378561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7808976" y="3785616"/>
            <a:ext cx="749808" cy="749808"/>
          </a:xfrm>
          <a:prstGeom prst="rect">
            <a:avLst/>
          </a:prstGeom>
          <a:solidFill>
            <a:srgbClr val="5682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378561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8558784" y="3785616"/>
            <a:ext cx="749808" cy="749808"/>
          </a:xfrm>
          <a:prstGeom prst="rect">
            <a:avLst/>
          </a:prstGeom>
          <a:solidFill>
            <a:srgbClr val="3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58784" y="378561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/>
          </a:p>
        </p:txBody>
      </p:sp>
      <p:sp>
        <p:nvSpPr>
          <p:cNvPr id="54" name="Shape 52"/>
          <p:cNvSpPr/>
          <p:nvPr/>
        </p:nvSpPr>
        <p:spPr>
          <a:xfrm>
            <a:off x="9308592" y="3785616"/>
            <a:ext cx="749808" cy="749808"/>
          </a:xfrm>
          <a:prstGeom prst="rect">
            <a:avLst/>
          </a:prstGeom>
          <a:solidFill>
            <a:srgbClr val="7E9E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378561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050"/>
          </a:p>
        </p:txBody>
      </p:sp>
      <p:sp>
        <p:nvSpPr>
          <p:cNvPr id="56" name="Shape 54"/>
          <p:cNvSpPr/>
          <p:nvPr/>
        </p:nvSpPr>
        <p:spPr>
          <a:xfrm>
            <a:off x="10058400" y="3785616"/>
            <a:ext cx="749808" cy="749808"/>
          </a:xfrm>
          <a:prstGeom prst="rect">
            <a:avLst/>
          </a:prstGeom>
          <a:solidFill>
            <a:srgbClr val="CB6E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378561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-0.80</a:t>
            </a:r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6291072" y="4535424"/>
            <a:ext cx="694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7059168" y="4535424"/>
            <a:ext cx="749808" cy="749808"/>
          </a:xfrm>
          <a:prstGeom prst="rect">
            <a:avLst/>
          </a:prstGeom>
          <a:solidFill>
            <a:srgbClr val="648C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9168" y="453542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050"/>
          </a:p>
        </p:txBody>
      </p:sp>
      <p:sp>
        <p:nvSpPr>
          <p:cNvPr id="61" name="Shape 59"/>
          <p:cNvSpPr/>
          <p:nvPr/>
        </p:nvSpPr>
        <p:spPr>
          <a:xfrm>
            <a:off x="7808976" y="4535424"/>
            <a:ext cx="749808" cy="749808"/>
          </a:xfrm>
          <a:prstGeom prst="rect">
            <a:avLst/>
          </a:prstGeom>
          <a:solidFill>
            <a:srgbClr val="678E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453542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050"/>
          </a:p>
        </p:txBody>
      </p:sp>
      <p:sp>
        <p:nvSpPr>
          <p:cNvPr id="63" name="Shape 61"/>
          <p:cNvSpPr/>
          <p:nvPr/>
        </p:nvSpPr>
        <p:spPr>
          <a:xfrm>
            <a:off x="8558784" y="4535424"/>
            <a:ext cx="749808" cy="749808"/>
          </a:xfrm>
          <a:prstGeom prst="rect">
            <a:avLst/>
          </a:prstGeom>
          <a:solidFill>
            <a:srgbClr val="7E9E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58784" y="453542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050"/>
          </a:p>
        </p:txBody>
      </p:sp>
      <p:sp>
        <p:nvSpPr>
          <p:cNvPr id="65" name="Shape 63"/>
          <p:cNvSpPr/>
          <p:nvPr/>
        </p:nvSpPr>
        <p:spPr>
          <a:xfrm>
            <a:off x="9308592" y="4535424"/>
            <a:ext cx="749808" cy="749808"/>
          </a:xfrm>
          <a:prstGeom prst="rect">
            <a:avLst/>
          </a:prstGeom>
          <a:solidFill>
            <a:srgbClr val="3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08592" y="453542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/>
          </a:p>
        </p:txBody>
      </p:sp>
      <p:sp>
        <p:nvSpPr>
          <p:cNvPr id="67" name="Shape 65"/>
          <p:cNvSpPr/>
          <p:nvPr/>
        </p:nvSpPr>
        <p:spPr>
          <a:xfrm>
            <a:off x="10058400" y="4535424"/>
            <a:ext cx="749808" cy="749808"/>
          </a:xfrm>
          <a:prstGeom prst="rect">
            <a:avLst/>
          </a:prstGeom>
          <a:solidFill>
            <a:srgbClr val="D187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58400" y="453542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-0.64</a:t>
            </a:r>
            <a:endParaRPr lang="en-US" sz="1050"/>
          </a:p>
        </p:txBody>
      </p:sp>
      <p:sp>
        <p:nvSpPr>
          <p:cNvPr id="69" name="Text 67"/>
          <p:cNvSpPr/>
          <p:nvPr/>
        </p:nvSpPr>
        <p:spPr>
          <a:xfrm>
            <a:off x="6291072" y="5285232"/>
            <a:ext cx="6949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</a:t>
            </a:r>
            <a:endParaRPr lang="en-US" sz="950"/>
          </a:p>
        </p:txBody>
      </p:sp>
      <p:sp>
        <p:nvSpPr>
          <p:cNvPr id="70" name="Shape 68"/>
          <p:cNvSpPr/>
          <p:nvPr/>
        </p:nvSpPr>
        <p:spPr>
          <a:xfrm>
            <a:off x="7059168" y="5285232"/>
            <a:ext cx="749808" cy="749808"/>
          </a:xfrm>
          <a:prstGeom prst="rect">
            <a:avLst/>
          </a:prstGeom>
          <a:solidFill>
            <a:srgbClr val="CF7F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59168" y="528523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-0.69</a:t>
            </a:r>
            <a:endParaRPr lang="en-US" sz="1050"/>
          </a:p>
        </p:txBody>
      </p:sp>
      <p:sp>
        <p:nvSpPr>
          <p:cNvPr id="72" name="Shape 70"/>
          <p:cNvSpPr/>
          <p:nvPr/>
        </p:nvSpPr>
        <p:spPr>
          <a:xfrm>
            <a:off x="7808976" y="5285232"/>
            <a:ext cx="749808" cy="749808"/>
          </a:xfrm>
          <a:prstGeom prst="rect">
            <a:avLst/>
          </a:prstGeom>
          <a:solidFill>
            <a:srgbClr val="D185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08976" y="528523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-0.65</a:t>
            </a:r>
            <a:endParaRPr lang="en-US" sz="1050"/>
          </a:p>
        </p:txBody>
      </p:sp>
      <p:sp>
        <p:nvSpPr>
          <p:cNvPr id="74" name="Shape 72"/>
          <p:cNvSpPr/>
          <p:nvPr/>
        </p:nvSpPr>
        <p:spPr>
          <a:xfrm>
            <a:off x="8558784" y="5285232"/>
            <a:ext cx="749808" cy="749808"/>
          </a:xfrm>
          <a:prstGeom prst="rect">
            <a:avLst/>
          </a:prstGeom>
          <a:solidFill>
            <a:srgbClr val="CB6E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58784" y="528523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-0.80</a:t>
            </a:r>
            <a:endParaRPr lang="en-US" sz="1050"/>
          </a:p>
        </p:txBody>
      </p:sp>
      <p:sp>
        <p:nvSpPr>
          <p:cNvPr id="76" name="Shape 74"/>
          <p:cNvSpPr/>
          <p:nvPr/>
        </p:nvSpPr>
        <p:spPr>
          <a:xfrm>
            <a:off x="9308592" y="5285232"/>
            <a:ext cx="749808" cy="749808"/>
          </a:xfrm>
          <a:prstGeom prst="rect">
            <a:avLst/>
          </a:prstGeom>
          <a:solidFill>
            <a:srgbClr val="D187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08592" y="528523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-0.64</a:t>
            </a:r>
            <a:endParaRPr lang="en-US" sz="1050"/>
          </a:p>
        </p:txBody>
      </p:sp>
      <p:sp>
        <p:nvSpPr>
          <p:cNvPr id="78" name="Shape 76"/>
          <p:cNvSpPr/>
          <p:nvPr/>
        </p:nvSpPr>
        <p:spPr>
          <a:xfrm>
            <a:off x="10058400" y="5285232"/>
            <a:ext cx="749808" cy="749808"/>
          </a:xfrm>
          <a:prstGeom prst="rect">
            <a:avLst/>
          </a:prstGeom>
          <a:solidFill>
            <a:srgbClr val="3A6F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58400" y="528523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/>
          </a:p>
        </p:txBody>
      </p:sp>
      <p:sp>
        <p:nvSpPr>
          <p:cNvPr id="80" name="Text 78"/>
          <p:cNvSpPr/>
          <p:nvPr/>
        </p:nvSpPr>
        <p:spPr>
          <a:xfrm>
            <a:off x="6309360" y="61447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coluna 'price': engine (0,87) e hp (0,81) são os mais fortes; mpg é negativo (−0,69).</a:t>
            </a:r>
            <a:endParaRPr lang="en-US" sz="1150"/>
          </a:p>
        </p:txBody>
      </p:sp>
      <p:sp>
        <p:nvSpPr>
          <p:cNvPr id="81" name="Shape 79"/>
          <p:cNvSpPr/>
          <p:nvPr/>
        </p:nvSpPr>
        <p:spPr>
          <a:xfrm>
            <a:off x="548640" y="5943600"/>
            <a:ext cx="5212080" cy="91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548640" y="5870448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3232" y="587044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sns.heatmap(df.corr(numeric_only=</a:t>
            </a:r>
            <a:r>
              <a:rPr lang="en-US" sz="11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annot=</a:t>
            </a:r>
            <a:r>
              <a:rPr lang="en-US" sz="11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/>
          </a:p>
        </p:txBody>
      </p:sp>
      <p:sp>
        <p:nvSpPr>
          <p:cNvPr id="84" name="Shape 82"/>
          <p:cNvSpPr/>
          <p:nvPr/>
        </p:nvSpPr>
        <p:spPr>
          <a:xfrm>
            <a:off x="6172200" y="587044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DF4E0"/>
          </a:solidFill>
          <a:ln/>
        </p:spPr>
      </p:sp>
      <p:sp>
        <p:nvSpPr>
          <p:cNvPr id="85" name="Text 83"/>
          <p:cNvSpPr/>
          <p:nvPr/>
        </p:nvSpPr>
        <p:spPr>
          <a:xfrm>
            <a:off x="6355080" y="587044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A6B00"/>
                </a:solidFill>
              </a:rPr>
              <a:t>⚠ Pearson só capta relação LINEAR</a:t>
            </a:r>
            <a:r>
              <a:rPr lang="en-US" sz="1150">
                <a:solidFill>
                  <a:srgbClr val="5A6072"/>
                </a:solidFill>
              </a:rPr>
              <a:t>  e não implica causalidade.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muda por categoria?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do alvo por grupo — revela se uma categoria vale mais.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2396159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533319"/>
            <a:ext cx="50840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'carbody'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6263640" y="2396159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579039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descobrir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537960" y="2990519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Conversíveis e hardtops tendem a custar mais que hatchbacks. Categoria influencia preço — logo, é útil ao modelo.</a:t>
            </a:r>
            <a:endParaRPr lang="en-US" sz="1350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2FDB8A5-23DE-C633-BF69-EC7471BFC9B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6F93C20-5A3D-ACDF-97A7-26E350AF1FE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19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 – </a:t>
            </a:r>
            <a:r>
              <a:rPr lang="en-US" sz="30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0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tendências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/>
          </a:p>
        </p:txBody>
      </p:sp>
      <p:sp>
        <p:nvSpPr>
          <p:cNvPr id="9" name="Shape 7"/>
          <p:cNvSpPr/>
          <p:nvPr/>
        </p:nvSpPr>
        <p:spPr>
          <a:xfrm>
            <a:off x="548640" y="203101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68172"/>
            <a:ext cx="106619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scatter das duas numéricas mais correlacionadas (Desafio 3)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sns.scatterplot(data=df, x=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'enginesize'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hue=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'fueltype'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2FDB8A5-23DE-C633-BF69-EC7471BFC9B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6F93C20-5A3D-ACDF-97A7-26E350AF1FE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20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DBB795D-6D5B-5CD1-0CA0-E840BA3D37A6}"/>
              </a:ext>
            </a:extLst>
          </p:cNvPr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um gráfico que compare tendências de dois dados numéricos (</a:t>
            </a:r>
            <a:r>
              <a:rPr lang="pt-BR" sz="1500" err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r>
              <a:rPr lang="pt-BR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mais outro dado, como </a:t>
            </a:r>
            <a:r>
              <a:rPr lang="pt-BR" sz="1500" err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cardwidth</a:t>
            </a:r>
            <a:r>
              <a:rPr lang="pt-BR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exemplo) com alta correlação, positiva ou negativa?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4820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EDA para o modelo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descobrimos vira hipóteses e novas variáveis.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8D5BA-3A18-BD43-17AF-515A6EDDB2D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C5361-AA0B-2441-C1BD-D1CA1426C00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21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75488" y="11338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não só diagnostica — ele gera ideias de novas variáveis mais informativas.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5266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marca, extraída do CarName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'brand'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'CarName'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\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.str.split(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).str[</a:t>
            </a:r>
            <a:r>
              <a:rPr lang="en-US" sz="120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potência por peso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'pot_peso'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(df[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'horsepower'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 df[</a:t>
            </a:r>
            <a:r>
              <a:rPr lang="en-US" sz="120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'curbweight'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20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6446520" y="1874520"/>
            <a:ext cx="5166360" cy="2926080"/>
          </a:xfrm>
          <a:prstGeom prst="roundRect">
            <a:avLst>
              <a:gd name="adj" fmla="val 2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2057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central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720840" y="24688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variáveis nascem do entendimento do domínio.
O EDA revelou que marca importa e que peso/potência se ligam ao preço → criamos features que capturam isso.
</a:t>
            </a: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saída do EDA é uma lista de features a criar.</a:t>
            </a:r>
            <a:endParaRPr lang="en-US" sz="135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BCFF875-26E9-93BD-EC01-C2F9D1E5AB8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A647F04-F58F-566B-56D4-57975E27F05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EDA — e as perguntas que ele responde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206240" y="196596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head, info, describe, value_counts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66928" cy="56692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417320" y="2670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Limpar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4206240" y="2670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faltantes, duplicatas, tipos, outliers (decidir!)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566928" cy="56692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Univariada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4206240" y="33741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cada variável; cardinalidade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566928" cy="56692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417320" y="40782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Bivariada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4206240" y="407822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o alvo; preço por categoria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640080" y="4782312"/>
            <a:ext cx="566928" cy="56692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82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417320" y="47823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modelo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4206240" y="478231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+ feature engineering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40080" y="563059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perguntas de negócio para guiar tudo: o que encarece um carro? marca pesa mais que motor? há um segmento de luxo à parte?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DC32F3CB-B0C1-F65D-FBBE-C1E8F41C61B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CDA36AD6-B3D0-A064-F94C-4A06A74234DF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173E54-4193-41E5-95F2-F9480D568128}">
  <ds:schemaRefs>
    <ds:schemaRef ds:uri="bf55bb95-0e2d-49eb-8730-bda5c0a73d75"/>
    <ds:schemaRef ds:uri="f534e9f2-b7ec-4ccc-a69c-51d3e3635b4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22D8CA8-6CD9-4E6C-82E2-758F242545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BB6D8C-D95E-4C2C-A285-CD001A737DC8}">
  <ds:schemaRefs>
    <ds:schemaRef ds:uri="bf55bb95-0e2d-49eb-8730-bda5c0a73d75"/>
    <ds:schemaRef ds:uri="f534e9f2-b7ec-4ccc-a69c-51d3e3635b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23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2026-08-18T00:06:42Z</dcterms:created>
  <dcterms:modified xsi:type="dcterms:W3CDTF">2026-10-11T23:26:39Z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  <property fmtid="{D5CDD505-2E9C-101B-9397-08002B2CF9AE}" pid="3" name="MediaServiceImageTags">
    <vt:lpwstr/>
  </property>
</Properties>
</file>