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63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C3010-F6AB-8C08-AF21-EC51B3925C9A}" v="53" dt="2026-10-12T13:10:02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N TOMASI GUARIENTE" userId="S::renan.guariente@aluno.cps.sp.gov.br::6ef1d22f-ed66-4cd0-8782-66174520f644" providerId="AD" clId="Web-{997C3010-F6AB-8C08-AF21-EC51B3925C9A}"/>
    <pc:docChg chg="modSld">
      <pc:chgData name="RENAN TOMASI GUARIENTE" userId="S::renan.guariente@aluno.cps.sp.gov.br::6ef1d22f-ed66-4cd0-8782-66174520f644" providerId="AD" clId="Web-{997C3010-F6AB-8C08-AF21-EC51B3925C9A}" dt="2026-10-12T13:10:02.406" v="30"/>
      <pc:docMkLst>
        <pc:docMk/>
      </pc:docMkLst>
      <pc:sldChg chg="addSp delSp modSp">
        <pc:chgData name="RENAN TOMASI GUARIENTE" userId="S::renan.guariente@aluno.cps.sp.gov.br::6ef1d22f-ed66-4cd0-8782-66174520f644" providerId="AD" clId="Web-{997C3010-F6AB-8C08-AF21-EC51B3925C9A}" dt="2026-10-12T13:10:02.406" v="30"/>
        <pc:sldMkLst>
          <pc:docMk/>
          <pc:sldMk cId="0" sldId="258"/>
        </pc:sldMkLst>
        <pc:spChg chg="add del mod">
          <ac:chgData name="RENAN TOMASI GUARIENTE" userId="S::renan.guariente@aluno.cps.sp.gov.br::6ef1d22f-ed66-4cd0-8782-66174520f644" providerId="AD" clId="Web-{997C3010-F6AB-8C08-AF21-EC51B3925C9A}" dt="2026-10-12T13:10:02.406" v="30"/>
          <ac:spMkLst>
            <pc:docMk/>
            <pc:sldMk cId="0" sldId="258"/>
            <ac:spMk id="2" creationId="{C9C73F58-3C30-C0D5-3ADE-B1A4CE17A531}"/>
          </ac:spMkLst>
        </pc:spChg>
        <pc:spChg chg="mod">
          <ac:chgData name="RENAN TOMASI GUARIENTE" userId="S::renan.guariente@aluno.cps.sp.gov.br::6ef1d22f-ed66-4cd0-8782-66174520f644" providerId="AD" clId="Web-{997C3010-F6AB-8C08-AF21-EC51B3925C9A}" dt="2026-10-12T13:08:55.684" v="3" actId="20577"/>
          <ac:spMkLst>
            <pc:docMk/>
            <pc:sldMk cId="0" sldId="258"/>
            <ac:spMk id="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4A04406-452B-4C1E-88C0-57F041DB4D6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B4FF6F-52E4-4EDF-9B07-88752936BD9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633D92-1603-480A-A96F-A9909F44673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57288E-370E-4491-8B46-B4ED47B7C00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DDE56F-E9B3-4F62-B9AC-B10D1E23FCD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E55016-0ED3-4E63-B08C-ABEB50B7369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04C032-596F-4052-98FA-2EFB7B2FD1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04C032-596F-4052-98FA-2EFB7B2FD1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8354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04C032-596F-4052-98FA-2EFB7B2FD1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6036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2"/>
          <p:cNvSpPr/>
          <p:nvPr/>
        </p:nvSpPr>
        <p:spPr>
          <a:xfrm>
            <a:off x="753922" y="2592543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 err="1">
                <a:solidFill>
                  <a:srgbClr val="FFFFFF"/>
                </a:solidFill>
                <a:latin typeface="Cambria"/>
                <a:ea typeface="Cambria"/>
              </a:rPr>
              <a:t>GenAI</a:t>
            </a:r>
            <a:r>
              <a:rPr lang="en-US" sz="4400" b="1" strike="noStrike" spc="-1">
                <a:solidFill>
                  <a:srgbClr val="FFFFFF"/>
                </a:solidFill>
                <a:latin typeface="Cambria"/>
                <a:ea typeface="Cambria"/>
              </a:rPr>
              <a:t> (Generative AI)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FFFFFF"/>
                </a:solidFill>
                <a:latin typeface="Cambria"/>
                <a:ea typeface="Cambria"/>
              </a:rPr>
              <a:t>IA </a:t>
            </a:r>
            <a:r>
              <a:rPr lang="en-US" sz="4400" b="1" strike="noStrike" spc="-1" err="1">
                <a:solidFill>
                  <a:srgbClr val="FFFFFF"/>
                </a:solidFill>
                <a:latin typeface="Cambria"/>
                <a:ea typeface="Cambria"/>
              </a:rPr>
              <a:t>Generativa</a:t>
            </a:r>
            <a:endParaRPr lang="en-US" sz="4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99642" y="3689208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O panorama antes do mergulho — o que é, e como usar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F46F6C7-4A02-47EC-D42C-B294B43EE0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é IA Generativa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Modelos que criam conteúdo novo a partir de instruções (prompts).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20240"/>
            <a:ext cx="11063880" cy="123408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68680" y="1920240"/>
            <a:ext cx="104238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</a:rPr>
              <a:t>Treina sistemas para </a:t>
            </a:r>
            <a:r>
              <a:rPr lang="en-US" sz="1600" b="1" strike="noStrike" spc="-1">
                <a:solidFill>
                  <a:srgbClr val="F2B84A"/>
                </a:solidFill>
                <a:latin typeface="Calibri"/>
              </a:rPr>
              <a:t>gerar conteúdo novo</a:t>
            </a:r>
            <a:r>
              <a:rPr lang="en-US" sz="1600" b="0" strike="noStrike" spc="-1">
                <a:solidFill>
                  <a:srgbClr val="CADCFC"/>
                </a:solidFill>
                <a:latin typeface="Calibri"/>
              </a:rPr>
              <a:t> — texto, imagem, vídeo, música, voz — a partir de prompts, identificando padrões em grandes bases de dados.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48640" y="3429000"/>
            <a:ext cx="2706120" cy="2102760"/>
          </a:xfrm>
          <a:prstGeom prst="roundRect">
            <a:avLst>
              <a:gd name="adj" fmla="val 391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548640" y="3429000"/>
            <a:ext cx="2706120" cy="10944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749880" y="37033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Texto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749880" y="4480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resumos, respostas, código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3337560" y="3429000"/>
            <a:ext cx="2706120" cy="2102760"/>
          </a:xfrm>
          <a:prstGeom prst="roundRect">
            <a:avLst>
              <a:gd name="adj" fmla="val 391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3337560" y="3429000"/>
            <a:ext cx="2706120" cy="10944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3538800" y="37033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Imagem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3538800" y="4480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criação e edição visual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6126480" y="3429000"/>
            <a:ext cx="2706120" cy="2102760"/>
          </a:xfrm>
          <a:prstGeom prst="roundRect">
            <a:avLst>
              <a:gd name="adj" fmla="val 391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6126480" y="3429000"/>
            <a:ext cx="2706120" cy="109440"/>
          </a:xfrm>
          <a:prstGeom prst="roundRect">
            <a:avLst>
              <a:gd name="adj" fmla="val 16667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6327720" y="37033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Áudio / vídeo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6327720" y="4480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voz, música, vídeo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6"/>
          <p:cNvSpPr/>
          <p:nvPr/>
        </p:nvSpPr>
        <p:spPr>
          <a:xfrm>
            <a:off x="8915400" y="3429000"/>
            <a:ext cx="2706120" cy="2102760"/>
          </a:xfrm>
          <a:prstGeom prst="roundRect">
            <a:avLst>
              <a:gd name="adj" fmla="val 391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8915400" y="3429000"/>
            <a:ext cx="2706120" cy="109440"/>
          </a:xfrm>
          <a:prstGeom prst="roundRect">
            <a:avLst>
              <a:gd name="adj" fmla="val 16667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9116640" y="3703320"/>
            <a:ext cx="23313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Multimodal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9116640" y="4480560"/>
            <a:ext cx="2331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combina vários formatos</a:t>
            </a:r>
            <a:endParaRPr lang="pt-BR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0"/>
          <p:cNvSpPr/>
          <p:nvPr/>
        </p:nvSpPr>
        <p:spPr>
          <a:xfrm>
            <a:off x="548640" y="57150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O que distingue a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GenAI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do ML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clássico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: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ela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não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só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classifica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ou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prevê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—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ela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 </a:t>
            </a:r>
            <a:r>
              <a:rPr lang="en-US" sz="24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cria</a:t>
            </a:r>
            <a:r>
              <a:rPr lang="en-US" sz="24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!!</a:t>
            </a:r>
            <a:endParaRPr lang="en-US" sz="24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FE09D008-C848-D013-5746-D665D5B2E351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2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5" name="Google Shape;349;p32">
            <a:extLst>
              <a:ext uri="{FF2B5EF4-FFF2-40B4-BE49-F238E27FC236}">
                <a16:creationId xmlns:a16="http://schemas.microsoft.com/office/drawing/2014/main" id="{903945CF-2CD8-9114-8FF4-3EDD687C5691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857" y="297635"/>
            <a:ext cx="1202272" cy="12307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Google Shape;348;p32">
            <a:extLst>
              <a:ext uri="{FF2B5EF4-FFF2-40B4-BE49-F238E27FC236}">
                <a16:creationId xmlns:a16="http://schemas.microsoft.com/office/drawing/2014/main" id="{A986C8FB-307E-1F80-F19A-10CDFB3AC1D9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105" y="273705"/>
            <a:ext cx="1397374" cy="143121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Google Shape;347;p32">
            <a:extLst>
              <a:ext uri="{FF2B5EF4-FFF2-40B4-BE49-F238E27FC236}">
                <a16:creationId xmlns:a16="http://schemas.microsoft.com/office/drawing/2014/main" id="{A61EFA70-14B9-E2BD-C1AC-AD98623E44E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3027" y="270305"/>
            <a:ext cx="1229481" cy="1258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Google Shape;351;p32">
            <a:extLst>
              <a:ext uri="{FF2B5EF4-FFF2-40B4-BE49-F238E27FC236}">
                <a16:creationId xmlns:a16="http://schemas.microsoft.com/office/drawing/2014/main" id="{6B360CDA-E41A-0709-C033-977DCD943FD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9092" y="274875"/>
            <a:ext cx="1229481" cy="125829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CFECC696-CD25-C814-E723-6E310B421BD0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32004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Onde a IA Generativa é aplicada</a:t>
            </a:r>
            <a:endParaRPr lang="pt-BR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475560" y="98748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Exemplos concretos por área — do texto à imagem, do código ao áudio.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2"/>
          <p:cNvSpPr/>
          <p:nvPr/>
        </p:nvSpPr>
        <p:spPr>
          <a:xfrm>
            <a:off x="548640" y="1600200"/>
            <a:ext cx="3611520" cy="2285640"/>
          </a:xfrm>
          <a:prstGeom prst="roundRect">
            <a:avLst>
              <a:gd name="adj" fmla="val 36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3"/>
          <p:cNvSpPr/>
          <p:nvPr/>
        </p:nvSpPr>
        <p:spPr>
          <a:xfrm>
            <a:off x="548640" y="16002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777240" y="1856160"/>
            <a:ext cx="1371240" cy="383760"/>
          </a:xfrm>
          <a:prstGeom prst="roundRect">
            <a:avLst>
              <a:gd name="adj" fmla="val 47619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77240" y="185616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PLN</a:t>
            </a:r>
            <a:endParaRPr lang="pt-BR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6"/>
          <p:cNvSpPr/>
          <p:nvPr/>
        </p:nvSpPr>
        <p:spPr>
          <a:xfrm>
            <a:off x="804600" y="23133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Processamento de Linguagem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22960" y="26517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Tradução automática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Análise de sentimento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Resumo de textos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Extração de informação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4380120" y="1600200"/>
            <a:ext cx="3611520" cy="2285640"/>
          </a:xfrm>
          <a:prstGeom prst="roundRect">
            <a:avLst>
              <a:gd name="adj" fmla="val 36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4380120" y="16002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608720" y="1856160"/>
            <a:ext cx="1371240" cy="383760"/>
          </a:xfrm>
          <a:prstGeom prst="roundRect">
            <a:avLst>
              <a:gd name="adj" fmla="val 47619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4608720" y="185616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LLM</a:t>
            </a:r>
            <a:endParaRPr lang="pt-BR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636080" y="23133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Modelos de Linguagem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4654440" y="26517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Chatbots</a:t>
            </a: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 e assistentes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Perguntas e respostas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Redação e revisão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Geração de código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8211240" y="1600200"/>
            <a:ext cx="3611520" cy="2285640"/>
          </a:xfrm>
          <a:prstGeom prst="roundRect">
            <a:avLst>
              <a:gd name="adj" fmla="val 36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8211240" y="16002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8439840" y="1856160"/>
            <a:ext cx="1371240" cy="383760"/>
          </a:xfrm>
          <a:prstGeom prst="roundRect">
            <a:avLst>
              <a:gd name="adj" fmla="val 47619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439840" y="185616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Imagem</a:t>
            </a:r>
            <a:endParaRPr lang="pt-BR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8467200" y="23133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Geração e edição visual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485560" y="26517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Criar imagem a partir de texto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Edição e retoque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Design e </a:t>
            </a:r>
            <a:r>
              <a:rPr lang="pt-BR" sz="115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mockups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Arte conceitual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548640" y="4105800"/>
            <a:ext cx="3611520" cy="2285640"/>
          </a:xfrm>
          <a:prstGeom prst="roundRect">
            <a:avLst>
              <a:gd name="adj" fmla="val 36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548640" y="41058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D98B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777240" y="4361760"/>
            <a:ext cx="1371240" cy="383760"/>
          </a:xfrm>
          <a:prstGeom prst="roundRect">
            <a:avLst>
              <a:gd name="adj" fmla="val 47619"/>
            </a:avLst>
          </a:prstGeom>
          <a:solidFill>
            <a:srgbClr val="D98B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777240" y="436176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Áudio &amp; Voz</a:t>
            </a:r>
            <a:endParaRPr lang="pt-BR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804600" y="48189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Fala e música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822960" y="51573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Síntese de voz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Transcrição (fala → texto)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Dublagem e clonagem de voz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Composição musical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4380120" y="4105800"/>
            <a:ext cx="3611520" cy="2285640"/>
          </a:xfrm>
          <a:prstGeom prst="roundRect">
            <a:avLst>
              <a:gd name="adj" fmla="val 36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4380120" y="41058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4608720" y="4361760"/>
            <a:ext cx="1371240" cy="383760"/>
          </a:xfrm>
          <a:prstGeom prst="roundRect">
            <a:avLst>
              <a:gd name="adj" fmla="val 47619"/>
            </a:avLst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608720" y="436176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Código</a:t>
            </a:r>
            <a:endParaRPr lang="pt-BR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4636080" y="48189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Programação assistida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4654440" y="51573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Autocompletar código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Explicar e documentar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Encontrar e corrigir bugs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Gerar testes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8211240" y="4105800"/>
            <a:ext cx="3611520" cy="2285640"/>
          </a:xfrm>
          <a:prstGeom prst="roundRect">
            <a:avLst>
              <a:gd name="adj" fmla="val 3600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8211240" y="41058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4"/>
          <p:cNvSpPr/>
          <p:nvPr/>
        </p:nvSpPr>
        <p:spPr>
          <a:xfrm>
            <a:off x="8439840" y="4361760"/>
            <a:ext cx="1371240" cy="383760"/>
          </a:xfrm>
          <a:prstGeom prst="roundRect">
            <a:avLst>
              <a:gd name="adj" fmla="val 47619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8439840" y="4361760"/>
            <a:ext cx="1371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250" b="1" strike="noStrike" spc="-1">
                <a:solidFill>
                  <a:srgbClr val="FFFFFF"/>
                </a:solidFill>
                <a:latin typeface="Calibri"/>
                <a:ea typeface="Calibri"/>
              </a:rPr>
              <a:t>Dados &amp; Negócio</a:t>
            </a:r>
            <a:endParaRPr lang="pt-BR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8467200" y="48189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1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Aplicações corporativas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8485560" y="5157360"/>
            <a:ext cx="31086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Atendimento ao cliente (RAG)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Busca semântica em documentos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Relatórios automáticos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300"/>
              </a:spcAft>
              <a:buClr>
                <a:srgbClr val="5A6072"/>
              </a:buClr>
              <a:buFont typeface="Symbol" charset="2"/>
              <a:buChar char=""/>
            </a:pPr>
            <a:r>
              <a:rPr lang="pt-BR" sz="1150" b="0" strike="noStrike" spc="-1">
                <a:solidFill>
                  <a:srgbClr val="5A6072"/>
                </a:solidFill>
                <a:latin typeface="Calibri"/>
                <a:ea typeface="Calibri"/>
              </a:rPr>
              <a:t>Agentes que executam tarefas</a:t>
            </a:r>
            <a:endParaRPr lang="pt-BR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54CA0740-99E0-1905-E926-AB35CA84AE65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BC1DDAB-9946-1D84-28C5-F545AAE70B2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3</a:t>
            </a:fld>
            <a:endParaRPr lang="pt-BR" sz="900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4" name="Google Shape;371;p34" descr="Resultado de imagem para amazon alexa">
            <a:extLst>
              <a:ext uri="{FF2B5EF4-FFF2-40B4-BE49-F238E27FC236}">
                <a16:creationId xmlns:a16="http://schemas.microsoft.com/office/drawing/2014/main" id="{B949313D-AFF0-E4F3-CE2C-062C30E652DE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698" y="3017223"/>
            <a:ext cx="1361063" cy="74081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Google Shape;409;p38" descr="ChatGPT Vector Logo - Download Free SVG Icon | Worldvectorlogo">
            <a:extLst>
              <a:ext uri="{FF2B5EF4-FFF2-40B4-BE49-F238E27FC236}">
                <a16:creationId xmlns:a16="http://schemas.microsoft.com/office/drawing/2014/main" id="{CD771ECC-3950-5350-EB28-3D69E861A363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044" y="1939270"/>
            <a:ext cx="1257017" cy="36626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" name="Google Shape;407;p38" descr="Gemini (chatbot) – Wikipédia, a enciclopédia livre">
            <a:extLst>
              <a:ext uri="{FF2B5EF4-FFF2-40B4-BE49-F238E27FC236}">
                <a16:creationId xmlns:a16="http://schemas.microsoft.com/office/drawing/2014/main" id="{820B1AC2-65F5-3B98-D353-2C0EE7B35D2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227" y="2414044"/>
            <a:ext cx="905430" cy="3324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5" name="Google Shape;408;p38" descr="Llama 2 Model Details">
            <a:extLst>
              <a:ext uri="{FF2B5EF4-FFF2-40B4-BE49-F238E27FC236}">
                <a16:creationId xmlns:a16="http://schemas.microsoft.com/office/drawing/2014/main" id="{2FE73D17-9CF7-5026-C049-6542015CDF5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6"/>
          <a:srcRect t="23193" b="20070"/>
          <a:stretch/>
        </p:blipFill>
        <p:spPr>
          <a:xfrm>
            <a:off x="6664686" y="2913014"/>
            <a:ext cx="1208513" cy="42968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4889DAA5-E382-F3AE-3C74-3DF205ADC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221" y="3439621"/>
            <a:ext cx="1212463" cy="3090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Modelos fundacionais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 </a:t>
            </a:r>
            <a:r>
              <a:rPr lang="en-US" sz="1500" spc="-1">
                <a:solidFill>
                  <a:srgbClr val="5A6072"/>
                </a:solidFill>
                <a:latin typeface="Calibri"/>
                <a:ea typeface="Calibri"/>
              </a:rPr>
              <a:t>base 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da GenAI: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modelos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gigantes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,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pré-treinados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,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que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você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adapta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ao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spc="-1" err="1">
                <a:solidFill>
                  <a:srgbClr val="5A6072"/>
                </a:solidFill>
                <a:latin typeface="Calibri"/>
                <a:ea typeface="Calibri"/>
              </a:rPr>
              <a:t>seu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caso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822960" y="196596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Pré-treinados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4297680" y="1965960"/>
            <a:ext cx="71319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aprenderam com vastos volumes de dados (a internet, livros, código)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548640" y="292608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92608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Muitos parâmetros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7"/>
          <p:cNvSpPr/>
          <p:nvPr/>
        </p:nvSpPr>
        <p:spPr>
          <a:xfrm>
            <a:off x="4297680" y="2926080"/>
            <a:ext cx="71319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bilhões de parâmetros → capazes de conceitos complexos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548640" y="388620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822960" y="388620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Genéricos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4297680" y="3886200"/>
            <a:ext cx="71319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servem a muitos contextos, não a uma tarefa só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548640" y="484632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822960" y="4846320"/>
            <a:ext cx="32914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Customizáveis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4297680" y="4846320"/>
            <a:ext cx="71319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você os adapta (com seus dados) para tarefas especializadas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548640" y="5802449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Exemplos: GPT, Gemini, </a:t>
            </a:r>
            <a:r>
              <a:rPr lang="pt-BR" sz="1300" b="0" i="1" strike="noStrike" spc="-1" err="1">
                <a:solidFill>
                  <a:srgbClr val="FF0000"/>
                </a:solidFill>
                <a:latin typeface="Calibri"/>
                <a:ea typeface="Calibri"/>
              </a:rPr>
              <a:t>Llama</a:t>
            </a:r>
            <a:r>
              <a:rPr lang="pt-BR" sz="1300" b="0" i="1" strike="noStrike" spc="-1">
                <a:solidFill>
                  <a:srgbClr val="FF0000"/>
                </a:solidFill>
                <a:latin typeface="Calibri"/>
                <a:ea typeface="Calibri"/>
              </a:rPr>
              <a:t>, Claude. Você raramente treina um do zero — você usa e adapta um pronto.</a:t>
            </a:r>
            <a:endParaRPr lang="pt-BR" sz="1300" b="0" strike="noStrike" spc="-1">
              <a:solidFill>
                <a:srgbClr val="FF0000"/>
              </a:solidFill>
              <a:latin typeface="Arial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5920DD6-3EE7-9802-FC6C-99471A766FD0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4</a:t>
            </a:fld>
            <a:endParaRPr sz="900" b="0" i="0" u="none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4" name="Google Shape;362;p33">
            <a:extLst>
              <a:ext uri="{FF2B5EF4-FFF2-40B4-BE49-F238E27FC236}">
                <a16:creationId xmlns:a16="http://schemas.microsoft.com/office/drawing/2014/main" id="{277557D2-DBFD-28CC-1A60-28565034E8C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415" y="149860"/>
            <a:ext cx="2008865" cy="2259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66EABD93-FE84-F1A7-4CA1-BF2F4F9E870C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A DECISÃO CENTRAL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594360" y="2834640"/>
            <a:ext cx="109724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FFFFFF"/>
                </a:solidFill>
                <a:latin typeface="Cambria"/>
                <a:ea typeface="Cambria"/>
              </a:rPr>
              <a:t>Como adaptar um modelo ao seu caso</a:t>
            </a:r>
            <a:endParaRPr lang="en-US" sz="3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Há várias formas — da mais barata e simples à mais cara e complexa.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A pirâmide de abordagens</a:t>
            </a:r>
            <a:endParaRPr lang="pt-BR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Quanto mais alto, mais barato e simples. Quanto mais baixo, mais caro e poderoso.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4617720" y="1965960"/>
            <a:ext cx="2925720" cy="712800"/>
          </a:xfrm>
          <a:prstGeom prst="roundRect">
            <a:avLst>
              <a:gd name="adj" fmla="val 6410"/>
            </a:avLst>
          </a:prstGeom>
          <a:solidFill>
            <a:srgbClr val="3E9E6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4617720" y="2002680"/>
            <a:ext cx="29257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Prompt </a:t>
            </a:r>
            <a:r>
              <a:rPr lang="pt-BR" sz="1500" b="1" strike="noStrike" spc="-1" err="1">
                <a:solidFill>
                  <a:srgbClr val="FFFFFF"/>
                </a:solidFill>
                <a:latin typeface="Cambria"/>
                <a:ea typeface="Cambria"/>
              </a:rPr>
              <a:t>Engineering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4617720" y="23317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só instrução — sem treinar nada</a:t>
            </a:r>
            <a:endParaRPr lang="pt-BR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3783240" y="2734200"/>
            <a:ext cx="4594680" cy="712800"/>
          </a:xfrm>
          <a:prstGeom prst="roundRect">
            <a:avLst>
              <a:gd name="adj" fmla="val 6410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3783240" y="2770560"/>
            <a:ext cx="45946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RAG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3783240" y="3099960"/>
            <a:ext cx="45946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injeta seu dado no contexto</a:t>
            </a:r>
            <a:endParaRPr lang="pt-BR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8"/>
          <p:cNvSpPr/>
          <p:nvPr/>
        </p:nvSpPr>
        <p:spPr>
          <a:xfrm>
            <a:off x="2949120" y="3502080"/>
            <a:ext cx="6263280" cy="712800"/>
          </a:xfrm>
          <a:prstGeom prst="roundRect">
            <a:avLst>
              <a:gd name="adj" fmla="val 6410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2949120" y="3538800"/>
            <a:ext cx="62632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Fine-</a:t>
            </a:r>
            <a:r>
              <a:rPr lang="pt-BR" sz="1500" b="1" strike="noStrike" spc="-1" err="1">
                <a:solidFill>
                  <a:srgbClr val="FFFFFF"/>
                </a:solidFill>
                <a:latin typeface="Cambria"/>
                <a:ea typeface="Cambria"/>
              </a:rPr>
              <a:t>tuning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2949120" y="3867840"/>
            <a:ext cx="6263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reajusta o modelo com seus exemplos</a:t>
            </a:r>
            <a:endParaRPr lang="pt-BR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2114640" y="4270320"/>
            <a:ext cx="7932240" cy="712800"/>
          </a:xfrm>
          <a:prstGeom prst="roundRect">
            <a:avLst>
              <a:gd name="adj" fmla="val 6410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2114640" y="4306680"/>
            <a:ext cx="7932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Treinar modelo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2114640" y="4636080"/>
            <a:ext cx="79322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treina um modelo generativo próprio</a:t>
            </a:r>
            <a:endParaRPr lang="pt-BR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4"/>
          <p:cNvSpPr/>
          <p:nvPr/>
        </p:nvSpPr>
        <p:spPr>
          <a:xfrm>
            <a:off x="1280160" y="5038200"/>
            <a:ext cx="9600840" cy="712800"/>
          </a:xfrm>
          <a:prstGeom prst="roundRect">
            <a:avLst>
              <a:gd name="adj" fmla="val 6410"/>
            </a:avLst>
          </a:prstGeom>
          <a:solidFill>
            <a:srgbClr val="C4506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1280160" y="507492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1" strike="noStrike" spc="-1">
                <a:solidFill>
                  <a:srgbClr val="FFFFFF"/>
                </a:solidFill>
                <a:latin typeface="Cambria"/>
                <a:ea typeface="Cambria"/>
              </a:rPr>
              <a:t>Construir modelo fundacional</a:t>
            </a:r>
            <a:endParaRPr lang="pt-BR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1280160" y="5403960"/>
            <a:ext cx="9600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050" b="0" strike="noStrike" spc="-1">
                <a:solidFill>
                  <a:srgbClr val="FFFFFF"/>
                </a:solidFill>
                <a:latin typeface="Calibri"/>
                <a:ea typeface="Calibri"/>
              </a:rPr>
              <a:t>do zero, com infra massiva</a:t>
            </a:r>
            <a:endParaRPr lang="pt-BR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9360887" y="2094480"/>
            <a:ext cx="2160193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strike="noStrike" spc="-1">
                <a:solidFill>
                  <a:srgbClr val="3E9E6E"/>
                </a:solidFill>
                <a:latin typeface="Calibri"/>
                <a:ea typeface="Calibri"/>
              </a:rPr>
              <a:t>↑ barato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670920" y="2130840"/>
            <a:ext cx="1887714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3600" b="1" strike="noStrike" spc="-1">
                <a:solidFill>
                  <a:srgbClr val="C4506B"/>
                </a:solidFill>
                <a:latin typeface="Calibri"/>
                <a:ea typeface="Calibri"/>
              </a:rPr>
              <a:t>↓ caro</a:t>
            </a:r>
            <a:endParaRPr lang="pt-BR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5B73530D-14DF-7D42-42DB-1B163E6C3435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6</a:t>
            </a:fld>
            <a:endParaRPr lang="pt-BR" sz="9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06BDE2C-A0C0-522D-FEFB-1FFEE321A829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A pirâmide de abordagens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Quanto mais alto, mais barato e simples. Quanto mais baixo, mais caro e poderoso.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Google Shape;417;p39">
            <a:extLst>
              <a:ext uri="{FF2B5EF4-FFF2-40B4-BE49-F238E27FC236}">
                <a16:creationId xmlns:a16="http://schemas.microsoft.com/office/drawing/2014/main" id="{0D908D64-908B-138E-DA0E-B13200761CF4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085" y="1707458"/>
            <a:ext cx="6191250" cy="435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81B3C633-8579-CF3E-A66A-FA085CDF12CF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1BC0E14-197D-2147-F70C-7C97217CC41B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7</a:t>
            </a:fld>
            <a:endParaRPr lang="pt-BR" sz="900" b="0" i="0" u="none">
              <a:solidFill>
                <a:srgbClr val="94A3B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976497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Um print de </a:t>
            </a:r>
            <a:r>
              <a:rPr lang="en-US" sz="3000" b="1" strike="noStrike" spc="-1" err="1">
                <a:solidFill>
                  <a:srgbClr val="1E2761"/>
                </a:solidFill>
                <a:latin typeface="Cambria"/>
                <a:ea typeface="Cambria"/>
              </a:rPr>
              <a:t>uma</a:t>
            </a: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 palestra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Como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treinar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seu</a:t>
            </a: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 ChatGPT e Custos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Imagem 2" descr="Uma imagem contendo Texto&#10;&#10;Descrição gerada automaticamente">
            <a:extLst>
              <a:ext uri="{FF2B5EF4-FFF2-40B4-BE49-F238E27FC236}">
                <a16:creationId xmlns:a16="http://schemas.microsoft.com/office/drawing/2014/main" id="{8D59E32F-FC54-E633-692F-A27FF4BE37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54"/>
          <a:stretch>
            <a:fillRect/>
          </a:stretch>
        </p:blipFill>
        <p:spPr>
          <a:xfrm>
            <a:off x="2220912" y="1865160"/>
            <a:ext cx="7750175" cy="4275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486C2DA2-0E42-7B60-771B-73E67C5ABCAA}"/>
              </a:ext>
            </a:extLst>
          </p:cNvPr>
          <p:cNvSpPr txBox="1"/>
          <p:nvPr/>
        </p:nvSpPr>
        <p:spPr>
          <a:xfrm>
            <a:off x="706743" y="6464880"/>
            <a:ext cx="13516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/>
              <a:t>Inteligência Artificial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7B01861A-5543-C172-695A-F1EFC428E610}"/>
              </a:ext>
            </a:extLst>
          </p:cNvPr>
          <p:cNvSpPr txBox="1"/>
          <p:nvPr/>
        </p:nvSpPr>
        <p:spPr>
          <a:xfrm>
            <a:off x="11076897" y="6565266"/>
            <a:ext cx="463593" cy="142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900" b="0" i="0" u="none">
                <a:solidFill>
                  <a:srgbClr val="94A3B8"/>
                </a:solidFill>
                <a:latin typeface="Inter"/>
              </a:rPr>
              <a:t>Slide </a:t>
            </a:r>
            <a:fld id="{7290D235-C2D4-4290-85EC-134EBAF84FCB}" type="slidenum">
              <a:rPr lang="pt-BR" sz="900">
                <a:solidFill>
                  <a:srgbClr val="94A3B8"/>
                </a:solidFill>
                <a:latin typeface="Inter"/>
              </a:rPr>
              <a:pPr algn="ctr"/>
              <a:t>8</a:t>
            </a:fld>
            <a:endParaRPr lang="pt-BR" sz="900" b="0" i="0" u="none">
              <a:solidFill>
                <a:srgbClr val="94A3B8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72773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C3C64D-31F1-4E5E-94D9-3ECBD8A07D9B}">
  <ds:schemaRefs>
    <ds:schemaRef ds:uri="bf55bb95-0e2d-49eb-8730-bda5c0a73d75"/>
    <ds:schemaRef ds:uri="f534e9f2-b7ec-4ccc-a69c-51d3e3635b4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C73C55B-C648-4512-9738-D2C6906AFF36}">
  <ds:schemaRefs>
    <ds:schemaRef ds:uri="bf55bb95-0e2d-49eb-8730-bda5c0a73d75"/>
    <ds:schemaRef ds:uri="f534e9f2-b7ec-4ccc-a69c-51d3e3635b4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50E5DD3-0C1C-4902-BF07-114C7C93B1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2026-10-12T13:10:33Z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2026-09-11T22:21:15Z</dcterms:created>
  <dc:creator>PptxGenJS</dc:creator>
  <dc:description/>
  <dc:language>en-US</dc:language>
  <cp:lastModifiedBy>PptxGenJS</cp:lastModifiedBy>
  <dcterms:modified xsi:type="dcterms:W3CDTF">2026-09-11T22:21:15Z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On-screen Show (16:9)</vt:lpwstr>
  </property>
  <property fmtid="{D5CDD505-2E9C-101B-9397-08002B2CF9AE}" pid="4" name="Slides">
    <vt:r8>6</vt:r8>
  </property>
  <property fmtid="{D5CDD505-2E9C-101B-9397-08002B2CF9AE}" pid="5" name="ContentTypeId">
    <vt:lpwstr>0x01010078A2D2C2733B7342A34F941B973AA6E6</vt:lpwstr>
  </property>
  <property fmtid="{D5CDD505-2E9C-101B-9397-08002B2CF9AE}" pid="6" name="MediaServiceImageTags">
    <vt:lpwstr/>
  </property>
</Properties>
</file>