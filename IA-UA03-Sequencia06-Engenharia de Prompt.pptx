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ore0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599" r:id="rId11"/>
  </p:sldIdLst>
  <p:sldSz cx="12192000" cy="6858000"/>
  <p:notesSz cx="6858000" cy="12192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362" autoAdjust="0"/>
  </p:normalViewPr>
  <p:slideViewPr>
    <p:cSldViewPr snapToGrid="0">
      <p:cViewPr varScale="1">
        <p:scale>
          <a:sx n="98" d="100"/>
          <a:sy n="98" d="100"/>
        </p:scale>
        <p:origin x="5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7B90481-6535-4F2C-861F-274911CB0CA7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‹nº›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979DC1-13A4-49F0-8A5A-5C832D94607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93072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8B6288-BAA0-4DDF-932A-FB1C9CB2FA0D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E370B8-0EFD-4D4E-B2D7-8C5FC902BD6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0765E0-B4F7-4FC2-A76A-033A71658BA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BAC18B-F4CB-4A35-BD0E-11F15BDF065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55A194-0165-487D-976E-B6E310E01AC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CDFE63-D814-4A03-814D-300C717A743D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8B6FA7-B14D-4150-96B9-CF0C805950F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3AB353-9017-428B-A6AE-DA87B1E03A7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Google Shape;399;p38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marL="139700" lvl="0" indent="0">
              <a:spcBef>
                <a:spcPts val="365"/>
              </a:spcBef>
              <a:buNone/>
            </a:pPr>
            <a:endParaRPr lang="pt-BR" altLang="pt-BR" dirty="0"/>
          </a:p>
        </p:txBody>
      </p:sp>
      <p:sp>
        <p:nvSpPr>
          <p:cNvPr id="60419" name="Google Shape;400;p3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  <p:extLst>
      <p:ext uri="{BB962C8B-B14F-4D97-AF65-F5344CB8AC3E}">
        <p14:creationId xmlns:p14="http://schemas.microsoft.com/office/powerpoint/2010/main" val="118161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6F1FAF6-591E-C130-2FEC-DE9AD9FAAF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02" t="20731" r="18964" b="13989"/>
          <a:stretch/>
        </p:blipFill>
        <p:spPr>
          <a:xfrm>
            <a:off x="735492" y="697733"/>
            <a:ext cx="2923215" cy="1677933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128DA5BB-A2C0-D9E6-0D8A-C3C6B3F7729B}"/>
              </a:ext>
            </a:extLst>
          </p:cNvPr>
          <p:cNvSpPr/>
          <p:nvPr/>
        </p:nvSpPr>
        <p:spPr>
          <a:xfrm>
            <a:off x="655729" y="2267285"/>
            <a:ext cx="73148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strike="noStrike" spc="-1" dirty="0" err="1">
                <a:solidFill>
                  <a:srgbClr val="FFFFFF"/>
                </a:solidFill>
                <a:latin typeface="Cambria"/>
                <a:ea typeface="Cambria"/>
              </a:rPr>
              <a:t>Engenharia</a:t>
            </a:r>
            <a:r>
              <a:rPr lang="en-US" sz="4200" b="1" strike="noStrike" spc="-1" dirty="0">
                <a:solidFill>
                  <a:srgbClr val="FFFFFF"/>
                </a:solidFill>
                <a:latin typeface="Cambria"/>
                <a:ea typeface="Cambria"/>
              </a:rPr>
              <a:t> de Prompt</a:t>
            </a:r>
            <a:endParaRPr lang="en-US" sz="4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58110D4E-192E-7C64-3239-D211D34C5D7B}"/>
              </a:ext>
            </a:extLst>
          </p:cNvPr>
          <p:cNvSpPr/>
          <p:nvPr/>
        </p:nvSpPr>
        <p:spPr>
          <a:xfrm>
            <a:off x="701449" y="3456005"/>
            <a:ext cx="69490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i="1" strike="noStrike" spc="-1">
                <a:solidFill>
                  <a:srgbClr val="CADCFC"/>
                </a:solidFill>
                <a:latin typeface="Calibri"/>
                <a:ea typeface="Calibri"/>
              </a:rPr>
              <a:t>Como dar o melhor contexto ao modelo para obter a resposta que você precisa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4591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Por que o prompt importa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O modelo é o mesmo — o que muda o resultado é como você pergunta.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548640" y="178308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O LLM não adivinha sua intenção: ele completa o texto que você deu. Contexto ruim → resposta ruim.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3"/>
          <p:cNvSpPr/>
          <p:nvPr/>
        </p:nvSpPr>
        <p:spPr>
          <a:xfrm>
            <a:off x="548640" y="2468880"/>
            <a:ext cx="5440320" cy="1416960"/>
          </a:xfrm>
          <a:prstGeom prst="roundRect">
            <a:avLst>
              <a:gd name="adj" fmla="val 5161"/>
            </a:avLst>
          </a:prstGeom>
          <a:solidFill>
            <a:srgbClr val="F7E9EC"/>
          </a:solidFill>
          <a:ln w="12700">
            <a:solidFill>
              <a:srgbClr val="C450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777240" y="259704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C4506B"/>
                </a:solidFill>
                <a:latin typeface="Calibri"/>
                <a:ea typeface="Calibri"/>
              </a:rPr>
              <a:t>✗ vago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777240" y="2926080"/>
            <a:ext cx="50288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A6072"/>
                </a:solidFill>
                <a:latin typeface="Consolas"/>
                <a:ea typeface="Consolas"/>
              </a:rPr>
              <a:t>"fale sobre carros"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6"/>
          <p:cNvSpPr/>
          <p:nvPr/>
        </p:nvSpPr>
        <p:spPr>
          <a:xfrm>
            <a:off x="6172200" y="2468880"/>
            <a:ext cx="5440320" cy="1416960"/>
          </a:xfrm>
          <a:prstGeom prst="roundRect">
            <a:avLst>
              <a:gd name="adj" fmla="val 5161"/>
            </a:avLst>
          </a:prstGeom>
          <a:solidFill>
            <a:srgbClr val="E7F3EC"/>
          </a:solidFill>
          <a:ln w="12700">
            <a:solidFill>
              <a:srgbClr val="3E9E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6400800" y="259704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3E9E6E"/>
                </a:solidFill>
                <a:latin typeface="Calibri"/>
                <a:ea typeface="Calibri"/>
              </a:rPr>
              <a:t>✓ específico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8"/>
          <p:cNvSpPr/>
          <p:nvPr/>
        </p:nvSpPr>
        <p:spPr>
          <a:xfrm>
            <a:off x="6400800" y="2926080"/>
            <a:ext cx="50288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A6072"/>
                </a:solidFill>
                <a:latin typeface="Consolas"/>
                <a:ea typeface="Consolas"/>
              </a:rPr>
              <a:t>"liste 3 fatores que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A6072"/>
                </a:solidFill>
                <a:latin typeface="Consolas"/>
                <a:ea typeface="Consolas"/>
              </a:rPr>
              <a:t> mais influenciam o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A6072"/>
                </a:solidFill>
                <a:latin typeface="Consolas"/>
                <a:ea typeface="Consolas"/>
              </a:rPr>
              <a:t> preço de um carro usado"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9"/>
          <p:cNvSpPr/>
          <p:nvPr/>
        </p:nvSpPr>
        <p:spPr>
          <a:xfrm>
            <a:off x="548640" y="4160520"/>
            <a:ext cx="11063880" cy="150840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822960" y="4343400"/>
            <a:ext cx="10515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Cambria"/>
                <a:ea typeface="Cambria"/>
              </a:rPr>
              <a:t>A engenharia de prompt é uma habilidade central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822960" y="480060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CADCFC"/>
                </a:solidFill>
                <a:latin typeface="Calibri"/>
              </a:rPr>
              <a:t>Não é "truque" — é comunicar com clareza o que você quer, dando ao modelo contexto, formato e critérios. </a:t>
            </a:r>
            <a:r>
              <a:rPr lang="en-US" sz="1450" b="1" strike="noStrike" spc="-1">
                <a:solidFill>
                  <a:srgbClr val="F2B84A"/>
                </a:solidFill>
                <a:latin typeface="Calibri"/>
              </a:rPr>
              <a:t>O mesmo modelo entrega resultados muito diferentes conforme o prompt.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822D3D16-6C0A-3BD9-A842-864DA1D47598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FB0582C2-96B4-0048-8539-C3152FF28380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Anatomia de um bom prompt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Quatro ingredientes que transformam um pedido vago em instrução clara.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2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7609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3"/>
          <p:cNvSpPr/>
          <p:nvPr/>
        </p:nvSpPr>
        <p:spPr>
          <a:xfrm>
            <a:off x="548640" y="1965960"/>
            <a:ext cx="109440" cy="840960"/>
          </a:xfrm>
          <a:prstGeom prst="roundRect">
            <a:avLst>
              <a:gd name="adj" fmla="val 16667"/>
            </a:avLst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822960" y="1965960"/>
            <a:ext cx="182844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E2761"/>
                </a:solidFill>
                <a:latin typeface="Cambria"/>
                <a:ea typeface="Cambria"/>
              </a:rPr>
              <a:t>Papel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2743200" y="1965960"/>
            <a:ext cx="329148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quem o modelo deve "ser"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6"/>
          <p:cNvSpPr/>
          <p:nvPr/>
        </p:nvSpPr>
        <p:spPr>
          <a:xfrm>
            <a:off x="6217920" y="1965960"/>
            <a:ext cx="521172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6E79A0"/>
                </a:solidFill>
                <a:latin typeface="Consolas"/>
                <a:ea typeface="Consolas"/>
              </a:rPr>
              <a:t>"Você é um analista de dados..."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7"/>
          <p:cNvSpPr/>
          <p:nvPr/>
        </p:nvSpPr>
        <p:spPr>
          <a:xfrm>
            <a:off x="548640" y="2926080"/>
            <a:ext cx="11063880" cy="840960"/>
          </a:xfrm>
          <a:prstGeom prst="roundRect">
            <a:avLst>
              <a:gd name="adj" fmla="val 7609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8"/>
          <p:cNvSpPr/>
          <p:nvPr/>
        </p:nvSpPr>
        <p:spPr>
          <a:xfrm>
            <a:off x="548640" y="2926080"/>
            <a:ext cx="109440" cy="840960"/>
          </a:xfrm>
          <a:prstGeom prst="roundRect">
            <a:avLst>
              <a:gd name="adj" fmla="val 16667"/>
            </a:avLst>
          </a:prstGeom>
          <a:solidFill>
            <a:srgbClr val="49B3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9"/>
          <p:cNvSpPr/>
          <p:nvPr/>
        </p:nvSpPr>
        <p:spPr>
          <a:xfrm>
            <a:off x="822960" y="2926080"/>
            <a:ext cx="182844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E2761"/>
                </a:solidFill>
                <a:latin typeface="Cambria"/>
                <a:ea typeface="Cambria"/>
              </a:rPr>
              <a:t>Tarefa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0"/>
          <p:cNvSpPr/>
          <p:nvPr/>
        </p:nvSpPr>
        <p:spPr>
          <a:xfrm>
            <a:off x="2743200" y="2926080"/>
            <a:ext cx="329148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o que fazer, com precisão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1"/>
          <p:cNvSpPr/>
          <p:nvPr/>
        </p:nvSpPr>
        <p:spPr>
          <a:xfrm>
            <a:off x="6217920" y="2926080"/>
            <a:ext cx="521172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6E79A0"/>
                </a:solidFill>
                <a:latin typeface="Consolas"/>
                <a:ea typeface="Consolas"/>
              </a:rPr>
              <a:t>"...resuma este relatório..."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12"/>
          <p:cNvSpPr/>
          <p:nvPr/>
        </p:nvSpPr>
        <p:spPr>
          <a:xfrm>
            <a:off x="548640" y="3886200"/>
            <a:ext cx="11063880" cy="840960"/>
          </a:xfrm>
          <a:prstGeom prst="roundRect">
            <a:avLst>
              <a:gd name="adj" fmla="val 7609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13"/>
          <p:cNvSpPr/>
          <p:nvPr/>
        </p:nvSpPr>
        <p:spPr>
          <a:xfrm>
            <a:off x="548640" y="3886200"/>
            <a:ext cx="109440" cy="840960"/>
          </a:xfrm>
          <a:prstGeom prst="roundRect">
            <a:avLst>
              <a:gd name="adj" fmla="val 16667"/>
            </a:avLst>
          </a:prstGeom>
          <a:solidFill>
            <a:srgbClr val="9B7ED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14"/>
          <p:cNvSpPr/>
          <p:nvPr/>
        </p:nvSpPr>
        <p:spPr>
          <a:xfrm>
            <a:off x="822960" y="3886200"/>
            <a:ext cx="182844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E2761"/>
                </a:solidFill>
                <a:latin typeface="Cambria"/>
                <a:ea typeface="Cambria"/>
              </a:rPr>
              <a:t>Contexto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5"/>
          <p:cNvSpPr/>
          <p:nvPr/>
        </p:nvSpPr>
        <p:spPr>
          <a:xfrm>
            <a:off x="2743200" y="3886200"/>
            <a:ext cx="329148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a informação necessária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6"/>
          <p:cNvSpPr/>
          <p:nvPr/>
        </p:nvSpPr>
        <p:spPr>
          <a:xfrm>
            <a:off x="6217920" y="3886200"/>
            <a:ext cx="521172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6E79A0"/>
                </a:solidFill>
                <a:latin typeface="Consolas"/>
                <a:ea typeface="Consolas"/>
              </a:rPr>
              <a:t>"...com base nos dados abaixo..."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17"/>
          <p:cNvSpPr/>
          <p:nvPr/>
        </p:nvSpPr>
        <p:spPr>
          <a:xfrm>
            <a:off x="548640" y="4846320"/>
            <a:ext cx="11063880" cy="840960"/>
          </a:xfrm>
          <a:prstGeom prst="roundRect">
            <a:avLst>
              <a:gd name="adj" fmla="val 7609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18"/>
          <p:cNvSpPr/>
          <p:nvPr/>
        </p:nvSpPr>
        <p:spPr>
          <a:xfrm>
            <a:off x="548640" y="4846320"/>
            <a:ext cx="109440" cy="840960"/>
          </a:xfrm>
          <a:prstGeom prst="roundRect">
            <a:avLst>
              <a:gd name="adj" fmla="val 16667"/>
            </a:avLst>
          </a:prstGeom>
          <a:solidFill>
            <a:srgbClr val="F2B8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9"/>
          <p:cNvSpPr/>
          <p:nvPr/>
        </p:nvSpPr>
        <p:spPr>
          <a:xfrm>
            <a:off x="822960" y="4846320"/>
            <a:ext cx="182844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E2761"/>
                </a:solidFill>
                <a:latin typeface="Cambria"/>
                <a:ea typeface="Cambria"/>
              </a:rPr>
              <a:t>Formato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20"/>
          <p:cNvSpPr/>
          <p:nvPr/>
        </p:nvSpPr>
        <p:spPr>
          <a:xfrm>
            <a:off x="2743200" y="4846320"/>
            <a:ext cx="329148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como entregar a resposta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21"/>
          <p:cNvSpPr/>
          <p:nvPr/>
        </p:nvSpPr>
        <p:spPr>
          <a:xfrm>
            <a:off x="6217920" y="4846320"/>
            <a:ext cx="521172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6E79A0"/>
                </a:solidFill>
                <a:latin typeface="Consolas"/>
                <a:ea typeface="Consolas"/>
              </a:rPr>
              <a:t>"...em 3 tópicos, máx. 20 palavras cada"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22"/>
          <p:cNvSpPr/>
          <p:nvPr/>
        </p:nvSpPr>
        <p:spPr>
          <a:xfrm>
            <a:off x="548640" y="59436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Nem todo prompt precisa dos quatro — mas quanto mais claro cada um, melhor e mais previsível a resposta.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63B53677-BD58-0263-2D43-812038DD8416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0D0115E2-D1D2-9821-DFC9-277FC7A9A694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548640" y="4572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97">
                <a:solidFill>
                  <a:srgbClr val="4F7BE8"/>
                </a:solidFill>
                <a:latin typeface="Calibri"/>
                <a:ea typeface="Calibri"/>
              </a:rPr>
              <a:t>NA PRÁTICA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502920" y="822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strike="noStrike" spc="-1">
                <a:solidFill>
                  <a:srgbClr val="FFFFFF"/>
                </a:solidFill>
                <a:latin typeface="Cambria"/>
                <a:ea typeface="Cambria"/>
              </a:rPr>
              <a:t>Um prompt bem construído</a:t>
            </a:r>
            <a:endParaRPr lang="en-US" sz="3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548640" y="1920240"/>
            <a:ext cx="11063880" cy="3017160"/>
          </a:xfrm>
          <a:prstGeom prst="roundRect">
            <a:avLst>
              <a:gd name="adj" fmla="val 1818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749880" y="2057400"/>
            <a:ext cx="1066140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200" b="0" strike="noStrike" spc="-1">
                <a:solidFill>
                  <a:srgbClr val="F2B84A"/>
                </a:solidFill>
                <a:latin typeface="Consolas"/>
                <a:ea typeface="Consolas"/>
              </a:rPr>
              <a:t># PAPEL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Você é um assistente de suporte técnico, objetivo e cordial.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49B3A0"/>
                </a:solidFill>
                <a:latin typeface="Consolas"/>
                <a:ea typeface="Consolas"/>
              </a:rPr>
              <a:t># TAREFA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Classifique o chamado do cliente abaixo em: dúvida, bug ou pedido.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9B7EDE"/>
                </a:solidFill>
                <a:latin typeface="Consolas"/>
                <a:ea typeface="Consolas"/>
              </a:rPr>
              <a:t># CONTEXTO (chamado)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7FD1A8"/>
                </a:solidFill>
                <a:latin typeface="Consolas"/>
                <a:ea typeface="Consolas"/>
              </a:rPr>
              <a:t>"Meu app trava toda vez que clico em salvar."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7FB4F0"/>
                </a:solidFill>
                <a:latin typeface="Consolas"/>
                <a:ea typeface="Consolas"/>
              </a:rPr>
              <a:t># FORMATO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Responda apenas com a categoria, em uma palavra.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548640" y="51206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9FBCE8"/>
                </a:solidFill>
                <a:latin typeface="Calibri"/>
                <a:ea typeface="Calibri"/>
              </a:rPr>
              <a:t>Resultado esperado: "bug" — direto, sem rodeios, pronto para um sistema consumir.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1B044698-CBB9-2166-8EC7-74058F10E1F7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DC7B0807-04DE-CB84-125C-AD2D041EEADC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1"/>
          <p:cNvSpPr/>
          <p:nvPr/>
        </p:nvSpPr>
        <p:spPr>
          <a:xfrm>
            <a:off x="640080" y="911806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199">
                <a:solidFill>
                  <a:srgbClr val="4F7BE8"/>
                </a:solidFill>
                <a:latin typeface="Calibri"/>
                <a:ea typeface="Calibri"/>
              </a:rPr>
              <a:t>INDO ALÉM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2"/>
          <p:cNvSpPr/>
          <p:nvPr/>
        </p:nvSpPr>
        <p:spPr>
          <a:xfrm>
            <a:off x="594360" y="1369006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Cambria"/>
                <a:ea typeface="Cambria"/>
              </a:rPr>
              <a:t>Técnicas de prompting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3"/>
          <p:cNvSpPr/>
          <p:nvPr/>
        </p:nvSpPr>
        <p:spPr>
          <a:xfrm>
            <a:off x="640080" y="2512006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CADCFC"/>
                </a:solidFill>
                <a:latin typeface="Calibri"/>
                <a:ea typeface="Calibri"/>
              </a:rPr>
              <a:t>Três padrões que melhoram muito os resultados em tarefas difíceis.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CAFB92EF-9C25-8921-E812-D2C2EE4D0398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6C39A830-3633-30A0-6ABA-4976CAA38F16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5</a:t>
            </a:fld>
            <a:endParaRPr dirty="0"/>
          </a:p>
        </p:txBody>
      </p:sp>
      <p:pic>
        <p:nvPicPr>
          <p:cNvPr id="6" name="Google Shape;407;p38" descr="Gemini (chatbot) – Wikipédia, a enciclopédia livre">
            <a:extLst>
              <a:ext uri="{FF2B5EF4-FFF2-40B4-BE49-F238E27FC236}">
                <a16:creationId xmlns:a16="http://schemas.microsoft.com/office/drawing/2014/main" id="{DB4D4FCC-8C29-DE86-E577-8E65258F2871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824" y="4129528"/>
            <a:ext cx="2049463" cy="752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Google Shape;408;p38" descr="Llama 2 Model Details">
            <a:extLst>
              <a:ext uri="{FF2B5EF4-FFF2-40B4-BE49-F238E27FC236}">
                <a16:creationId xmlns:a16="http://schemas.microsoft.com/office/drawing/2014/main" id="{C95CDD32-736E-1730-7001-D6F3E37EC191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/>
          <a:srcRect t="22776" b="29331"/>
          <a:stretch/>
        </p:blipFill>
        <p:spPr>
          <a:xfrm>
            <a:off x="7759364" y="4129528"/>
            <a:ext cx="2644775" cy="793751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Google Shape;409;p38" descr="ChatGPT Vector Logo - Download Free SVG Icon | Worldvectorlogo">
            <a:extLst>
              <a:ext uri="{FF2B5EF4-FFF2-40B4-BE49-F238E27FC236}">
                <a16:creationId xmlns:a16="http://schemas.microsoft.com/office/drawing/2014/main" id="{C9BAEDC8-6CE9-4FC1-A606-4E5F82E294CE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6921" y="4129528"/>
            <a:ext cx="2724150" cy="793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Zero-shot e Few-shot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Ensinar pela instrução — ou pelo exemplo.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2"/>
          <p:cNvSpPr/>
          <p:nvPr/>
        </p:nvSpPr>
        <p:spPr>
          <a:xfrm>
            <a:off x="548640" y="1920240"/>
            <a:ext cx="5440320" cy="3565800"/>
          </a:xfrm>
          <a:prstGeom prst="roundRect">
            <a:avLst>
              <a:gd name="adj" fmla="val 2051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822960" y="2103120"/>
            <a:ext cx="4937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1E2761"/>
                </a:solidFill>
                <a:latin typeface="Cambria"/>
                <a:ea typeface="Cambria"/>
              </a:rPr>
              <a:t>Zero-shot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822960" y="254196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Só a </a:t>
            </a:r>
            <a:r>
              <a:rPr lang="en-US" sz="1350" b="0" i="1" strike="noStrike" spc="-1" dirty="0" err="1">
                <a:solidFill>
                  <a:srgbClr val="6E79A0"/>
                </a:solidFill>
                <a:latin typeface="Calibri"/>
                <a:ea typeface="Calibri"/>
              </a:rPr>
              <a:t>instrução</a:t>
            </a:r>
            <a:r>
              <a:rPr lang="en-US" sz="13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, </a:t>
            </a:r>
            <a:r>
              <a:rPr lang="en-US" sz="1350" b="0" i="1" strike="noStrike" spc="-1" dirty="0" err="1">
                <a:solidFill>
                  <a:srgbClr val="6E79A0"/>
                </a:solidFill>
                <a:latin typeface="Calibri"/>
                <a:ea typeface="Calibri"/>
              </a:rPr>
              <a:t>sem</a:t>
            </a:r>
            <a:r>
              <a:rPr lang="en-US" sz="13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 </a:t>
            </a:r>
            <a:r>
              <a:rPr lang="en-US" sz="1350" b="0" i="1" strike="noStrike" spc="-1" dirty="0" err="1">
                <a:solidFill>
                  <a:srgbClr val="6E79A0"/>
                </a:solidFill>
                <a:latin typeface="Calibri"/>
                <a:ea typeface="Calibri"/>
              </a:rPr>
              <a:t>exemplos</a:t>
            </a:r>
            <a:r>
              <a:rPr lang="en-US" sz="13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.</a:t>
            </a:r>
            <a:endParaRPr lang="en-US" sz="13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5"/>
          <p:cNvSpPr/>
          <p:nvPr/>
        </p:nvSpPr>
        <p:spPr>
          <a:xfrm>
            <a:off x="822960" y="2971800"/>
            <a:ext cx="4891680" cy="2285640"/>
          </a:xfrm>
          <a:prstGeom prst="roundRect">
            <a:avLst>
              <a:gd name="adj" fmla="val 2400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1024200" y="3108960"/>
            <a:ext cx="448920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Classifique o sentimento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desta frase como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positivo ou negativo: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7FD1A8"/>
                </a:solidFill>
                <a:latin typeface="Consolas"/>
                <a:ea typeface="Consolas"/>
              </a:rPr>
              <a:t>"Adorei o produto!"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7"/>
          <p:cNvSpPr/>
          <p:nvPr/>
        </p:nvSpPr>
        <p:spPr>
          <a:xfrm>
            <a:off x="6172200" y="1920240"/>
            <a:ext cx="5440320" cy="356580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8"/>
          <p:cNvSpPr/>
          <p:nvPr/>
        </p:nvSpPr>
        <p:spPr>
          <a:xfrm>
            <a:off x="6446520" y="2103120"/>
            <a:ext cx="4937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FFFFFF"/>
                </a:solidFill>
                <a:latin typeface="Cambria"/>
                <a:ea typeface="Cambria"/>
              </a:rPr>
              <a:t>Few-shot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9"/>
          <p:cNvSpPr/>
          <p:nvPr/>
        </p:nvSpPr>
        <p:spPr>
          <a:xfrm>
            <a:off x="6446520" y="254196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strike="noStrike" spc="-1">
                <a:solidFill>
                  <a:srgbClr val="9FBCE8"/>
                </a:solidFill>
                <a:latin typeface="Calibri"/>
                <a:ea typeface="Calibri"/>
              </a:rPr>
              <a:t>Alguns exemplos guiam o padrão.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0"/>
          <p:cNvSpPr/>
          <p:nvPr/>
        </p:nvSpPr>
        <p:spPr>
          <a:xfrm>
            <a:off x="6446520" y="2971800"/>
            <a:ext cx="4891680" cy="2285640"/>
          </a:xfrm>
          <a:prstGeom prst="roundRect">
            <a:avLst>
              <a:gd name="adj" fmla="val 2400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11"/>
          <p:cNvSpPr/>
          <p:nvPr/>
        </p:nvSpPr>
        <p:spPr>
          <a:xfrm>
            <a:off x="6647760" y="3108960"/>
            <a:ext cx="448920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200" b="0" strike="noStrike" spc="-1">
                <a:solidFill>
                  <a:srgbClr val="7FD1A8"/>
                </a:solidFill>
                <a:latin typeface="Consolas"/>
                <a:ea typeface="Consolas"/>
              </a:rPr>
              <a:t>"Ótimo!" → positivo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7FD1A8"/>
                </a:solidFill>
                <a:latin typeface="Consolas"/>
                <a:ea typeface="Consolas"/>
              </a:rPr>
              <a:t>"Que ruim." → negativo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7FD1A8"/>
                </a:solidFill>
                <a:latin typeface="Consolas"/>
                <a:ea typeface="Consolas"/>
              </a:rPr>
              <a:t>"Amei demais!" → positivo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"Não gostei." → </a:t>
            </a:r>
            <a:r>
              <a:rPr lang="en-US" sz="1200" b="0" strike="noStrike" spc="-1">
                <a:solidFill>
                  <a:srgbClr val="F2B84A"/>
                </a:solidFill>
                <a:latin typeface="Consolas"/>
                <a:ea typeface="Consolas"/>
              </a:rPr>
              <a:t>?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12"/>
          <p:cNvSpPr/>
          <p:nvPr/>
        </p:nvSpPr>
        <p:spPr>
          <a:xfrm>
            <a:off x="548640" y="5669280"/>
            <a:ext cx="5440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i="1" strike="noStrike" spc="-1" dirty="0" err="1">
                <a:solidFill>
                  <a:srgbClr val="6E79A0"/>
                </a:solidFill>
                <a:latin typeface="Calibri"/>
                <a:ea typeface="Calibri"/>
              </a:rPr>
              <a:t>Few</a:t>
            </a:r>
            <a:r>
              <a:rPr lang="pt-BR" sz="130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-shot ajuda quando a tarefa é específica ou o formato de saída precisa ser exato. Útil no agente!</a:t>
            </a:r>
            <a:endParaRPr lang="pt-BR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D80E192A-8353-930C-76CD-2207A0F58B96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18FB2479-3259-54C9-98A2-D28EA1B6116E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Chain-of-Thought — pensar passo a passo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Pedir o raciocínio antes da resposta melhora tarefas de lógica e cálculo.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548640" y="1965960"/>
            <a:ext cx="5440320" cy="1416960"/>
          </a:xfrm>
          <a:prstGeom prst="roundRect">
            <a:avLst>
              <a:gd name="adj" fmla="val 5161"/>
            </a:avLst>
          </a:prstGeom>
          <a:solidFill>
            <a:srgbClr val="F7E9EC"/>
          </a:solidFill>
          <a:ln w="12700">
            <a:solidFill>
              <a:srgbClr val="C450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777240" y="209412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C4506B"/>
                </a:solidFill>
                <a:latin typeface="Calibri"/>
                <a:ea typeface="Calibri"/>
              </a:rPr>
              <a:t>✗ vago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777240" y="2423160"/>
            <a:ext cx="50288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A6072"/>
                </a:solidFill>
                <a:latin typeface="Consolas"/>
                <a:ea typeface="Consolas"/>
              </a:rPr>
              <a:t>"Um trem percorre 120 km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A6072"/>
                </a:solidFill>
                <a:latin typeface="Consolas"/>
                <a:ea typeface="Consolas"/>
              </a:rPr>
              <a:t> em 2h. Qual a velocidade?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A6072"/>
                </a:solidFill>
                <a:latin typeface="Consolas"/>
                <a:ea typeface="Consolas"/>
              </a:rPr>
              <a:t> Responda direto."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5"/>
          <p:cNvSpPr/>
          <p:nvPr/>
        </p:nvSpPr>
        <p:spPr>
          <a:xfrm>
            <a:off x="6172200" y="1965960"/>
            <a:ext cx="5440320" cy="1416960"/>
          </a:xfrm>
          <a:prstGeom prst="roundRect">
            <a:avLst>
              <a:gd name="adj" fmla="val 5161"/>
            </a:avLst>
          </a:prstGeom>
          <a:solidFill>
            <a:srgbClr val="E7F3EC"/>
          </a:solidFill>
          <a:ln w="12700">
            <a:solidFill>
              <a:srgbClr val="3E9E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6400800" y="209412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3E9E6E"/>
                </a:solidFill>
                <a:latin typeface="Calibri"/>
                <a:ea typeface="Calibri"/>
              </a:rPr>
              <a:t>✓ específico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6400800" y="2423160"/>
            <a:ext cx="50288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A6072"/>
                </a:solidFill>
                <a:latin typeface="Consolas"/>
                <a:ea typeface="Consolas"/>
              </a:rPr>
              <a:t>"...pense passo a passo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A6072"/>
                </a:solidFill>
                <a:latin typeface="Consolas"/>
                <a:ea typeface="Consolas"/>
              </a:rPr>
              <a:t> e mostre o raciocínio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A6072"/>
                </a:solidFill>
                <a:latin typeface="Consolas"/>
                <a:ea typeface="Consolas"/>
              </a:rPr>
              <a:t> antes da resposta final."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8"/>
          <p:cNvSpPr/>
          <p:nvPr/>
        </p:nvSpPr>
        <p:spPr>
          <a:xfrm>
            <a:off x="548640" y="3657600"/>
            <a:ext cx="11063880" cy="201132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9"/>
          <p:cNvSpPr/>
          <p:nvPr/>
        </p:nvSpPr>
        <p:spPr>
          <a:xfrm>
            <a:off x="822960" y="384048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FFFFFF"/>
                </a:solidFill>
                <a:latin typeface="Cambria"/>
                <a:ea typeface="Cambria"/>
              </a:rPr>
              <a:t>Por que funciona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0"/>
          <p:cNvSpPr/>
          <p:nvPr/>
        </p:nvSpPr>
        <p:spPr>
          <a:xfrm>
            <a:off x="822960" y="4251960"/>
            <a:ext cx="105152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CADCFC"/>
                </a:solidFill>
                <a:latin typeface="Calibri"/>
              </a:rPr>
              <a:t>O LLM gera palavra por palavra. Ao "pensar em voz alta", ele cria passos intermediários que sustentam a resposta final — em vez de "chutar" de uma vez. </a:t>
            </a:r>
            <a:r>
              <a:rPr lang="en-US" sz="1450" b="1" strike="noStrike" spc="-1">
                <a:solidFill>
                  <a:srgbClr val="F2B84A"/>
                </a:solidFill>
                <a:latin typeface="Calibri"/>
              </a:rPr>
              <a:t>Simples e poderoso: só peça "pense passo a passo".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D291B57D-6FC1-FC3E-AE83-BBF30A583D2A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E6B34A93-C706-25AD-E603-799C941FF60A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Erros</a:t>
            </a: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comuns</a:t>
            </a: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(e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como</a:t>
            </a: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evitar</a:t>
            </a: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)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Onde o prompt costuma falhar.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2"/>
          <p:cNvSpPr/>
          <p:nvPr/>
        </p:nvSpPr>
        <p:spPr>
          <a:xfrm>
            <a:off x="548640" y="1965960"/>
            <a:ext cx="11063880" cy="868320"/>
          </a:xfrm>
          <a:prstGeom prst="roundRect">
            <a:avLst>
              <a:gd name="adj" fmla="val 7368"/>
            </a:avLst>
          </a:prstGeom>
          <a:solidFill>
            <a:srgbClr val="F8FAFE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822960" y="1965960"/>
            <a:ext cx="24685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C4506B"/>
                </a:solidFill>
                <a:latin typeface="Cambria"/>
                <a:ea typeface="Cambria"/>
              </a:rPr>
              <a:t>✗ Vago demais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4"/>
          <p:cNvSpPr/>
          <p:nvPr/>
        </p:nvSpPr>
        <p:spPr>
          <a:xfrm>
            <a:off x="3383280" y="1965960"/>
            <a:ext cx="39315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6E79A0"/>
                </a:solidFill>
                <a:latin typeface="Calibri"/>
                <a:ea typeface="Calibri"/>
              </a:rPr>
              <a:t>o modelo preenche as lacunas do seu jeito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7406640" y="1965960"/>
            <a:ext cx="402300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3E9E6E"/>
                </a:solidFill>
                <a:latin typeface="Calibri"/>
                <a:ea typeface="Calibri"/>
              </a:rPr>
              <a:t>→ </a:t>
            </a:r>
            <a:r>
              <a:rPr lang="en-US" sz="1250" b="0" strike="noStrike" spc="-1">
                <a:solidFill>
                  <a:srgbClr val="5A6072"/>
                </a:solidFill>
                <a:latin typeface="Calibri"/>
                <a:ea typeface="Calibri"/>
              </a:rPr>
              <a:t>seja específico: o quê, para quem, em que formato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6"/>
          <p:cNvSpPr/>
          <p:nvPr/>
        </p:nvSpPr>
        <p:spPr>
          <a:xfrm>
            <a:off x="548640" y="2953440"/>
            <a:ext cx="11063880" cy="868320"/>
          </a:xfrm>
          <a:prstGeom prst="roundRect">
            <a:avLst>
              <a:gd name="adj" fmla="val 7368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7"/>
          <p:cNvSpPr/>
          <p:nvPr/>
        </p:nvSpPr>
        <p:spPr>
          <a:xfrm>
            <a:off x="822960" y="2953440"/>
            <a:ext cx="24685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C4506B"/>
                </a:solidFill>
                <a:latin typeface="Cambria"/>
                <a:ea typeface="Cambria"/>
              </a:rPr>
              <a:t>✗ Sem contexto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8"/>
          <p:cNvSpPr/>
          <p:nvPr/>
        </p:nvSpPr>
        <p:spPr>
          <a:xfrm>
            <a:off x="3383280" y="2953440"/>
            <a:ext cx="39315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6E79A0"/>
                </a:solidFill>
                <a:latin typeface="Calibri"/>
                <a:ea typeface="Calibri"/>
              </a:rPr>
              <a:t>pede algo sobre dados que não forneceu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9"/>
          <p:cNvSpPr/>
          <p:nvPr/>
        </p:nvSpPr>
        <p:spPr>
          <a:xfrm>
            <a:off x="7406640" y="2953440"/>
            <a:ext cx="402300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3E9E6E"/>
                </a:solidFill>
                <a:latin typeface="Calibri"/>
                <a:ea typeface="Calibri"/>
              </a:rPr>
              <a:t>→ </a:t>
            </a:r>
            <a:r>
              <a:rPr lang="en-US" sz="1250" b="0" strike="noStrike" spc="-1">
                <a:solidFill>
                  <a:srgbClr val="5A6072"/>
                </a:solidFill>
                <a:latin typeface="Calibri"/>
                <a:ea typeface="Calibri"/>
              </a:rPr>
              <a:t>cole o dado necessário no prompt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10"/>
          <p:cNvSpPr/>
          <p:nvPr/>
        </p:nvSpPr>
        <p:spPr>
          <a:xfrm>
            <a:off x="548640" y="3940920"/>
            <a:ext cx="11063880" cy="868320"/>
          </a:xfrm>
          <a:prstGeom prst="roundRect">
            <a:avLst>
              <a:gd name="adj" fmla="val 7368"/>
            </a:avLst>
          </a:prstGeom>
          <a:solidFill>
            <a:srgbClr val="F8FAFE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822960" y="3940920"/>
            <a:ext cx="24685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C4506B"/>
                </a:solidFill>
                <a:latin typeface="Cambria"/>
                <a:ea typeface="Cambria"/>
              </a:rPr>
              <a:t>✗ Formato solto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2"/>
          <p:cNvSpPr/>
          <p:nvPr/>
        </p:nvSpPr>
        <p:spPr>
          <a:xfrm>
            <a:off x="3383280" y="3940920"/>
            <a:ext cx="39315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6E79A0"/>
                </a:solidFill>
                <a:latin typeface="Calibri"/>
                <a:ea typeface="Calibri"/>
              </a:rPr>
              <a:t>a saída vem inconsistente e difícil de usar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13"/>
          <p:cNvSpPr/>
          <p:nvPr/>
        </p:nvSpPr>
        <p:spPr>
          <a:xfrm>
            <a:off x="7406640" y="3940920"/>
            <a:ext cx="402300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3E9E6E"/>
                </a:solidFill>
                <a:latin typeface="Calibri"/>
                <a:ea typeface="Calibri"/>
              </a:rPr>
              <a:t>→ </a:t>
            </a:r>
            <a:r>
              <a:rPr lang="en-US" sz="1250" b="0" strike="noStrike" spc="-1">
                <a:solidFill>
                  <a:srgbClr val="5A6072"/>
                </a:solidFill>
                <a:latin typeface="Calibri"/>
                <a:ea typeface="Calibri"/>
              </a:rPr>
              <a:t>diga exatamente o formato (JSON, lista, 1 palavra)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14"/>
          <p:cNvSpPr/>
          <p:nvPr/>
        </p:nvSpPr>
        <p:spPr>
          <a:xfrm>
            <a:off x="548640" y="4928760"/>
            <a:ext cx="11063880" cy="868320"/>
          </a:xfrm>
          <a:prstGeom prst="roundRect">
            <a:avLst>
              <a:gd name="adj" fmla="val 7368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5"/>
          <p:cNvSpPr/>
          <p:nvPr/>
        </p:nvSpPr>
        <p:spPr>
          <a:xfrm>
            <a:off x="822960" y="4928760"/>
            <a:ext cx="24685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C4506B"/>
                </a:solidFill>
                <a:latin typeface="Cambria"/>
                <a:ea typeface="Cambria"/>
              </a:rPr>
              <a:t>✗ Confiar cegamente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6"/>
          <p:cNvSpPr/>
          <p:nvPr/>
        </p:nvSpPr>
        <p:spPr>
          <a:xfrm>
            <a:off x="3383280" y="4928760"/>
            <a:ext cx="39315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6E79A0"/>
                </a:solidFill>
                <a:latin typeface="Calibri"/>
                <a:ea typeface="Calibri"/>
              </a:rPr>
              <a:t>aceitar a resposta sem verificar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7"/>
          <p:cNvSpPr/>
          <p:nvPr/>
        </p:nvSpPr>
        <p:spPr>
          <a:xfrm>
            <a:off x="7406640" y="4928760"/>
            <a:ext cx="402300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3E9E6E"/>
                </a:solidFill>
                <a:latin typeface="Calibri"/>
                <a:ea typeface="Calibri"/>
              </a:rPr>
              <a:t>→ </a:t>
            </a:r>
            <a:r>
              <a:rPr lang="en-US" sz="1250" b="0" strike="noStrike" spc="-1">
                <a:solidFill>
                  <a:srgbClr val="5A6072"/>
                </a:solidFill>
                <a:latin typeface="Calibri"/>
                <a:ea typeface="Calibri"/>
              </a:rPr>
              <a:t>o modelo pode alucinar — sempre confira o que importa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05C8ADC9-C3E2-9971-F0D1-F21D842A9BAF}"/>
              </a:ext>
            </a:extLst>
          </p:cNvPr>
          <p:cNvSpPr txBox="1"/>
          <p:nvPr/>
        </p:nvSpPr>
        <p:spPr>
          <a:xfrm>
            <a:off x="546924" y="650266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A4CF08D3-E29E-000E-AD40-D9DE205FD43F}"/>
              </a:ext>
            </a:extLst>
          </p:cNvPr>
          <p:cNvSpPr txBox="1"/>
          <p:nvPr/>
        </p:nvSpPr>
        <p:spPr>
          <a:xfrm>
            <a:off x="10919892" y="654150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8</a:t>
            </a:fld>
            <a:endParaRPr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45E5C58-2606-966A-201A-F0612CE3F112}"/>
              </a:ext>
            </a:extLst>
          </p:cNvPr>
          <p:cNvSpPr txBox="1"/>
          <p:nvPr/>
        </p:nvSpPr>
        <p:spPr>
          <a:xfrm>
            <a:off x="3005756" y="6067473"/>
            <a:ext cx="68905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0" strike="noStrike" spc="-1">
                <a:solidFill>
                  <a:srgbClr val="FF0000"/>
                </a:solidFill>
                <a:latin typeface="Arial"/>
              </a:rPr>
              <a:t>O último (confiar cegamente) conecta com avaliação/</a:t>
            </a:r>
            <a:r>
              <a:rPr lang="pt-BR" sz="1600" b="0" strike="noStrike" spc="-1" dirty="0" err="1">
                <a:solidFill>
                  <a:srgbClr val="FF0000"/>
                </a:solidFill>
                <a:latin typeface="Arial"/>
              </a:rPr>
              <a:t>groundedness</a:t>
            </a:r>
            <a:r>
              <a:rPr lang="pt-BR" sz="1600" b="0" strike="noStrike" spc="-1" dirty="0">
                <a:solidFill>
                  <a:srgbClr val="FF0000"/>
                </a:solidFill>
                <a:latin typeface="Arial"/>
              </a:rPr>
              <a:t> que vem no RAG. Alucinação é sempre um risco</a:t>
            </a:r>
            <a:r>
              <a:rPr lang="pt-BR" sz="1600" spc="-1" dirty="0">
                <a:solidFill>
                  <a:srgbClr val="FF0000"/>
                </a:solidFill>
                <a:latin typeface="Arial"/>
              </a:rPr>
              <a:t>!</a:t>
            </a:r>
            <a:endParaRPr lang="pt-BR" sz="1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1"/>
          <p:cNvSpPr/>
          <p:nvPr/>
        </p:nvSpPr>
        <p:spPr>
          <a:xfrm>
            <a:off x="640080" y="128016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199">
                <a:solidFill>
                  <a:srgbClr val="F2B84A"/>
                </a:solidFill>
                <a:latin typeface="Calibri"/>
                <a:ea typeface="Calibri"/>
              </a:rPr>
              <a:t>O QUE FICA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2"/>
          <p:cNvSpPr/>
          <p:nvPr/>
        </p:nvSpPr>
        <p:spPr>
          <a:xfrm>
            <a:off x="594360" y="1737360"/>
            <a:ext cx="109724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strike="noStrike" spc="-1">
                <a:solidFill>
                  <a:srgbClr val="FFFFFF"/>
                </a:solidFill>
                <a:latin typeface="Cambria"/>
                <a:ea typeface="Cambria"/>
              </a:rPr>
              <a:t>Bom prompt = bom contexto</a:t>
            </a:r>
            <a:endParaRPr lang="en-US" sz="3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3"/>
          <p:cNvSpPr/>
          <p:nvPr/>
        </p:nvSpPr>
        <p:spPr>
          <a:xfrm>
            <a:off x="640080" y="2880360"/>
            <a:ext cx="10972440" cy="749520"/>
          </a:xfrm>
          <a:prstGeom prst="roundRect">
            <a:avLst>
              <a:gd name="adj" fmla="val 7317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4"/>
          <p:cNvSpPr/>
          <p:nvPr/>
        </p:nvSpPr>
        <p:spPr>
          <a:xfrm>
            <a:off x="914400" y="2880360"/>
            <a:ext cx="1042380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2B84A"/>
                </a:solidFill>
                <a:latin typeface="Calibri"/>
              </a:rPr>
              <a:t>Estrutura   </a:t>
            </a:r>
            <a:r>
              <a:rPr lang="en-US" sz="1450" b="0" strike="noStrike" spc="-1">
                <a:solidFill>
                  <a:srgbClr val="CADCFC"/>
                </a:solidFill>
                <a:latin typeface="Calibri"/>
              </a:rPr>
              <a:t>papel + tarefa + contexto + formato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5"/>
          <p:cNvSpPr/>
          <p:nvPr/>
        </p:nvSpPr>
        <p:spPr>
          <a:xfrm>
            <a:off x="640080" y="3749040"/>
            <a:ext cx="10972440" cy="749520"/>
          </a:xfrm>
          <a:prstGeom prst="roundRect">
            <a:avLst>
              <a:gd name="adj" fmla="val 7317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6"/>
          <p:cNvSpPr/>
          <p:nvPr/>
        </p:nvSpPr>
        <p:spPr>
          <a:xfrm>
            <a:off x="914400" y="3749040"/>
            <a:ext cx="1042380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2B84A"/>
                </a:solidFill>
                <a:latin typeface="Calibri"/>
              </a:rPr>
              <a:t>Técnicas   </a:t>
            </a:r>
            <a:r>
              <a:rPr lang="en-US" sz="1450" b="0" strike="noStrike" spc="-1">
                <a:solidFill>
                  <a:srgbClr val="CADCFC"/>
                </a:solidFill>
                <a:latin typeface="Calibri"/>
              </a:rPr>
              <a:t>zero/few-shot e "pense passo a passo"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Shape 7"/>
          <p:cNvSpPr/>
          <p:nvPr/>
        </p:nvSpPr>
        <p:spPr>
          <a:xfrm>
            <a:off x="640080" y="4617720"/>
            <a:ext cx="10972440" cy="749520"/>
          </a:xfrm>
          <a:prstGeom prst="roundRect">
            <a:avLst>
              <a:gd name="adj" fmla="val 7317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8"/>
          <p:cNvSpPr/>
          <p:nvPr/>
        </p:nvSpPr>
        <p:spPr>
          <a:xfrm>
            <a:off x="914400" y="4617720"/>
            <a:ext cx="1042380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2B84A"/>
                </a:solidFill>
                <a:latin typeface="Calibri"/>
              </a:rPr>
              <a:t>Cuidado   </a:t>
            </a:r>
            <a:r>
              <a:rPr lang="en-US" sz="1450" b="0" strike="noStrike" spc="-1">
                <a:solidFill>
                  <a:srgbClr val="CADCFC"/>
                </a:solidFill>
                <a:latin typeface="Calibri"/>
              </a:rPr>
              <a:t>seja específico, dê o dado, verifique a saída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9"/>
          <p:cNvSpPr/>
          <p:nvPr/>
        </p:nvSpPr>
        <p:spPr>
          <a:xfrm>
            <a:off x="640080" y="5440680"/>
            <a:ext cx="10972440" cy="776880"/>
          </a:xfrm>
          <a:prstGeom prst="roundRect">
            <a:avLst>
              <a:gd name="adj" fmla="val 7059"/>
            </a:avLst>
          </a:prstGeom>
          <a:solidFill>
            <a:srgbClr val="141A45"/>
          </a:solidFill>
          <a:ln w="12700">
            <a:solidFill>
              <a:srgbClr val="F2B8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10"/>
          <p:cNvSpPr/>
          <p:nvPr/>
        </p:nvSpPr>
        <p:spPr>
          <a:xfrm>
            <a:off x="914400" y="5440680"/>
            <a:ext cx="104238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F2B84A"/>
                </a:solidFill>
                <a:latin typeface="Calibri"/>
              </a:rPr>
              <a:t>A próxima pergunta:  </a:t>
            </a:r>
            <a:r>
              <a:rPr lang="en-US" sz="1450" b="0" strike="noStrike" spc="-1">
                <a:solidFill>
                  <a:srgbClr val="CADCFC"/>
                </a:solidFill>
                <a:latin typeface="Calibri"/>
              </a:rPr>
              <a:t>e se o dado necessário for grande demais para caber no prompt? A resposta é RAG — o próximo tema.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3C48060F-9BF0-AF4D-EF33-CE5D962235C9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AE74EEE0-7D67-DDA1-BD4A-8A9179F327A0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9</a:t>
            </a:fld>
            <a:endParaRPr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317441D-904D-A46A-E6C1-A5266B464057}"/>
              </a:ext>
            </a:extLst>
          </p:cNvPr>
          <p:cNvSpPr txBox="1"/>
          <p:nvPr/>
        </p:nvSpPr>
        <p:spPr>
          <a:xfrm>
            <a:off x="7208492" y="388568"/>
            <a:ext cx="449417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pc="-1" dirty="0">
                <a:solidFill>
                  <a:srgbClr val="FF0000"/>
                </a:solidFill>
                <a:latin typeface="Arial"/>
              </a:rPr>
              <a:t>P</a:t>
            </a:r>
            <a:r>
              <a:rPr lang="pt-BR" sz="1800" b="0" strike="noStrike" spc="-1" dirty="0">
                <a:solidFill>
                  <a:srgbClr val="FF0000"/>
                </a:solidFill>
                <a:latin typeface="Arial"/>
              </a:rPr>
              <a:t>rompt precisa de contexto, mas o contexto pode ser grande demais (lembrar da janela de contexto). </a:t>
            </a:r>
          </a:p>
          <a:p>
            <a:pPr algn="just"/>
            <a:r>
              <a:rPr lang="pt-BR" sz="1800" b="0" strike="noStrike" spc="-1" dirty="0">
                <a:solidFill>
                  <a:srgbClr val="FF0000"/>
                </a:solidFill>
                <a:latin typeface="Arial"/>
              </a:rPr>
              <a:t>RAG resolve trazendo só o pedaço relevante (veremos em breve!)</a:t>
            </a:r>
            <a:endParaRPr lang="pt-BR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4D3C47B-70D4-D905-C772-DF0C66160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386" y="1155610"/>
            <a:ext cx="9258186" cy="53038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2837FB76-C25B-2BD9-CA3C-9474FE94F290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Engenharia</a:t>
            </a: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de Prompts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584116F3-D4F9-F54B-3DE6-956206E109E5}"/>
              </a:ext>
            </a:extLst>
          </p:cNvPr>
          <p:cNvSpPr txBox="1"/>
          <p:nvPr/>
        </p:nvSpPr>
        <p:spPr>
          <a:xfrm>
            <a:off x="546924" y="650266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4A76188A-59FA-3C37-AD79-1C0408E91637}"/>
              </a:ext>
            </a:extLst>
          </p:cNvPr>
          <p:cNvSpPr txBox="1"/>
          <p:nvPr/>
        </p:nvSpPr>
        <p:spPr>
          <a:xfrm>
            <a:off x="10919892" y="654150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10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008889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8A2D2C2733B7342A34F941B973AA6E6" ma:contentTypeVersion="9" ma:contentTypeDescription="Crie um novo documento." ma:contentTypeScope="" ma:versionID="0683c89334ed78834fe33c164e772971">
  <xsd:schema xmlns:xsd="http://www.w3.org/2001/XMLSchema" xmlns:xs="http://www.w3.org/2001/XMLSchema" xmlns:p="http://schemas.microsoft.com/office/2006/metadata/properties" xmlns:ns2="f534e9f2-b7ec-4ccc-a69c-51d3e3635b48" xmlns:ns3="bf55bb95-0e2d-49eb-8730-bda5c0a73d75" targetNamespace="http://schemas.microsoft.com/office/2006/metadata/properties" ma:root="true" ma:fieldsID="b6ff691edaa762fc51b4ef2dd0edebb2" ns2:_="" ns3:_="">
    <xsd:import namespace="f534e9f2-b7ec-4ccc-a69c-51d3e3635b48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34e9f2-b7ec-4ccc-a69c-51d3e3635b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5afc77d-9220-47df-90d7-402ba00a53d1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55bb95-0e2d-49eb-8730-bda5c0a73d75" xsi:nil="true"/>
    <lcf76f155ced4ddcb4097134ff3c332f xmlns="f534e9f2-b7ec-4ccc-a69c-51d3e3635b4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2048B36-9F8F-4C96-A3B1-0EDE2A290960}"/>
</file>

<file path=customXml/itemProps2.xml><?xml version="1.0" encoding="utf-8"?>
<ds:datastoreItem xmlns:ds="http://schemas.openxmlformats.org/officeDocument/2006/customXml" ds:itemID="{E91EEBFA-F718-4C19-BA95-EAC7B8A95BB9}"/>
</file>

<file path=customXml/itemProps3.xml><?xml version="1.0" encoding="utf-8"?>
<ds:datastoreItem xmlns:ds="http://schemas.openxmlformats.org/officeDocument/2006/customXml" ds:itemID="{534493AD-24C8-4F06-BA3C-93FD1A80090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769</Words>
  <Application>Microsoft Office PowerPoint</Application>
  <PresentationFormat>Widescreen</PresentationFormat>
  <Paragraphs>125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Cambria</vt:lpstr>
      <vt:lpstr>Consolas</vt:lpstr>
      <vt:lpstr>Symbol</vt:lpstr>
      <vt:lpstr>Times New Roman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JOSE WALMIR GONCALVES DUQUE</cp:lastModifiedBy>
  <cp:revision>8</cp:revision>
  <dcterms:modified xsi:type="dcterms:W3CDTF">2026-09-21T13:57:47Z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2026-09-10T03:01:32Z</dcterms:created>
  <dc:creator>PptxGenJS</dc:creator>
  <dc:description/>
  <dc:language>en-US</dc:language>
  <cp:lastModifiedBy>PptxGenJS</cp:lastModifiedBy>
  <dcterms:modified xsi:type="dcterms:W3CDTF">2026-09-10T03:01:32Z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9</vt:r8>
  </property>
  <property fmtid="{D5CDD505-2E9C-101B-9397-08002B2CF9AE}" pid="3" name="PresentationFormat">
    <vt:lpwstr>On-screen Show (16:9)</vt:lpwstr>
  </property>
  <property fmtid="{D5CDD505-2E9C-101B-9397-08002B2CF9AE}" pid="4" name="Slides">
    <vt:r8>9</vt:r8>
  </property>
  <property fmtid="{D5CDD505-2E9C-101B-9397-08002B2CF9AE}" pid="5" name="ContentTypeId">
    <vt:lpwstr>0x01010078A2D2C2733B7342A34F941B973AA6E6</vt:lpwstr>
  </property>
</Properties>
</file>