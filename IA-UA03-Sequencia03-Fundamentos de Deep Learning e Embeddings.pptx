
<file path=[Content_Types].xml><?xml version="1.0" encoding="utf-8"?>
<Types xmlns="http://schemas.openxmlformats.org/package/2006/content-types">
  <Default Extension="bin" ContentType="application/vnd.openxmlformats-officedocument.oleObject"/>
  <Default Extension="mov" ContentType="video/quicktime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ore0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65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583" r:id="rId11"/>
    <p:sldId id="603" r:id="rId12"/>
    <p:sldId id="604" r:id="rId13"/>
    <p:sldId id="605" r:id="rId14"/>
    <p:sldId id="606" r:id="rId15"/>
    <p:sldId id="607" r:id="rId16"/>
    <p:sldId id="617" r:id="rId17"/>
    <p:sldId id="620" r:id="rId18"/>
    <p:sldId id="621" r:id="rId19"/>
    <p:sldId id="624" r:id="rId20"/>
    <p:sldId id="629" r:id="rId21"/>
    <p:sldId id="622" r:id="rId22"/>
    <p:sldId id="625" r:id="rId23"/>
    <p:sldId id="626" r:id="rId24"/>
    <p:sldId id="651" r:id="rId25"/>
    <p:sldId id="630" r:id="rId26"/>
    <p:sldId id="627" r:id="rId27"/>
    <p:sldId id="628" r:id="rId28"/>
    <p:sldId id="631" r:id="rId29"/>
    <p:sldId id="652" r:id="rId30"/>
    <p:sldId id="653" r:id="rId31"/>
    <p:sldId id="632" r:id="rId32"/>
    <p:sldId id="634" r:id="rId33"/>
    <p:sldId id="635" r:id="rId34"/>
    <p:sldId id="654" r:id="rId35"/>
    <p:sldId id="655" r:id="rId36"/>
    <p:sldId id="650" r:id="rId37"/>
  </p:sldIdLst>
  <p:sldSz cx="12192000" cy="6858000"/>
  <p:notesSz cx="6858000" cy="12192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36" autoAdjust="0"/>
  </p:normalViewPr>
  <p:slideViewPr>
    <p:cSldViewPr snapToGrid="0">
      <p:cViewPr varScale="1">
        <p:scale>
          <a:sx n="109" d="100"/>
          <a:sy n="109" d="100"/>
        </p:scale>
        <p:origin x="10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DE0175E3-ADFE-4CA4-962C-1B55CF8F0427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‹nº›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C81CF0-907D-4047-8248-1020FC494A8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74152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0946B1E-CCBF-44A5-A799-21CAFB9D6C4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860347-ED0D-4611-92D8-02F12B57343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913581-0018-455E-87DE-B44DBC839EB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FC29360-2913-48DA-9229-76713802767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r>
              <a:rPr lang="en-US" sz="2000" b="0" strike="noStrike" spc="-1" dirty="0">
                <a:solidFill>
                  <a:srgbClr val="000000"/>
                </a:solidFill>
                <a:latin typeface="Arial"/>
              </a:rPr>
              <a:t>.</a:t>
            </a:r>
          </a:p>
        </p:txBody>
      </p:sp>
      <p:sp>
        <p:nvSpPr>
          <p:cNvPr id="17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D253B9-2955-4C20-A605-DC7140E65CC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3E597E-E9AF-45D4-AC45-4126C5278285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729A5E-C19C-45AE-A847-D0DBCC208A7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0">
              <a:lnSpc>
                <a:spcPct val="100000"/>
              </a:lnSpc>
              <a:buNone/>
            </a:pP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3FD68D1-BE1B-4D8C-8C8C-670879A33FB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Google Shape;399;p38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marL="914400" lvl="1" indent="-317500">
              <a:spcBef>
                <a:spcPct val="0"/>
              </a:spcBef>
              <a:buChar char="○"/>
            </a:pPr>
            <a:endParaRPr lang="pt-BR" altLang="pt-BR" dirty="0"/>
          </a:p>
        </p:txBody>
      </p:sp>
      <p:sp>
        <p:nvSpPr>
          <p:cNvPr id="72707" name="Google Shape;400;p3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2147483646" y="0"/>
              </a:cxn>
              <a:cxn ang="0">
                <a:pos x="2147483646" y="2147483646"/>
              </a:cxn>
              <a:cxn ang="0">
                <a:pos x="0" y="2147483646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  <p:extLst>
      <p:ext uri="{BB962C8B-B14F-4D97-AF65-F5344CB8AC3E}">
        <p14:creationId xmlns:p14="http://schemas.microsoft.com/office/powerpoint/2010/main" val="8011790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  <p:extLst>
      <p:ext uri="{BB962C8B-B14F-4D97-AF65-F5344CB8AC3E}">
        <p14:creationId xmlns:p14="http://schemas.microsoft.com/office/powerpoint/2010/main" val="16240909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  <p:extLst>
      <p:ext uri="{BB962C8B-B14F-4D97-AF65-F5344CB8AC3E}">
        <p14:creationId xmlns:p14="http://schemas.microsoft.com/office/powerpoint/2010/main" val="353268417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Google Shape;411;p39:notes"/>
          <p:cNvSpPr>
            <a:spLocks noGrp="1"/>
          </p:cNvSpPr>
          <p:nvPr>
            <p:ph type="body"/>
          </p:nvPr>
        </p:nvSpPr>
        <p:spPr>
          <a:xfrm>
            <a:off x="685800" y="4400550"/>
            <a:ext cx="5486400" cy="3600450"/>
          </a:xfrm>
        </p:spPr>
        <p:txBody>
          <a:bodyPr wrap="square" lIns="91425" tIns="45700" rIns="91425" bIns="45700" anchor="t" anchorCtr="0"/>
          <a:lstStyle/>
          <a:p>
            <a:pPr lvl="0">
              <a:spcBef>
                <a:spcPts val="365"/>
              </a:spcBef>
            </a:pPr>
            <a:endParaRPr lang="pt-BR" altLang="pt-BR" dirty="0"/>
          </a:p>
        </p:txBody>
      </p:sp>
      <p:sp>
        <p:nvSpPr>
          <p:cNvPr id="56323" name="Google Shape;412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41096492" y="0"/>
              </a:cxn>
              <a:cxn ang="0">
                <a:pos x="141096492" y="79366777"/>
              </a:cxn>
              <a:cxn ang="0">
                <a:pos x="0" y="79366777"/>
              </a:cxn>
              <a:cxn ang="0">
                <a:pos x="0" y="0"/>
              </a:cxn>
            </a:cxnLst>
            <a:rect l="0" t="0" r="0" b="0"/>
            <a:pathLst>
              <a:path w="120000" h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ln>
            <a:round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ov"/><Relationship Id="rId1" Type="http://schemas.microsoft.com/office/2007/relationships/media" Target="../media/media1.mov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ov"/><Relationship Id="rId1" Type="http://schemas.microsoft.com/office/2007/relationships/media" Target="../media/media2.mov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ov"/><Relationship Id="rId1" Type="http://schemas.microsoft.com/office/2007/relationships/media" Target="../media/media3.mov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1F18A72-C68C-6AE1-5067-389386064F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002" t="20731" r="18964" b="13989"/>
          <a:stretch/>
        </p:blipFill>
        <p:spPr>
          <a:xfrm>
            <a:off x="735492" y="697733"/>
            <a:ext cx="2923215" cy="1677933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126B7724-916C-5F65-FBC4-6FB941267F42}"/>
              </a:ext>
            </a:extLst>
          </p:cNvPr>
          <p:cNvSpPr/>
          <p:nvPr/>
        </p:nvSpPr>
        <p:spPr>
          <a:xfrm>
            <a:off x="594360" y="2353201"/>
            <a:ext cx="731484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strike="noStrike" spc="-1" dirty="0">
                <a:solidFill>
                  <a:srgbClr val="FFFFFF"/>
                </a:solidFill>
                <a:latin typeface="Cambria"/>
                <a:ea typeface="Cambria"/>
              </a:rPr>
              <a:t>Deep Learning</a:t>
            </a:r>
            <a:endParaRPr lang="en-US" sz="4400" b="0" strike="noStrike" spc="-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45BC03E-6810-C471-06F4-6235017B6769}"/>
              </a:ext>
            </a:extLst>
          </p:cNvPr>
          <p:cNvSpPr/>
          <p:nvPr/>
        </p:nvSpPr>
        <p:spPr>
          <a:xfrm>
            <a:off x="640079" y="3541921"/>
            <a:ext cx="11013917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Do </a:t>
            </a:r>
            <a:r>
              <a:rPr lang="en-US" sz="1700" b="0" i="1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neurônio</a:t>
            </a:r>
            <a:r>
              <a:rPr lang="en-US" sz="17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 artificial </a:t>
            </a:r>
            <a:r>
              <a:rPr lang="en-US" sz="1700" b="0" i="1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ao</a:t>
            </a:r>
            <a:r>
              <a:rPr lang="en-US" sz="17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 MLP — e a </a:t>
            </a:r>
            <a:r>
              <a:rPr lang="en-US" sz="1700" b="0" i="1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ideia</a:t>
            </a:r>
            <a:r>
              <a:rPr lang="en-US" sz="17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 de embeddings (</a:t>
            </a:r>
            <a:r>
              <a:rPr lang="en-US" sz="1700" b="0" i="1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representação</a:t>
            </a:r>
            <a:r>
              <a:rPr lang="en-US" sz="17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 </a:t>
            </a:r>
            <a:r>
              <a:rPr lang="en-US" sz="1700" b="0" i="1" strike="noStrike" spc="-1" dirty="0" err="1">
                <a:solidFill>
                  <a:srgbClr val="CADCFC"/>
                </a:solidFill>
                <a:latin typeface="Calibri"/>
                <a:ea typeface="Calibri"/>
              </a:rPr>
              <a:t>distribuída</a:t>
            </a:r>
            <a:r>
              <a:rPr lang="en-US" sz="1700" b="0" i="1" strike="noStrike" spc="-1" dirty="0">
                <a:solidFill>
                  <a:srgbClr val="CADCFC"/>
                </a:solidFill>
                <a:latin typeface="Calibri"/>
                <a:ea typeface="Calibri"/>
              </a:rPr>
              <a:t>)</a:t>
            </a:r>
            <a:endParaRPr lang="en-US" sz="1700" b="0" strike="noStrike" spc="-1" dirty="0">
              <a:solidFill>
                <a:srgbClr val="FFFFFF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26530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Onde o Deep Learning se encaixa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É um ramo do Machine Learning — redes neurais com muitas camadas.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2"/>
          <p:cNvSpPr/>
          <p:nvPr/>
        </p:nvSpPr>
        <p:spPr>
          <a:xfrm>
            <a:off x="548640" y="2011680"/>
            <a:ext cx="11063880" cy="109692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3"/>
          <p:cNvSpPr/>
          <p:nvPr/>
        </p:nvSpPr>
        <p:spPr>
          <a:xfrm>
            <a:off x="548640" y="2011680"/>
            <a:ext cx="127800" cy="1096920"/>
          </a:xfrm>
          <a:prstGeom prst="roundRect">
            <a:avLst>
              <a:gd name="adj" fmla="val 14286"/>
            </a:avLst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868680" y="219456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1E2761"/>
                </a:solidFill>
                <a:latin typeface="Cambria"/>
                <a:ea typeface="Cambria"/>
              </a:rPr>
              <a:t>Machine Learning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4663440" y="2194560"/>
            <a:ext cx="67662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A6072"/>
                </a:solidFill>
                <a:latin typeface="Calibri"/>
                <a:ea typeface="Calibri"/>
              </a:rPr>
              <a:t>aprende padrões de dados; features definidas por humanos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Shape 6"/>
          <p:cNvSpPr/>
          <p:nvPr/>
        </p:nvSpPr>
        <p:spPr>
          <a:xfrm>
            <a:off x="548640" y="3291840"/>
            <a:ext cx="11063880" cy="109692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Shape 7"/>
          <p:cNvSpPr/>
          <p:nvPr/>
        </p:nvSpPr>
        <p:spPr>
          <a:xfrm>
            <a:off x="548640" y="3291840"/>
            <a:ext cx="127800" cy="1096920"/>
          </a:xfrm>
          <a:prstGeom prst="roundRect">
            <a:avLst>
              <a:gd name="adj" fmla="val 14286"/>
            </a:avLst>
          </a:prstGeom>
          <a:solidFill>
            <a:srgbClr val="49B3A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8"/>
          <p:cNvSpPr/>
          <p:nvPr/>
        </p:nvSpPr>
        <p:spPr>
          <a:xfrm>
            <a:off x="868680" y="347472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1E2761"/>
                </a:solidFill>
                <a:latin typeface="Cambria"/>
                <a:ea typeface="Cambria"/>
              </a:rPr>
              <a:t>Deep Learning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4663440" y="3474720"/>
            <a:ext cx="67662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A6072"/>
                </a:solidFill>
                <a:latin typeface="Calibri"/>
                <a:ea typeface="Calibri"/>
              </a:rPr>
              <a:t>redes neurais profundas; aprende as próprias representações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10"/>
          <p:cNvSpPr/>
          <p:nvPr/>
        </p:nvSpPr>
        <p:spPr>
          <a:xfrm>
            <a:off x="548640" y="4572000"/>
            <a:ext cx="11063880" cy="1096920"/>
          </a:xfrm>
          <a:prstGeom prst="roundRect">
            <a:avLst>
              <a:gd name="adj" fmla="val 6667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Shape 11"/>
          <p:cNvSpPr/>
          <p:nvPr/>
        </p:nvSpPr>
        <p:spPr>
          <a:xfrm>
            <a:off x="548640" y="4572000"/>
            <a:ext cx="127800" cy="1096920"/>
          </a:xfrm>
          <a:prstGeom prst="roundRect">
            <a:avLst>
              <a:gd name="adj" fmla="val 14286"/>
            </a:avLst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12"/>
          <p:cNvSpPr/>
          <p:nvPr/>
        </p:nvSpPr>
        <p:spPr>
          <a:xfrm>
            <a:off x="868680" y="4754880"/>
            <a:ext cx="36572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1E2761"/>
                </a:solidFill>
                <a:latin typeface="Cambria"/>
                <a:ea typeface="Cambria"/>
              </a:rPr>
              <a:t>A diferença-chave</a:t>
            </a:r>
            <a:endParaRPr lang="en-US" sz="1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4663440" y="4754880"/>
            <a:ext cx="676620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5A6072"/>
                </a:solidFill>
                <a:latin typeface="Calibri"/>
                <a:ea typeface="Calibri"/>
              </a:rPr>
              <a:t>o DL descobre sozinho QUAIS características importam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14"/>
          <p:cNvSpPr/>
          <p:nvPr/>
        </p:nvSpPr>
        <p:spPr>
          <a:xfrm>
            <a:off x="548640" y="562356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No ML </a:t>
            </a:r>
            <a:r>
              <a:rPr lang="en-US" sz="135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clássico</a:t>
            </a: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, o </a:t>
            </a:r>
            <a:r>
              <a:rPr lang="en-US" sz="135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humano</a:t>
            </a: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 </a:t>
            </a:r>
            <a:r>
              <a:rPr lang="en-US" sz="135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escolhe</a:t>
            </a: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 as features (ex.: horsepower, </a:t>
            </a:r>
            <a:r>
              <a:rPr lang="en-US" sz="135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enginesize</a:t>
            </a: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). No DL, a rede as </a:t>
            </a:r>
            <a:r>
              <a:rPr lang="en-US" sz="135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aprende</a:t>
            </a: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 — </a:t>
            </a:r>
            <a:r>
              <a:rPr lang="en-US" sz="135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daí</a:t>
            </a: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 </a:t>
            </a:r>
            <a:r>
              <a:rPr lang="en-US" sz="135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funcionar</a:t>
            </a: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 </a:t>
            </a:r>
            <a:r>
              <a:rPr lang="en-US" sz="135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tão</a:t>
            </a: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 </a:t>
            </a:r>
            <a:r>
              <a:rPr lang="en-US" sz="135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bem</a:t>
            </a: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 com </a:t>
            </a:r>
            <a:r>
              <a:rPr lang="en-US" sz="135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imagem</a:t>
            </a: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, </a:t>
            </a:r>
            <a:r>
              <a:rPr lang="en-US" sz="135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áudio</a:t>
            </a: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 e </a:t>
            </a:r>
            <a:r>
              <a:rPr lang="en-US" sz="1350" b="0" i="1" strike="noStrike" spc="-1" dirty="0" err="1">
                <a:solidFill>
                  <a:srgbClr val="6E79A0"/>
                </a:solidFill>
                <a:latin typeface="Calibri"/>
                <a:ea typeface="Calibri"/>
              </a:rPr>
              <a:t>texto</a:t>
            </a:r>
            <a:r>
              <a:rPr lang="en-US" sz="135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.</a:t>
            </a:r>
            <a:endParaRPr lang="en-US" sz="13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A1583E96-8391-824C-848D-2902C8B1675D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C1B09D48-7201-74CD-4855-902889AF5997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2</a:t>
            </a:fld>
            <a:endParaRPr sz="9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96A9D27-481B-E154-C12F-6DFC9E61E493}"/>
              </a:ext>
            </a:extLst>
          </p:cNvPr>
          <p:cNvSpPr txBox="1"/>
          <p:nvPr/>
        </p:nvSpPr>
        <p:spPr>
          <a:xfrm>
            <a:off x="2399533" y="6159133"/>
            <a:ext cx="802708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strike="noStrike" spc="-1" dirty="0">
                <a:solidFill>
                  <a:srgbClr val="FF0000"/>
                </a:solidFill>
                <a:latin typeface="Arial"/>
              </a:rPr>
              <a:t>A </a:t>
            </a:r>
            <a:r>
              <a:rPr lang="en-US" sz="1050" b="0" strike="noStrike" spc="-1" dirty="0" err="1">
                <a:solidFill>
                  <a:srgbClr val="FF0000"/>
                </a:solidFill>
                <a:latin typeface="Arial"/>
              </a:rPr>
              <a:t>grande</a:t>
            </a:r>
            <a:r>
              <a:rPr lang="en-US" sz="105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050" b="0" strike="noStrike" spc="-1" dirty="0" err="1">
                <a:solidFill>
                  <a:srgbClr val="FF0000"/>
                </a:solidFill>
                <a:latin typeface="Arial"/>
              </a:rPr>
              <a:t>virada</a:t>
            </a:r>
            <a:r>
              <a:rPr lang="en-US" sz="1050" b="0" strike="noStrike" spc="-1" dirty="0">
                <a:solidFill>
                  <a:srgbClr val="FF0000"/>
                </a:solidFill>
                <a:latin typeface="Arial"/>
              </a:rPr>
              <a:t> do DL: </a:t>
            </a:r>
            <a:r>
              <a:rPr lang="en-US" sz="1050" b="0" strike="noStrike" spc="-1" dirty="0" err="1">
                <a:solidFill>
                  <a:srgbClr val="FF0000"/>
                </a:solidFill>
                <a:latin typeface="Arial"/>
              </a:rPr>
              <a:t>aprender</a:t>
            </a:r>
            <a:r>
              <a:rPr lang="en-US" sz="105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050" b="0" strike="noStrike" spc="-1" dirty="0" err="1">
                <a:solidFill>
                  <a:srgbClr val="FF0000"/>
                </a:solidFill>
                <a:latin typeface="Arial"/>
              </a:rPr>
              <a:t>representações</a:t>
            </a:r>
            <a:r>
              <a:rPr lang="en-US" sz="105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050" b="0" strike="noStrike" spc="-1" dirty="0" err="1">
                <a:solidFill>
                  <a:srgbClr val="FF0000"/>
                </a:solidFill>
                <a:latin typeface="Arial"/>
              </a:rPr>
              <a:t>em</a:t>
            </a:r>
            <a:r>
              <a:rPr lang="en-US" sz="105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050" b="0" strike="noStrike" spc="-1" dirty="0" err="1">
                <a:solidFill>
                  <a:srgbClr val="FF0000"/>
                </a:solidFill>
                <a:latin typeface="Arial"/>
              </a:rPr>
              <a:t>vez</a:t>
            </a:r>
            <a:r>
              <a:rPr lang="en-US" sz="1050" b="0" strike="noStrike" spc="-1" dirty="0">
                <a:solidFill>
                  <a:srgbClr val="FF0000"/>
                </a:solidFill>
                <a:latin typeface="Arial"/>
              </a:rPr>
              <a:t> de </a:t>
            </a:r>
            <a:r>
              <a:rPr lang="en-US" sz="1050" b="0" strike="noStrike" spc="-1" dirty="0" err="1">
                <a:solidFill>
                  <a:srgbClr val="FF0000"/>
                </a:solidFill>
                <a:latin typeface="Arial"/>
              </a:rPr>
              <a:t>recebê</a:t>
            </a:r>
            <a:r>
              <a:rPr lang="en-US" sz="1050" b="0" strike="noStrike" spc="-1" dirty="0">
                <a:solidFill>
                  <a:srgbClr val="FF0000"/>
                </a:solidFill>
                <a:latin typeface="Arial"/>
              </a:rPr>
              <a:t>-las </a:t>
            </a:r>
            <a:r>
              <a:rPr lang="en-US" sz="1050" b="0" strike="noStrike" spc="-1" dirty="0" err="1">
                <a:solidFill>
                  <a:srgbClr val="FF0000"/>
                </a:solidFill>
                <a:latin typeface="Arial"/>
              </a:rPr>
              <a:t>prontas</a:t>
            </a:r>
            <a:r>
              <a:rPr lang="en-US" sz="1050" b="0" strike="noStrike" spc="-1" dirty="0">
                <a:solidFill>
                  <a:srgbClr val="FF0000"/>
                </a:solidFill>
                <a:latin typeface="Arial"/>
              </a:rPr>
              <a:t>. É o que o </a:t>
            </a:r>
            <a:r>
              <a:rPr lang="en-US" sz="1050" b="0" strike="noStrike" spc="-1" dirty="0" err="1">
                <a:solidFill>
                  <a:srgbClr val="FF0000"/>
                </a:solidFill>
                <a:latin typeface="Arial"/>
              </a:rPr>
              <a:t>torna</a:t>
            </a:r>
            <a:r>
              <a:rPr lang="en-US" sz="1050" b="0" strike="noStrike" spc="-1" dirty="0">
                <a:solidFill>
                  <a:srgbClr val="FF0000"/>
                </a:solidFill>
                <a:latin typeface="Arial"/>
              </a:rPr>
              <a:t> forte </a:t>
            </a:r>
            <a:r>
              <a:rPr lang="en-US" sz="1050" b="0" strike="noStrike" spc="-1" dirty="0" err="1">
                <a:solidFill>
                  <a:srgbClr val="FF0000"/>
                </a:solidFill>
                <a:latin typeface="Arial"/>
              </a:rPr>
              <a:t>em</a:t>
            </a:r>
            <a:r>
              <a:rPr lang="en-US" sz="1050" b="0" strike="noStrike" spc="-1" dirty="0">
                <a:solidFill>
                  <a:srgbClr val="FF0000"/>
                </a:solidFill>
                <a:latin typeface="Arial"/>
              </a:rPr>
              <a:t> dados </a:t>
            </a:r>
            <a:r>
              <a:rPr lang="en-US" sz="1050" b="0" strike="noStrike" spc="-1" dirty="0" err="1">
                <a:solidFill>
                  <a:srgbClr val="FF0000"/>
                </a:solidFill>
                <a:latin typeface="Arial"/>
              </a:rPr>
              <a:t>não</a:t>
            </a:r>
            <a:r>
              <a:rPr lang="en-US" sz="105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050" b="0" strike="noStrike" spc="-1" dirty="0" err="1">
                <a:solidFill>
                  <a:srgbClr val="FF0000"/>
                </a:solidFill>
                <a:latin typeface="Arial"/>
              </a:rPr>
              <a:t>estruturados</a:t>
            </a:r>
            <a:r>
              <a:rPr lang="en-US" sz="1050" b="0" strike="noStrike" spc="-1" dirty="0">
                <a:solidFill>
                  <a:srgbClr val="FF0000"/>
                </a:solidFill>
                <a:latin typeface="Arial"/>
              </a:rPr>
              <a:t>!</a:t>
            </a:r>
            <a:endParaRPr lang="pt-BR" sz="105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O neurônio artificial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A unidade básica: soma ponderada das entradas + uma função de ativação.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822960" y="2194560"/>
            <a:ext cx="456840" cy="456840"/>
          </a:xfrm>
          <a:prstGeom prst="ellipse">
            <a:avLst/>
          </a:prstGeom>
          <a:solidFill>
            <a:srgbClr val="9FBC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3"/>
          <p:cNvSpPr/>
          <p:nvPr/>
        </p:nvSpPr>
        <p:spPr>
          <a:xfrm>
            <a:off x="822960" y="21945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alibri"/>
                <a:ea typeface="Calibri"/>
              </a:rPr>
              <a:t>x1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4"/>
          <p:cNvSpPr/>
          <p:nvPr/>
        </p:nvSpPr>
        <p:spPr>
          <a:xfrm>
            <a:off x="1280160" y="2423160"/>
            <a:ext cx="1920240" cy="914400"/>
          </a:xfrm>
          <a:prstGeom prst="line">
            <a:avLst/>
          </a:prstGeom>
          <a:ln w="19050">
            <a:solidFill>
              <a:srgbClr val="4F7B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5"/>
          <p:cNvSpPr/>
          <p:nvPr/>
        </p:nvSpPr>
        <p:spPr>
          <a:xfrm>
            <a:off x="1645920" y="2382347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w1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6"/>
          <p:cNvSpPr/>
          <p:nvPr/>
        </p:nvSpPr>
        <p:spPr>
          <a:xfrm>
            <a:off x="822960" y="3017520"/>
            <a:ext cx="456840" cy="456840"/>
          </a:xfrm>
          <a:prstGeom prst="ellipse">
            <a:avLst/>
          </a:prstGeom>
          <a:solidFill>
            <a:srgbClr val="9FBC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Text 7"/>
          <p:cNvSpPr/>
          <p:nvPr/>
        </p:nvSpPr>
        <p:spPr>
          <a:xfrm>
            <a:off x="822960" y="301752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alibri"/>
                <a:ea typeface="Calibri"/>
              </a:rPr>
              <a:t>x2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Shape 8"/>
          <p:cNvSpPr/>
          <p:nvPr/>
        </p:nvSpPr>
        <p:spPr>
          <a:xfrm>
            <a:off x="1280160" y="3246120"/>
            <a:ext cx="1920240" cy="91440"/>
          </a:xfrm>
          <a:prstGeom prst="line">
            <a:avLst/>
          </a:prstGeom>
          <a:ln w="19050">
            <a:solidFill>
              <a:srgbClr val="4F7B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9"/>
          <p:cNvSpPr/>
          <p:nvPr/>
        </p:nvSpPr>
        <p:spPr>
          <a:xfrm>
            <a:off x="1645920" y="2971800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strike="noStrike" spc="-1">
                <a:solidFill>
                  <a:srgbClr val="6E79A0"/>
                </a:solidFill>
                <a:latin typeface="Calibri"/>
                <a:ea typeface="Calibri"/>
              </a:rPr>
              <a:t>w2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0"/>
          <p:cNvSpPr/>
          <p:nvPr/>
        </p:nvSpPr>
        <p:spPr>
          <a:xfrm>
            <a:off x="822960" y="3840480"/>
            <a:ext cx="456840" cy="456840"/>
          </a:xfrm>
          <a:prstGeom prst="ellipse">
            <a:avLst/>
          </a:prstGeom>
          <a:solidFill>
            <a:srgbClr val="9FBC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822960" y="38404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1E2761"/>
                </a:solidFill>
                <a:latin typeface="Calibri"/>
                <a:ea typeface="Calibri"/>
              </a:rPr>
              <a:t>x3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12"/>
          <p:cNvSpPr/>
          <p:nvPr/>
        </p:nvSpPr>
        <p:spPr>
          <a:xfrm flipV="1">
            <a:off x="1280160" y="3337560"/>
            <a:ext cx="1920240" cy="731520"/>
          </a:xfrm>
          <a:prstGeom prst="line">
            <a:avLst/>
          </a:prstGeom>
          <a:ln w="19050">
            <a:solidFill>
              <a:srgbClr val="4F7B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13"/>
          <p:cNvSpPr/>
          <p:nvPr/>
        </p:nvSpPr>
        <p:spPr>
          <a:xfrm>
            <a:off x="1645920" y="3610349"/>
            <a:ext cx="5482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strike="noStrike" spc="-1" dirty="0">
                <a:solidFill>
                  <a:srgbClr val="6E79A0"/>
                </a:solidFill>
                <a:latin typeface="Calibri"/>
                <a:ea typeface="Calibri"/>
              </a:rPr>
              <a:t>w3</a:t>
            </a:r>
            <a:endParaRPr lang="en-US" sz="9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14"/>
          <p:cNvSpPr/>
          <p:nvPr/>
        </p:nvSpPr>
        <p:spPr>
          <a:xfrm>
            <a:off x="3200400" y="3017520"/>
            <a:ext cx="639720" cy="63972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5"/>
          <p:cNvSpPr/>
          <p:nvPr/>
        </p:nvSpPr>
        <p:spPr>
          <a:xfrm>
            <a:off x="3200400" y="30175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Σ f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Shape 16"/>
          <p:cNvSpPr/>
          <p:nvPr/>
        </p:nvSpPr>
        <p:spPr>
          <a:xfrm>
            <a:off x="3840480" y="3337560"/>
            <a:ext cx="914400" cy="360"/>
          </a:xfrm>
          <a:prstGeom prst="line">
            <a:avLst/>
          </a:prstGeom>
          <a:ln w="19050">
            <a:solidFill>
              <a:srgbClr val="4F7B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17"/>
          <p:cNvSpPr/>
          <p:nvPr/>
        </p:nvSpPr>
        <p:spPr>
          <a:xfrm>
            <a:off x="4754880" y="3108960"/>
            <a:ext cx="456840" cy="456840"/>
          </a:xfrm>
          <a:prstGeom prst="ellipse">
            <a:avLst/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Text 18"/>
          <p:cNvSpPr/>
          <p:nvPr/>
        </p:nvSpPr>
        <p:spPr>
          <a:xfrm>
            <a:off x="4754880" y="3108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1E2761"/>
                </a:solidFill>
                <a:latin typeface="Calibri"/>
                <a:ea typeface="Calibri"/>
              </a:rPr>
              <a:t>ŷ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Shape 19"/>
          <p:cNvSpPr/>
          <p:nvPr/>
        </p:nvSpPr>
        <p:spPr>
          <a:xfrm>
            <a:off x="6126480" y="2011680"/>
            <a:ext cx="5486040" cy="2285640"/>
          </a:xfrm>
          <a:prstGeom prst="roundRect">
            <a:avLst>
              <a:gd name="adj" fmla="val 3200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20"/>
          <p:cNvSpPr/>
          <p:nvPr/>
        </p:nvSpPr>
        <p:spPr>
          <a:xfrm>
            <a:off x="6400800" y="219456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FFFFF"/>
                </a:solidFill>
                <a:latin typeface="Cambria"/>
                <a:ea typeface="Cambria"/>
              </a:rPr>
              <a:t>O que ele faz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21"/>
          <p:cNvSpPr/>
          <p:nvPr/>
        </p:nvSpPr>
        <p:spPr>
          <a:xfrm>
            <a:off x="6400800" y="2606040"/>
            <a:ext cx="502884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450" b="0" strike="noStrike" spc="-1">
                <a:solidFill>
                  <a:srgbClr val="CADCFC"/>
                </a:solidFill>
                <a:latin typeface="Calibri"/>
                <a:ea typeface="Calibri"/>
              </a:rPr>
              <a:t>1. Multiplica cada entrada por um peso (w)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450" b="0" strike="noStrike" spc="-1">
                <a:solidFill>
                  <a:srgbClr val="CADCFC"/>
                </a:solidFill>
                <a:latin typeface="Calibri"/>
                <a:ea typeface="Calibri"/>
              </a:rPr>
              <a:t>2. Soma tudo (Σ) e adiciona um viés (b)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450" b="0" strike="noStrike" spc="-1">
                <a:solidFill>
                  <a:srgbClr val="CADCFC"/>
                </a:solidFill>
                <a:latin typeface="Calibri"/>
                <a:ea typeface="Calibri"/>
              </a:rPr>
              <a:t>3. Passa por uma função de ativação (f)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F2B84A"/>
                </a:solidFill>
                <a:latin typeface="Calibri"/>
                <a:ea typeface="Calibri"/>
              </a:rPr>
              <a:t>→ produz a saída ŷ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Shape 22"/>
          <p:cNvSpPr/>
          <p:nvPr/>
        </p:nvSpPr>
        <p:spPr>
          <a:xfrm>
            <a:off x="548640" y="4709160"/>
            <a:ext cx="11063880" cy="1051200"/>
          </a:xfrm>
          <a:prstGeom prst="roundRect">
            <a:avLst>
              <a:gd name="adj" fmla="val 6087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Text 23"/>
          <p:cNvSpPr/>
          <p:nvPr/>
        </p:nvSpPr>
        <p:spPr>
          <a:xfrm>
            <a:off x="822960" y="4709160"/>
            <a:ext cx="1051524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1E2761"/>
                </a:solidFill>
                <a:latin typeface="Calibri"/>
              </a:rPr>
              <a:t>A matemática essencial:   </a:t>
            </a:r>
            <a:r>
              <a:rPr lang="en-US" sz="1500" b="1" strike="noStrike" spc="-1">
                <a:solidFill>
                  <a:srgbClr val="4F7BE8"/>
                </a:solidFill>
                <a:latin typeface="Consolas"/>
                <a:ea typeface="Consolas"/>
              </a:rPr>
              <a:t>ŷ = f( w₁x₁ + w₂x₂ + w₃x₃ + b )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D64229A-06DD-3F73-5BE8-634D955AB61D}"/>
              </a:ext>
            </a:extLst>
          </p:cNvPr>
          <p:cNvSpPr txBox="1"/>
          <p:nvPr/>
        </p:nvSpPr>
        <p:spPr>
          <a:xfrm>
            <a:off x="2240279" y="5902891"/>
            <a:ext cx="85790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0" algn="ctr">
              <a:lnSpc>
                <a:spcPct val="100000"/>
              </a:lnSpc>
              <a:buNone/>
            </a:pPr>
            <a:r>
              <a:rPr lang="pt-BR" sz="1200" b="0" strike="noStrike" spc="-1">
                <a:solidFill>
                  <a:srgbClr val="FF0000"/>
                </a:solidFill>
                <a:latin typeface="Arial"/>
              </a:rPr>
              <a:t>Sobre o </a:t>
            </a:r>
            <a:r>
              <a:rPr lang="pt-BR" sz="1200" b="0" strike="noStrike" spc="-1" dirty="0" err="1">
                <a:solidFill>
                  <a:srgbClr val="FF0000"/>
                </a:solidFill>
                <a:latin typeface="Arial"/>
              </a:rPr>
              <a:t>perceptron</a:t>
            </a:r>
            <a:r>
              <a:rPr lang="pt-BR" sz="1200" b="0" strike="noStrike" spc="-1" dirty="0">
                <a:solidFill>
                  <a:srgbClr val="FF0000"/>
                </a:solidFill>
                <a:latin typeface="Arial"/>
              </a:rPr>
              <a:t>, analogias: </a:t>
            </a:r>
          </a:p>
          <a:p>
            <a:pPr marL="216000" indent="0" algn="ctr">
              <a:lnSpc>
                <a:spcPct val="100000"/>
              </a:lnSpc>
              <a:buNone/>
            </a:pPr>
            <a:r>
              <a:rPr lang="pt-BR" sz="1200" b="0" strike="noStrike" spc="-1" dirty="0">
                <a:solidFill>
                  <a:srgbClr val="FF0000"/>
                </a:solidFill>
                <a:latin typeface="Arial"/>
              </a:rPr>
              <a:t>Cada peso é a 'importância' que a rede dá àquela entrada; </a:t>
            </a:r>
          </a:p>
          <a:p>
            <a:pPr marL="216000" indent="0" algn="ctr">
              <a:lnSpc>
                <a:spcPct val="100000"/>
              </a:lnSpc>
              <a:buNone/>
            </a:pPr>
            <a:r>
              <a:rPr lang="pt-BR" sz="1200" b="0" strike="noStrike" spc="-1" dirty="0">
                <a:solidFill>
                  <a:srgbClr val="FF0000"/>
                </a:solidFill>
                <a:latin typeface="Arial"/>
              </a:rPr>
              <a:t>A ativação decide se o neurônio 'dispara’. </a:t>
            </a:r>
          </a:p>
          <a:p>
            <a:pPr marL="216000" indent="0" algn="ctr">
              <a:lnSpc>
                <a:spcPct val="100000"/>
              </a:lnSpc>
              <a:buNone/>
            </a:pPr>
            <a:r>
              <a:rPr lang="pt-BR" sz="1200" b="0" strike="noStrike" spc="-1" dirty="0">
                <a:solidFill>
                  <a:srgbClr val="FF0000"/>
                </a:solidFill>
                <a:latin typeface="Arial"/>
              </a:rPr>
              <a:t>Os pesos são o que se aprende.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2832ECE4-02CD-DEEB-DC68-D54F2DD4C126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86D962F7-1014-DFC2-08DD-C23E53BE978F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3</a:t>
            </a:fld>
            <a:endParaRPr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548640" y="4572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97">
                <a:solidFill>
                  <a:srgbClr val="4F7BE8"/>
                </a:solidFill>
                <a:latin typeface="Calibri"/>
                <a:ea typeface="Calibri"/>
              </a:rPr>
              <a:t>A PEÇA QUE DÁ PODER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502920" y="822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strike="noStrike" spc="-1">
                <a:solidFill>
                  <a:srgbClr val="FFFFFF"/>
                </a:solidFill>
                <a:latin typeface="Cambria"/>
                <a:ea typeface="Cambria"/>
              </a:rPr>
              <a:t>Função de ativação</a:t>
            </a:r>
            <a:endParaRPr lang="en-US" sz="3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2"/>
          <p:cNvSpPr/>
          <p:nvPr/>
        </p:nvSpPr>
        <p:spPr>
          <a:xfrm>
            <a:off x="548640" y="178308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CADCFC"/>
                </a:solidFill>
                <a:latin typeface="Calibri"/>
                <a:ea typeface="Calibri"/>
              </a:rPr>
              <a:t>Sem ativação, a rede seria só uma soma linear — incapaz de aprender padrões complexos. A ativação introduz a não-linearidade.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548640" y="2514600"/>
            <a:ext cx="3611520" cy="2742840"/>
          </a:xfrm>
          <a:prstGeom prst="roundRect">
            <a:avLst>
              <a:gd name="adj" fmla="val 3000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4"/>
          <p:cNvSpPr/>
          <p:nvPr/>
        </p:nvSpPr>
        <p:spPr>
          <a:xfrm>
            <a:off x="804600" y="274320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strike="noStrike" spc="-1">
                <a:solidFill>
                  <a:srgbClr val="FFFFFF"/>
                </a:solidFill>
                <a:latin typeface="Cambria"/>
                <a:ea typeface="Cambria"/>
              </a:rPr>
              <a:t>ReLU</a:t>
            </a:r>
            <a:endParaRPr lang="en-US" sz="2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5"/>
          <p:cNvSpPr/>
          <p:nvPr/>
        </p:nvSpPr>
        <p:spPr>
          <a:xfrm>
            <a:off x="804600" y="3337560"/>
            <a:ext cx="3108600" cy="548280"/>
          </a:xfrm>
          <a:prstGeom prst="roundRect">
            <a:avLst>
              <a:gd name="adj" fmla="val 8333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6"/>
          <p:cNvSpPr/>
          <p:nvPr/>
        </p:nvSpPr>
        <p:spPr>
          <a:xfrm>
            <a:off x="804600" y="333756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7FD1A8"/>
                </a:solidFill>
                <a:latin typeface="Consolas"/>
                <a:ea typeface="Consolas"/>
              </a:rPr>
              <a:t>max(0, x)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804600" y="4069080"/>
            <a:ext cx="31543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CADCFC"/>
                </a:solidFill>
                <a:latin typeface="Calibri"/>
                <a:ea typeface="Calibri"/>
              </a:rPr>
              <a:t>a mais usada hoje; simples e eficiente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4325040" y="2514600"/>
            <a:ext cx="3611520" cy="2742840"/>
          </a:xfrm>
          <a:prstGeom prst="roundRect">
            <a:avLst>
              <a:gd name="adj" fmla="val 3000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9"/>
          <p:cNvSpPr/>
          <p:nvPr/>
        </p:nvSpPr>
        <p:spPr>
          <a:xfrm>
            <a:off x="4581000" y="274320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strike="noStrike" spc="-1">
                <a:solidFill>
                  <a:srgbClr val="FFFFFF"/>
                </a:solidFill>
                <a:latin typeface="Cambria"/>
                <a:ea typeface="Cambria"/>
              </a:rPr>
              <a:t>Sigmoid</a:t>
            </a:r>
            <a:endParaRPr lang="en-US" sz="2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10"/>
          <p:cNvSpPr/>
          <p:nvPr/>
        </p:nvSpPr>
        <p:spPr>
          <a:xfrm>
            <a:off x="4581000" y="3337560"/>
            <a:ext cx="3108600" cy="548280"/>
          </a:xfrm>
          <a:prstGeom prst="roundRect">
            <a:avLst>
              <a:gd name="adj" fmla="val 8333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4581000" y="333756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7FD1A8"/>
                </a:solidFill>
                <a:latin typeface="Consolas"/>
                <a:ea typeface="Consolas"/>
              </a:rPr>
              <a:t>0 a 1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2"/>
          <p:cNvSpPr/>
          <p:nvPr/>
        </p:nvSpPr>
        <p:spPr>
          <a:xfrm>
            <a:off x="4581000" y="4069080"/>
            <a:ext cx="31543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CADCFC"/>
                </a:solidFill>
                <a:latin typeface="Calibri"/>
                <a:ea typeface="Calibri"/>
              </a:rPr>
              <a:t>para probabilidade / saída binária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13"/>
          <p:cNvSpPr/>
          <p:nvPr/>
        </p:nvSpPr>
        <p:spPr>
          <a:xfrm>
            <a:off x="8101440" y="2514600"/>
            <a:ext cx="3611520" cy="2742840"/>
          </a:xfrm>
          <a:prstGeom prst="roundRect">
            <a:avLst>
              <a:gd name="adj" fmla="val 3000"/>
            </a:avLst>
          </a:prstGeom>
          <a:solidFill>
            <a:srgbClr val="232C6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 14"/>
          <p:cNvSpPr/>
          <p:nvPr/>
        </p:nvSpPr>
        <p:spPr>
          <a:xfrm>
            <a:off x="8357760" y="274320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strike="noStrike" spc="-1">
                <a:solidFill>
                  <a:srgbClr val="FFFFFF"/>
                </a:solidFill>
                <a:latin typeface="Cambria"/>
                <a:ea typeface="Cambria"/>
              </a:rPr>
              <a:t>Tanh</a:t>
            </a:r>
            <a:endParaRPr lang="en-US" sz="23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15"/>
          <p:cNvSpPr/>
          <p:nvPr/>
        </p:nvSpPr>
        <p:spPr>
          <a:xfrm>
            <a:off x="8357760" y="3337560"/>
            <a:ext cx="3108600" cy="548280"/>
          </a:xfrm>
          <a:prstGeom prst="roundRect">
            <a:avLst>
              <a:gd name="adj" fmla="val 8333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8357760" y="333756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7FD1A8"/>
                </a:solidFill>
                <a:latin typeface="Consolas"/>
                <a:ea typeface="Consolas"/>
              </a:rPr>
              <a:t>−1 a 1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8357760" y="4069080"/>
            <a:ext cx="315432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CADCFC"/>
                </a:solidFill>
                <a:latin typeface="Calibri"/>
                <a:ea typeface="Calibri"/>
              </a:rPr>
              <a:t>centrada em zero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8E9BABE-2A29-89EC-970D-4026D079757A}"/>
              </a:ext>
            </a:extLst>
          </p:cNvPr>
          <p:cNvSpPr txBox="1"/>
          <p:nvPr/>
        </p:nvSpPr>
        <p:spPr>
          <a:xfrm>
            <a:off x="2483913" y="6001545"/>
            <a:ext cx="79795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0" algn="ctr">
              <a:lnSpc>
                <a:spcPct val="100000"/>
              </a:lnSpc>
              <a:buNone/>
            </a:pPr>
            <a:r>
              <a:rPr lang="pt-BR" sz="1400" b="0" strike="noStrike" spc="-1" dirty="0">
                <a:solidFill>
                  <a:srgbClr val="FF0000"/>
                </a:solidFill>
                <a:latin typeface="Arial"/>
              </a:rPr>
              <a:t>A não-linearidade é o que permite 'empilhar' camadas e ganhar poder expressivo.</a:t>
            </a:r>
          </a:p>
          <a:p>
            <a:pPr marL="216000" indent="0" algn="ctr">
              <a:lnSpc>
                <a:spcPct val="100000"/>
              </a:lnSpc>
              <a:buNone/>
            </a:pPr>
            <a:r>
              <a:rPr lang="pt-BR" sz="1400" b="0" strike="noStrike" spc="-1" dirty="0" err="1">
                <a:solidFill>
                  <a:srgbClr val="FF0000"/>
                </a:solidFill>
                <a:latin typeface="Arial"/>
              </a:rPr>
              <a:t>ReLU</a:t>
            </a:r>
            <a:r>
              <a:rPr lang="pt-BR" sz="1400" b="0" strike="noStrike" spc="-1" dirty="0">
                <a:solidFill>
                  <a:srgbClr val="FF0000"/>
                </a:solidFill>
                <a:latin typeface="Arial"/>
              </a:rPr>
              <a:t> é o padrão prático. Sem ativação, mil camadas = uma só (colapsam numa linear).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B3181DCA-0462-A7EA-F600-8C071D1E60E1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D5D5616E-51B1-015F-952B-B17E8C9B8757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4</a:t>
            </a:fld>
            <a:endParaRPr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MLP — Multi-Layer Perceptron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Neurônios organizados em camadas: entrada → ocultas → saída.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"/>
          <p:cNvSpPr/>
          <p:nvPr/>
        </p:nvSpPr>
        <p:spPr>
          <a:xfrm>
            <a:off x="1407960" y="2806920"/>
            <a:ext cx="1701000" cy="365760"/>
          </a:xfrm>
          <a:prstGeom prst="line">
            <a:avLst/>
          </a:prstGeom>
          <a:ln w="12700">
            <a:solidFill>
              <a:srgbClr val="D8E0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3"/>
          <p:cNvSpPr/>
          <p:nvPr/>
        </p:nvSpPr>
        <p:spPr>
          <a:xfrm>
            <a:off x="1407960" y="2806920"/>
            <a:ext cx="1701000" cy="1097280"/>
          </a:xfrm>
          <a:prstGeom prst="line">
            <a:avLst/>
          </a:prstGeom>
          <a:ln w="12700">
            <a:solidFill>
              <a:srgbClr val="D8E0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Shape 4"/>
          <p:cNvSpPr/>
          <p:nvPr/>
        </p:nvSpPr>
        <p:spPr>
          <a:xfrm>
            <a:off x="1407960" y="2806920"/>
            <a:ext cx="1701000" cy="1828800"/>
          </a:xfrm>
          <a:prstGeom prst="line">
            <a:avLst/>
          </a:prstGeom>
          <a:ln w="12700">
            <a:solidFill>
              <a:srgbClr val="D8E0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Shape 5"/>
          <p:cNvSpPr/>
          <p:nvPr/>
        </p:nvSpPr>
        <p:spPr>
          <a:xfrm flipV="1">
            <a:off x="1407960" y="3172680"/>
            <a:ext cx="1701000" cy="365760"/>
          </a:xfrm>
          <a:prstGeom prst="line">
            <a:avLst/>
          </a:prstGeom>
          <a:ln w="12700">
            <a:solidFill>
              <a:srgbClr val="D8E0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Shape 6"/>
          <p:cNvSpPr/>
          <p:nvPr/>
        </p:nvSpPr>
        <p:spPr>
          <a:xfrm>
            <a:off x="1407960" y="3538440"/>
            <a:ext cx="1701000" cy="365760"/>
          </a:xfrm>
          <a:prstGeom prst="line">
            <a:avLst/>
          </a:prstGeom>
          <a:ln w="12700">
            <a:solidFill>
              <a:srgbClr val="D8E0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Shape 7"/>
          <p:cNvSpPr/>
          <p:nvPr/>
        </p:nvSpPr>
        <p:spPr>
          <a:xfrm>
            <a:off x="1407960" y="3538440"/>
            <a:ext cx="1701000" cy="1097280"/>
          </a:xfrm>
          <a:prstGeom prst="line">
            <a:avLst/>
          </a:prstGeom>
          <a:ln w="12700">
            <a:solidFill>
              <a:srgbClr val="D8E0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8"/>
          <p:cNvSpPr/>
          <p:nvPr/>
        </p:nvSpPr>
        <p:spPr>
          <a:xfrm flipV="1">
            <a:off x="1407960" y="3172680"/>
            <a:ext cx="1701000" cy="1097280"/>
          </a:xfrm>
          <a:prstGeom prst="line">
            <a:avLst/>
          </a:prstGeom>
          <a:ln w="12700">
            <a:solidFill>
              <a:srgbClr val="D8E0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9"/>
          <p:cNvSpPr/>
          <p:nvPr/>
        </p:nvSpPr>
        <p:spPr>
          <a:xfrm flipV="1">
            <a:off x="1407960" y="3904200"/>
            <a:ext cx="1701000" cy="365760"/>
          </a:xfrm>
          <a:prstGeom prst="line">
            <a:avLst/>
          </a:prstGeom>
          <a:ln w="12700">
            <a:solidFill>
              <a:srgbClr val="D8E0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10"/>
          <p:cNvSpPr/>
          <p:nvPr/>
        </p:nvSpPr>
        <p:spPr>
          <a:xfrm>
            <a:off x="1407960" y="4269960"/>
            <a:ext cx="1701000" cy="365760"/>
          </a:xfrm>
          <a:prstGeom prst="line">
            <a:avLst/>
          </a:prstGeom>
          <a:ln w="12700">
            <a:solidFill>
              <a:srgbClr val="D8E0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11"/>
          <p:cNvSpPr/>
          <p:nvPr/>
        </p:nvSpPr>
        <p:spPr>
          <a:xfrm flipV="1">
            <a:off x="1407960" y="3172680"/>
            <a:ext cx="1701000" cy="1828800"/>
          </a:xfrm>
          <a:prstGeom prst="line">
            <a:avLst/>
          </a:prstGeom>
          <a:ln w="12700">
            <a:solidFill>
              <a:srgbClr val="D8E0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12"/>
          <p:cNvSpPr/>
          <p:nvPr/>
        </p:nvSpPr>
        <p:spPr>
          <a:xfrm flipV="1">
            <a:off x="1407960" y="3904200"/>
            <a:ext cx="1701000" cy="1097280"/>
          </a:xfrm>
          <a:prstGeom prst="line">
            <a:avLst/>
          </a:prstGeom>
          <a:ln w="12700">
            <a:solidFill>
              <a:srgbClr val="D8E0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Shape 13"/>
          <p:cNvSpPr/>
          <p:nvPr/>
        </p:nvSpPr>
        <p:spPr>
          <a:xfrm flipV="1">
            <a:off x="1407960" y="4635720"/>
            <a:ext cx="1701000" cy="365760"/>
          </a:xfrm>
          <a:prstGeom prst="line">
            <a:avLst/>
          </a:prstGeom>
          <a:ln w="12700">
            <a:solidFill>
              <a:srgbClr val="D8E0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14"/>
          <p:cNvSpPr/>
          <p:nvPr/>
        </p:nvSpPr>
        <p:spPr>
          <a:xfrm>
            <a:off x="3419640" y="3172680"/>
            <a:ext cx="1701000" cy="731520"/>
          </a:xfrm>
          <a:prstGeom prst="line">
            <a:avLst/>
          </a:prstGeom>
          <a:ln w="12700">
            <a:solidFill>
              <a:srgbClr val="D8E0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15"/>
          <p:cNvSpPr/>
          <p:nvPr/>
        </p:nvSpPr>
        <p:spPr>
          <a:xfrm>
            <a:off x="3419640" y="3904200"/>
            <a:ext cx="1701000" cy="360"/>
          </a:xfrm>
          <a:prstGeom prst="line">
            <a:avLst/>
          </a:prstGeom>
          <a:ln w="12700">
            <a:solidFill>
              <a:srgbClr val="D8E0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6"/>
          <p:cNvSpPr/>
          <p:nvPr/>
        </p:nvSpPr>
        <p:spPr>
          <a:xfrm flipV="1">
            <a:off x="3419640" y="3904200"/>
            <a:ext cx="1701000" cy="731520"/>
          </a:xfrm>
          <a:prstGeom prst="line">
            <a:avLst/>
          </a:prstGeom>
          <a:ln w="12700">
            <a:solidFill>
              <a:srgbClr val="D8E0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7"/>
          <p:cNvSpPr/>
          <p:nvPr/>
        </p:nvSpPr>
        <p:spPr>
          <a:xfrm>
            <a:off x="1097280" y="2651760"/>
            <a:ext cx="310680" cy="310680"/>
          </a:xfrm>
          <a:prstGeom prst="ellipse">
            <a:avLst/>
          </a:prstGeom>
          <a:solidFill>
            <a:srgbClr val="9FBC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Shape 18"/>
          <p:cNvSpPr/>
          <p:nvPr/>
        </p:nvSpPr>
        <p:spPr>
          <a:xfrm>
            <a:off x="1097280" y="3383280"/>
            <a:ext cx="310680" cy="310680"/>
          </a:xfrm>
          <a:prstGeom prst="ellipse">
            <a:avLst/>
          </a:prstGeom>
          <a:solidFill>
            <a:srgbClr val="9FBC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19"/>
          <p:cNvSpPr/>
          <p:nvPr/>
        </p:nvSpPr>
        <p:spPr>
          <a:xfrm>
            <a:off x="1097280" y="4114800"/>
            <a:ext cx="310680" cy="310680"/>
          </a:xfrm>
          <a:prstGeom prst="ellipse">
            <a:avLst/>
          </a:prstGeom>
          <a:solidFill>
            <a:srgbClr val="9FBC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20"/>
          <p:cNvSpPr/>
          <p:nvPr/>
        </p:nvSpPr>
        <p:spPr>
          <a:xfrm>
            <a:off x="1097280" y="4846320"/>
            <a:ext cx="310680" cy="310680"/>
          </a:xfrm>
          <a:prstGeom prst="ellipse">
            <a:avLst/>
          </a:prstGeom>
          <a:solidFill>
            <a:srgbClr val="9FBC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Shape 21"/>
          <p:cNvSpPr/>
          <p:nvPr/>
        </p:nvSpPr>
        <p:spPr>
          <a:xfrm>
            <a:off x="3108960" y="3017520"/>
            <a:ext cx="310680" cy="310680"/>
          </a:xfrm>
          <a:prstGeom prst="ellipse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Shape 22"/>
          <p:cNvSpPr/>
          <p:nvPr/>
        </p:nvSpPr>
        <p:spPr>
          <a:xfrm>
            <a:off x="3108960" y="3749040"/>
            <a:ext cx="310680" cy="310680"/>
          </a:xfrm>
          <a:prstGeom prst="ellipse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Shape 23"/>
          <p:cNvSpPr/>
          <p:nvPr/>
        </p:nvSpPr>
        <p:spPr>
          <a:xfrm>
            <a:off x="3108960" y="4480560"/>
            <a:ext cx="310680" cy="310680"/>
          </a:xfrm>
          <a:prstGeom prst="ellipse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Shape 24"/>
          <p:cNvSpPr/>
          <p:nvPr/>
        </p:nvSpPr>
        <p:spPr>
          <a:xfrm>
            <a:off x="5120640" y="3749040"/>
            <a:ext cx="310680" cy="310680"/>
          </a:xfrm>
          <a:prstGeom prst="ellipse">
            <a:avLst/>
          </a:prstGeom>
          <a:solidFill>
            <a:srgbClr val="F2B84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 25"/>
          <p:cNvSpPr/>
          <p:nvPr/>
        </p:nvSpPr>
        <p:spPr>
          <a:xfrm>
            <a:off x="868680" y="521208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E79A0"/>
                </a:solidFill>
                <a:latin typeface="Calibri"/>
                <a:ea typeface="Calibri"/>
              </a:rPr>
              <a:t>entrada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 26"/>
          <p:cNvSpPr/>
          <p:nvPr/>
        </p:nvSpPr>
        <p:spPr>
          <a:xfrm>
            <a:off x="2834640" y="521208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E79A0"/>
                </a:solidFill>
                <a:latin typeface="Calibri"/>
                <a:ea typeface="Calibri"/>
              </a:rPr>
              <a:t>ocultas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27"/>
          <p:cNvSpPr/>
          <p:nvPr/>
        </p:nvSpPr>
        <p:spPr>
          <a:xfrm>
            <a:off x="4846320" y="5212080"/>
            <a:ext cx="10054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strike="noStrike" spc="-1">
                <a:solidFill>
                  <a:srgbClr val="6E79A0"/>
                </a:solidFill>
                <a:latin typeface="Calibri"/>
                <a:ea typeface="Calibri"/>
              </a:rPr>
              <a:t>saída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Shape 28"/>
          <p:cNvSpPr/>
          <p:nvPr/>
        </p:nvSpPr>
        <p:spPr>
          <a:xfrm>
            <a:off x="6400800" y="1920240"/>
            <a:ext cx="5211720" cy="1691280"/>
          </a:xfrm>
          <a:prstGeom prst="roundRect">
            <a:avLst>
              <a:gd name="adj" fmla="val 4324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9"/>
          <p:cNvSpPr/>
          <p:nvPr/>
        </p:nvSpPr>
        <p:spPr>
          <a:xfrm>
            <a:off x="6675120" y="2084760"/>
            <a:ext cx="4663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Como aprende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 30"/>
          <p:cNvSpPr/>
          <p:nvPr/>
        </p:nvSpPr>
        <p:spPr>
          <a:xfrm>
            <a:off x="6675120" y="2487240"/>
            <a:ext cx="466308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Cada conexão tem um peso. As camadas ocultas combinam as entradas em representações cada vez mais abstratas até a saída.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Shape 31"/>
          <p:cNvSpPr/>
          <p:nvPr/>
        </p:nvSpPr>
        <p:spPr>
          <a:xfrm>
            <a:off x="6400800" y="3794760"/>
            <a:ext cx="5211720" cy="1919880"/>
          </a:xfrm>
          <a:prstGeom prst="roundRect">
            <a:avLst>
              <a:gd name="adj" fmla="val 2857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32"/>
          <p:cNvSpPr/>
          <p:nvPr/>
        </p:nvSpPr>
        <p:spPr>
          <a:xfrm>
            <a:off x="6602040" y="3931920"/>
            <a:ext cx="4809240" cy="164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200" b="0" strike="noStrike" spc="-1">
                <a:solidFill>
                  <a:srgbClr val="C79BF0"/>
                </a:solidFill>
                <a:latin typeface="Consolas"/>
                <a:ea typeface="Consolas"/>
              </a:rPr>
              <a:t>from 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keras </a:t>
            </a:r>
            <a:r>
              <a:rPr lang="en-US" sz="1200" b="0" strike="noStrike" spc="-1">
                <a:solidFill>
                  <a:srgbClr val="C79BF0"/>
                </a:solidFill>
                <a:latin typeface="Consolas"/>
                <a:ea typeface="Consolas"/>
              </a:rPr>
              <a:t>import 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Sequential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79BF0"/>
                </a:solidFill>
                <a:latin typeface="Consolas"/>
                <a:ea typeface="Consolas"/>
              </a:rPr>
              <a:t>from 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keras.layers </a:t>
            </a:r>
            <a:r>
              <a:rPr lang="en-US" sz="1200" b="0" strike="noStrike" spc="-1">
                <a:solidFill>
                  <a:srgbClr val="C79BF0"/>
                </a:solidFill>
                <a:latin typeface="Consolas"/>
                <a:ea typeface="Consolas"/>
              </a:rPr>
              <a:t>import 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Dense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model = Sequential([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  Dense(</a:t>
            </a:r>
            <a:r>
              <a:rPr lang="en-US" sz="1200" b="0" strike="noStrike" spc="-1">
                <a:solidFill>
                  <a:srgbClr val="7FB4F0"/>
                </a:solidFill>
                <a:latin typeface="Consolas"/>
                <a:ea typeface="Consolas"/>
              </a:rPr>
              <a:t>16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, activation=</a:t>
            </a:r>
            <a:r>
              <a:rPr lang="en-US" sz="1200" b="0" strike="noStrike" spc="-1">
                <a:solidFill>
                  <a:srgbClr val="7FD1A8"/>
                </a:solidFill>
                <a:latin typeface="Consolas"/>
                <a:ea typeface="Consolas"/>
              </a:rPr>
              <a:t>'relu'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),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  Dense(</a:t>
            </a:r>
            <a:r>
              <a:rPr lang="en-US" sz="1200" b="0" strike="noStrike" spc="-1">
                <a:solidFill>
                  <a:srgbClr val="7FB4F0"/>
                </a:solidFill>
                <a:latin typeface="Consolas"/>
                <a:ea typeface="Consolas"/>
              </a:rPr>
              <a:t>1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)])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97938B5-EA3D-5416-5A4F-3ECC4E2DB6CB}"/>
              </a:ext>
            </a:extLst>
          </p:cNvPr>
          <p:cNvSpPr txBox="1"/>
          <p:nvPr/>
        </p:nvSpPr>
        <p:spPr>
          <a:xfrm>
            <a:off x="2231917" y="6079487"/>
            <a:ext cx="8616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0"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MLP =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camadas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densas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totalmente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conectadas</a:t>
            </a:r>
            <a:endParaRPr lang="en-US" sz="1400" b="0" strike="noStrike" spc="-1" dirty="0">
              <a:solidFill>
                <a:srgbClr val="FF0000"/>
              </a:solidFill>
              <a:latin typeface="Arial"/>
            </a:endParaRPr>
          </a:p>
          <a:p>
            <a:pPr marL="216000" indent="0" algn="ctr">
              <a:lnSpc>
                <a:spcPct val="100000"/>
              </a:lnSpc>
              <a:buNone/>
            </a:pP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Profundidade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 (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mais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camadas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) =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representações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mais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abstratas</a:t>
            </a:r>
            <a:endParaRPr lang="en-US" sz="1400" b="0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9783ACE0-E0C7-A139-45DC-B65F045CC4B1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01F85189-F129-6347-1576-22F98650886B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5</a:t>
            </a:fld>
            <a:endParaRPr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548640" y="4572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97">
                <a:solidFill>
                  <a:srgbClr val="4F7BE8"/>
                </a:solidFill>
                <a:latin typeface="Calibri"/>
                <a:ea typeface="Calibri"/>
              </a:rPr>
              <a:t>COMO A REDE APRENDE</a:t>
            </a:r>
            <a:endParaRPr lang="en-US" sz="14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502920" y="82296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100" b="1" strike="noStrike" spc="-1">
                <a:solidFill>
                  <a:srgbClr val="FFFFFF"/>
                </a:solidFill>
                <a:latin typeface="Cambria"/>
                <a:ea typeface="Cambria"/>
              </a:rPr>
              <a:t>Treino: erro → ajuste → repete</a:t>
            </a:r>
            <a:endParaRPr lang="en-US" sz="31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Shape 2"/>
          <p:cNvSpPr/>
          <p:nvPr/>
        </p:nvSpPr>
        <p:spPr>
          <a:xfrm>
            <a:off x="640080" y="2057400"/>
            <a:ext cx="639720" cy="639720"/>
          </a:xfrm>
          <a:prstGeom prst="ellipse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3"/>
          <p:cNvSpPr/>
          <p:nvPr/>
        </p:nvSpPr>
        <p:spPr>
          <a:xfrm>
            <a:off x="640080" y="20574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1463040" y="205740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FFFFFF"/>
                </a:solidFill>
                <a:latin typeface="Cambria"/>
                <a:ea typeface="Cambria"/>
              </a:rPr>
              <a:t>Forward</a:t>
            </a:r>
            <a:endParaRPr lang="en-US" sz="1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4297680" y="2057400"/>
            <a:ext cx="72234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CADCFC"/>
                </a:solidFill>
                <a:latin typeface="Calibri"/>
                <a:ea typeface="Calibri"/>
              </a:rPr>
              <a:t>a rede faz uma previsão com os pesos atuais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6"/>
          <p:cNvSpPr/>
          <p:nvPr/>
        </p:nvSpPr>
        <p:spPr>
          <a:xfrm>
            <a:off x="640080" y="2853000"/>
            <a:ext cx="639720" cy="639720"/>
          </a:xfrm>
          <a:prstGeom prst="ellipse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640080" y="28530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1463040" y="285300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FFFFFF"/>
                </a:solidFill>
                <a:latin typeface="Cambria"/>
                <a:ea typeface="Cambria"/>
              </a:rPr>
              <a:t>Loss</a:t>
            </a:r>
            <a:endParaRPr lang="en-US" sz="1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9"/>
          <p:cNvSpPr/>
          <p:nvPr/>
        </p:nvSpPr>
        <p:spPr>
          <a:xfrm>
            <a:off x="4297680" y="2853000"/>
            <a:ext cx="72234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CADCFC"/>
                </a:solidFill>
                <a:latin typeface="Calibri"/>
                <a:ea typeface="Calibri"/>
              </a:rPr>
              <a:t>mede o erro entre a previsão e o valor real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10"/>
          <p:cNvSpPr/>
          <p:nvPr/>
        </p:nvSpPr>
        <p:spPr>
          <a:xfrm>
            <a:off x="640080" y="3648600"/>
            <a:ext cx="639720" cy="639720"/>
          </a:xfrm>
          <a:prstGeom prst="ellipse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11"/>
          <p:cNvSpPr/>
          <p:nvPr/>
        </p:nvSpPr>
        <p:spPr>
          <a:xfrm>
            <a:off x="640080" y="36486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12"/>
          <p:cNvSpPr/>
          <p:nvPr/>
        </p:nvSpPr>
        <p:spPr>
          <a:xfrm>
            <a:off x="1463040" y="364860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FFFFFF"/>
                </a:solidFill>
                <a:latin typeface="Cambria"/>
                <a:ea typeface="Cambria"/>
              </a:rPr>
              <a:t>Backprop</a:t>
            </a:r>
            <a:endParaRPr lang="en-US" sz="1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3"/>
          <p:cNvSpPr/>
          <p:nvPr/>
        </p:nvSpPr>
        <p:spPr>
          <a:xfrm>
            <a:off x="4297680" y="3648600"/>
            <a:ext cx="72234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CADCFC"/>
                </a:solidFill>
                <a:latin typeface="Calibri"/>
                <a:ea typeface="Calibri"/>
              </a:rPr>
              <a:t>calcula como cada peso contribuiu para o erro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Shape 14"/>
          <p:cNvSpPr/>
          <p:nvPr/>
        </p:nvSpPr>
        <p:spPr>
          <a:xfrm>
            <a:off x="640080" y="4443840"/>
            <a:ext cx="639720" cy="639720"/>
          </a:xfrm>
          <a:prstGeom prst="ellipse">
            <a:avLst/>
          </a:prstGeom>
          <a:solidFill>
            <a:srgbClr val="4F7BE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5"/>
          <p:cNvSpPr/>
          <p:nvPr/>
        </p:nvSpPr>
        <p:spPr>
          <a:xfrm>
            <a:off x="640080" y="444384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Text 16"/>
          <p:cNvSpPr/>
          <p:nvPr/>
        </p:nvSpPr>
        <p:spPr>
          <a:xfrm>
            <a:off x="1463040" y="4443840"/>
            <a:ext cx="27428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strike="noStrike" spc="-1">
                <a:solidFill>
                  <a:srgbClr val="FFFFFF"/>
                </a:solidFill>
                <a:latin typeface="Cambria"/>
                <a:ea typeface="Cambria"/>
              </a:rPr>
              <a:t>Update</a:t>
            </a:r>
            <a:endParaRPr lang="en-US" sz="19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17"/>
          <p:cNvSpPr/>
          <p:nvPr/>
        </p:nvSpPr>
        <p:spPr>
          <a:xfrm>
            <a:off x="4297680" y="4443840"/>
            <a:ext cx="72234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CADCFC"/>
                </a:solidFill>
                <a:latin typeface="Calibri"/>
                <a:ea typeface="Calibri"/>
              </a:rPr>
              <a:t>ajusta os pesos para reduzir o erro (gradiente)</a:t>
            </a:r>
            <a:endParaRPr lang="en-US" sz="14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 18"/>
          <p:cNvSpPr/>
          <p:nvPr/>
        </p:nvSpPr>
        <p:spPr>
          <a:xfrm>
            <a:off x="640080" y="548640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strike="noStrike" spc="-1">
                <a:solidFill>
                  <a:srgbClr val="9FBCE8"/>
                </a:solidFill>
                <a:latin typeface="Calibri"/>
                <a:ea typeface="Calibri"/>
              </a:rPr>
              <a:t>Esse ciclo repete milhares de vezes (épocas). É o mesmo princípio da regressão — função de perda + gradiente — só que em escala e com muitas camadas.</a:t>
            </a:r>
            <a:endParaRPr lang="en-US" sz="135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F3DE8473-2608-6ACC-C4CF-1E8FE32FF7B7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2A16C78C-CDD4-3AA4-C3CE-AAF49C301E5E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6</a:t>
            </a:fld>
            <a:endParaRPr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1"/>
          <p:cNvSpPr/>
          <p:nvPr/>
        </p:nvSpPr>
        <p:spPr>
          <a:xfrm>
            <a:off x="640080" y="237744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199">
                <a:solidFill>
                  <a:srgbClr val="4F7BE8"/>
                </a:solidFill>
                <a:latin typeface="Calibri"/>
                <a:ea typeface="Calibri"/>
              </a:rPr>
              <a:t>A PONTE PARA O TEXTO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 2"/>
          <p:cNvSpPr/>
          <p:nvPr/>
        </p:nvSpPr>
        <p:spPr>
          <a:xfrm>
            <a:off x="594360" y="283464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 spc="-1">
                <a:solidFill>
                  <a:srgbClr val="FFFFFF"/>
                </a:solidFill>
                <a:latin typeface="Cambria"/>
                <a:ea typeface="Cambria"/>
              </a:rPr>
              <a:t>Embeddings</a:t>
            </a:r>
            <a:endParaRPr lang="en-US" sz="40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640080" y="397764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strike="noStrike" spc="-1">
                <a:solidFill>
                  <a:srgbClr val="CADCFC"/>
                </a:solidFill>
                <a:latin typeface="Calibri"/>
                <a:ea typeface="Calibri"/>
              </a:rPr>
              <a:t>Como uma rede representa palavras — e por que isso leva aos LLMs.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56DCFD76-E616-A581-AE92-33CDF9F1ACAC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4A26478D-FC5B-1FC4-CB13-CE7EC0A41CD5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7</a:t>
            </a:fld>
            <a:endParaRPr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1E2761"/>
                </a:solidFill>
                <a:latin typeface="Cambria"/>
                <a:ea typeface="Cambria"/>
              </a:rPr>
              <a:t>Embeddings — representação distribuída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Transformar algo (palavra, item) num vetor de números que captura significado.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Shape 2"/>
          <p:cNvSpPr/>
          <p:nvPr/>
        </p:nvSpPr>
        <p:spPr>
          <a:xfrm>
            <a:off x="548640" y="1920240"/>
            <a:ext cx="5486040" cy="2742840"/>
          </a:xfrm>
          <a:prstGeom prst="roundRect">
            <a:avLst>
              <a:gd name="adj" fmla="val 2667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Text 3"/>
          <p:cNvSpPr/>
          <p:nvPr/>
        </p:nvSpPr>
        <p:spPr>
          <a:xfrm>
            <a:off x="822960" y="21031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1E2761"/>
                </a:solidFill>
                <a:latin typeface="Cambria"/>
                <a:ea typeface="Cambria"/>
              </a:rPr>
              <a:t>A ideia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4"/>
          <p:cNvSpPr/>
          <p:nvPr/>
        </p:nvSpPr>
        <p:spPr>
          <a:xfrm>
            <a:off x="822960" y="2514600"/>
            <a:ext cx="502884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400" b="0" strike="noStrike" spc="-1">
                <a:solidFill>
                  <a:srgbClr val="5A6072"/>
                </a:solidFill>
                <a:latin typeface="Calibri"/>
                <a:ea typeface="Calibri"/>
              </a:rPr>
              <a:t>Cada palavra vira um vetor. Palavras de significado parecido ficam PRÓXIMAS no espaço.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"rei"    → [0.2, 0.9, 0.1, …]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1E2761"/>
                </a:solidFill>
                <a:latin typeface="Consolas"/>
                <a:ea typeface="Consolas"/>
              </a:rPr>
              <a:t>"rainha" → [0.2, 0.8, 0.3, …]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6E79A0"/>
                </a:solidFill>
                <a:latin typeface="Consolas"/>
                <a:ea typeface="Consolas"/>
              </a:rPr>
              <a:t>"banana" → [0.9, 0.1, 0.7, …]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hape 5"/>
          <p:cNvSpPr/>
          <p:nvPr/>
        </p:nvSpPr>
        <p:spPr>
          <a:xfrm>
            <a:off x="6172200" y="1920240"/>
            <a:ext cx="5440320" cy="274284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6"/>
          <p:cNvSpPr/>
          <p:nvPr/>
        </p:nvSpPr>
        <p:spPr>
          <a:xfrm>
            <a:off x="6446520" y="210312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FFFFFF"/>
                </a:solidFill>
                <a:latin typeface="Cambria"/>
                <a:ea typeface="Cambria"/>
              </a:rPr>
              <a:t>Por que é poderoso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 7"/>
          <p:cNvSpPr/>
          <p:nvPr/>
        </p:nvSpPr>
        <p:spPr>
          <a:xfrm>
            <a:off x="6446520" y="2514600"/>
            <a:ext cx="4937400" cy="20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77840" indent="-177840" defTabSz="914400">
              <a:lnSpc>
                <a:spcPct val="100000"/>
              </a:lnSpc>
              <a:spcAft>
                <a:spcPts val="1199"/>
              </a:spcAft>
              <a:buClr>
                <a:srgbClr val="CADCFC"/>
              </a:buClr>
              <a:buFont typeface="Symbol" charset="2"/>
              <a:buChar char=""/>
            </a:pPr>
            <a:r>
              <a:rPr lang="en-US" sz="1400" b="0" strike="noStrike" spc="-1">
                <a:solidFill>
                  <a:srgbClr val="CADCFC"/>
                </a:solidFill>
                <a:latin typeface="Calibri"/>
                <a:ea typeface="Calibri"/>
              </a:rPr>
              <a:t>Captura relações de significado, não só letras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spcAft>
                <a:spcPts val="1199"/>
              </a:spcAft>
              <a:buClr>
                <a:srgbClr val="CADCFC"/>
              </a:buClr>
              <a:buFont typeface="Symbol" charset="2"/>
              <a:buChar char=""/>
            </a:pPr>
            <a:r>
              <a:rPr lang="en-US" sz="1400" b="0" strike="noStrike" spc="-1">
                <a:solidFill>
                  <a:srgbClr val="CADCFC"/>
                </a:solidFill>
                <a:latin typeface="Calibri"/>
                <a:ea typeface="Calibri"/>
              </a:rPr>
              <a:t>Permite "medir distância" entre conceitos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  <a:p>
            <a:pPr marL="177840" indent="-177840" defTabSz="914400">
              <a:lnSpc>
                <a:spcPct val="100000"/>
              </a:lnSpc>
              <a:buClr>
                <a:srgbClr val="F2B84A"/>
              </a:buClr>
              <a:buFont typeface="Symbol" charset="2"/>
              <a:buChar char=""/>
            </a:pPr>
            <a:r>
              <a:rPr lang="en-US" sz="1400" b="0" strike="noStrike" spc="-1">
                <a:solidFill>
                  <a:srgbClr val="F2B84A"/>
                </a:solidFill>
                <a:latin typeface="Calibri"/>
                <a:ea typeface="Calibri"/>
              </a:rPr>
              <a:t>É a base da busca semântica e do RAG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8"/>
          <p:cNvSpPr/>
          <p:nvPr/>
        </p:nvSpPr>
        <p:spPr>
          <a:xfrm>
            <a:off x="548640" y="489204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strike="noStrike" spc="-1">
                <a:solidFill>
                  <a:srgbClr val="6E79A0"/>
                </a:solidFill>
                <a:latin typeface="Calibri"/>
                <a:ea typeface="Calibri"/>
              </a:rPr>
              <a:t>"Distribuída" = o significado está espalhado por várias dimensões do vetor, não numa única característica.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9E895C4-1726-F02B-D4E9-C4834B350FBA}"/>
              </a:ext>
            </a:extLst>
          </p:cNvPr>
          <p:cNvSpPr txBox="1"/>
          <p:nvPr/>
        </p:nvSpPr>
        <p:spPr>
          <a:xfrm>
            <a:off x="3123689" y="5860142"/>
            <a:ext cx="60970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6000" indent="0" algn="ctr">
              <a:lnSpc>
                <a:spcPct val="100000"/>
              </a:lnSpc>
              <a:buNone/>
            </a:pP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Palavra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 →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vetor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;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proximidade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 =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similaridade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 de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significado</a:t>
            </a:r>
            <a:endParaRPr lang="en-US" sz="1400" b="0" strike="noStrike" spc="-1" dirty="0">
              <a:solidFill>
                <a:srgbClr val="FF0000"/>
              </a:solidFill>
              <a:latin typeface="Arial"/>
            </a:endParaRPr>
          </a:p>
          <a:p>
            <a:pPr marL="216000" indent="0"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É o que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conecta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 DL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clássico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 com a IA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generativa</a:t>
            </a:r>
            <a:endParaRPr lang="en-US" sz="1400" b="0" strike="noStrike" spc="-1" dirty="0">
              <a:solidFill>
                <a:srgbClr val="FF0000"/>
              </a:solidFill>
              <a:latin typeface="Arial"/>
            </a:endParaRPr>
          </a:p>
          <a:p>
            <a:pPr marL="216000" indent="0"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Veja o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exemplo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 rei/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rainha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/banana para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fixar</a:t>
            </a:r>
            <a:r>
              <a:rPr lang="en-US" sz="1400" b="0" strike="noStrike" spc="-1" dirty="0">
                <a:solidFill>
                  <a:srgbClr val="FF0000"/>
                </a:solidFill>
                <a:latin typeface="Arial"/>
              </a:rPr>
              <a:t> a </a:t>
            </a:r>
            <a:r>
              <a:rPr lang="en-US" sz="1400" b="0" strike="noStrike" spc="-1" dirty="0" err="1">
                <a:solidFill>
                  <a:srgbClr val="FF0000"/>
                </a:solidFill>
                <a:latin typeface="Arial"/>
              </a:rPr>
              <a:t>intuição</a:t>
            </a:r>
            <a:endParaRPr lang="en-US" sz="1400" b="0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244A33D3-3CCE-4EF5-3BC5-0CF004D1982C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D8BAC3EC-2C0E-9975-7C77-55B2A5B99B5B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8</a:t>
            </a:fld>
            <a:endParaRPr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na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prática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5A6072"/>
                </a:solidFill>
                <a:latin typeface="Calibri"/>
                <a:ea typeface="Calibri"/>
              </a:rPr>
              <a:t>Uma camada que aprende os vetores durante o treino.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Shape 2"/>
          <p:cNvSpPr/>
          <p:nvPr/>
        </p:nvSpPr>
        <p:spPr>
          <a:xfrm>
            <a:off x="548640" y="1920240"/>
            <a:ext cx="6674760" cy="2194200"/>
          </a:xfrm>
          <a:prstGeom prst="roundRect">
            <a:avLst>
              <a:gd name="adj" fmla="val 2500"/>
            </a:avLst>
          </a:prstGeom>
          <a:solidFill>
            <a:srgbClr val="12183A"/>
          </a:solidFill>
          <a:ln w="12700">
            <a:solidFill>
              <a:srgbClr val="2A356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749880" y="2057400"/>
            <a:ext cx="6272280" cy="191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200" b="0" strike="noStrike" spc="-1">
                <a:solidFill>
                  <a:srgbClr val="C79BF0"/>
                </a:solidFill>
                <a:latin typeface="Consolas"/>
                <a:ea typeface="Consolas"/>
              </a:rPr>
              <a:t>from 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keras.layers </a:t>
            </a:r>
            <a:r>
              <a:rPr lang="en-US" sz="1200" b="0" strike="noStrike" spc="-1">
                <a:solidFill>
                  <a:srgbClr val="C79BF0"/>
                </a:solidFill>
                <a:latin typeface="Consolas"/>
                <a:ea typeface="Consolas"/>
              </a:rPr>
              <a:t>import 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Embedding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6E79A0"/>
                </a:solidFill>
                <a:latin typeface="Consolas"/>
                <a:ea typeface="Consolas"/>
              </a:rPr>
              <a:t># vocabulário de 10 000 palavras,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6E79A0"/>
                </a:solidFill>
                <a:latin typeface="Consolas"/>
                <a:ea typeface="Consolas"/>
              </a:rPr>
              <a:t># cada uma vira um vetor de 128 dimensões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Embedding(input_dim=</a:t>
            </a:r>
            <a:r>
              <a:rPr lang="en-US" sz="1200" b="0" strike="noStrike" spc="-1">
                <a:solidFill>
                  <a:srgbClr val="7FB4F0"/>
                </a:solidFill>
                <a:latin typeface="Consolas"/>
                <a:ea typeface="Consolas"/>
              </a:rPr>
              <a:t>10000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, output_dim=</a:t>
            </a:r>
            <a:r>
              <a:rPr lang="en-US" sz="1200" b="0" strike="noStrike" spc="-1">
                <a:solidFill>
                  <a:srgbClr val="7FB4F0"/>
                </a:solidFill>
                <a:latin typeface="Consolas"/>
                <a:ea typeface="Consolas"/>
              </a:rPr>
              <a:t>128</a:t>
            </a:r>
            <a:r>
              <a:rPr lang="en-US" sz="1200" b="0" strike="noStrike" spc="-1">
                <a:solidFill>
                  <a:srgbClr val="CADCFC"/>
                </a:solidFill>
                <a:latin typeface="Consolas"/>
                <a:ea typeface="Consolas"/>
              </a:rPr>
              <a:t>)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4"/>
          <p:cNvSpPr/>
          <p:nvPr/>
        </p:nvSpPr>
        <p:spPr>
          <a:xfrm>
            <a:off x="7452360" y="1920240"/>
            <a:ext cx="4160160" cy="2194200"/>
          </a:xfrm>
          <a:prstGeom prst="roundRect">
            <a:avLst>
              <a:gd name="adj" fmla="val 3333"/>
            </a:avLst>
          </a:prstGeom>
          <a:solidFill>
            <a:srgbClr val="EDF1FA"/>
          </a:solidFill>
          <a:ln w="12700">
            <a:solidFill>
              <a:srgbClr val="CFDBF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7726680" y="2084760"/>
            <a:ext cx="36572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1E2761"/>
                </a:solidFill>
                <a:latin typeface="Cambria"/>
                <a:ea typeface="Cambria"/>
              </a:rPr>
              <a:t>O que acontece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6"/>
          <p:cNvSpPr/>
          <p:nvPr/>
        </p:nvSpPr>
        <p:spPr>
          <a:xfrm>
            <a:off x="7726680" y="2487240"/>
            <a:ext cx="3657240" cy="1462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5A6072"/>
                </a:solidFill>
                <a:latin typeface="Calibri"/>
                <a:ea typeface="Calibri"/>
              </a:rPr>
              <a:t>A camada começa com vetores aleatórios e, durante o treino, ajusta-os até palavras parecidas ficarem próximas.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Shape 7"/>
          <p:cNvSpPr/>
          <p:nvPr/>
        </p:nvSpPr>
        <p:spPr>
          <a:xfrm>
            <a:off x="548640" y="4480560"/>
            <a:ext cx="11063880" cy="137124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9"/>
          <p:cNvSpPr/>
          <p:nvPr/>
        </p:nvSpPr>
        <p:spPr>
          <a:xfrm>
            <a:off x="822960" y="4847851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1450" b="0" strike="noStrike" spc="-1" dirty="0">
                <a:solidFill>
                  <a:srgbClr val="CADCFC"/>
                </a:solidFill>
                <a:latin typeface="Calibri"/>
              </a:rPr>
              <a:t>Se </a:t>
            </a:r>
            <a:r>
              <a:rPr lang="en-US" sz="1450" b="0" strike="noStrike" spc="-1" dirty="0" err="1">
                <a:solidFill>
                  <a:srgbClr val="CADCFC"/>
                </a:solidFill>
                <a:latin typeface="Calibri"/>
              </a:rPr>
              <a:t>palavras</a:t>
            </a:r>
            <a:r>
              <a:rPr lang="en-US" sz="1450" b="0" strike="noStrike" spc="-1" dirty="0">
                <a:solidFill>
                  <a:srgbClr val="CADCFC"/>
                </a:solidFill>
                <a:latin typeface="Calibri"/>
              </a:rPr>
              <a:t> </a:t>
            </a:r>
            <a:r>
              <a:rPr lang="en-US" sz="1450" b="0" strike="noStrike" spc="-1" dirty="0" err="1">
                <a:solidFill>
                  <a:srgbClr val="CADCFC"/>
                </a:solidFill>
                <a:latin typeface="Calibri"/>
              </a:rPr>
              <a:t>viram</a:t>
            </a:r>
            <a:r>
              <a:rPr lang="en-US" sz="1450" b="0" strike="noStrike" spc="-1" dirty="0">
                <a:solidFill>
                  <a:srgbClr val="CADCFC"/>
                </a:solidFill>
                <a:latin typeface="Calibri"/>
              </a:rPr>
              <a:t> </a:t>
            </a:r>
            <a:r>
              <a:rPr lang="en-US" sz="1450" b="0" strike="noStrike" spc="-1" dirty="0" err="1">
                <a:solidFill>
                  <a:srgbClr val="CADCFC"/>
                </a:solidFill>
                <a:latin typeface="Calibri"/>
              </a:rPr>
              <a:t>vetores</a:t>
            </a:r>
            <a:r>
              <a:rPr lang="en-US" sz="1450" b="0" strike="noStrike" spc="-1" dirty="0">
                <a:solidFill>
                  <a:srgbClr val="CADCFC"/>
                </a:solidFill>
                <a:latin typeface="Calibri"/>
              </a:rPr>
              <a:t> e a rede </a:t>
            </a:r>
            <a:r>
              <a:rPr lang="en-US" sz="1450" b="0" strike="noStrike" spc="-1" dirty="0" err="1">
                <a:solidFill>
                  <a:srgbClr val="CADCFC"/>
                </a:solidFill>
                <a:latin typeface="Calibri"/>
              </a:rPr>
              <a:t>aprende</a:t>
            </a:r>
            <a:r>
              <a:rPr lang="en-US" sz="1450" b="0" strike="noStrike" spc="-1" dirty="0">
                <a:solidFill>
                  <a:srgbClr val="CADCFC"/>
                </a:solidFill>
                <a:latin typeface="Calibri"/>
              </a:rPr>
              <a:t> a </a:t>
            </a:r>
            <a:r>
              <a:rPr lang="en-US" sz="1450" b="0" strike="noStrike" spc="-1" dirty="0" err="1">
                <a:solidFill>
                  <a:srgbClr val="CADCFC"/>
                </a:solidFill>
                <a:latin typeface="Calibri"/>
              </a:rPr>
              <a:t>combiná-los</a:t>
            </a:r>
            <a:r>
              <a:rPr lang="en-US" sz="1450" b="0" strike="noStrike" spc="-1" dirty="0">
                <a:solidFill>
                  <a:srgbClr val="CADCFC"/>
                </a:solidFill>
                <a:latin typeface="Calibri"/>
              </a:rPr>
              <a:t>… o </a:t>
            </a:r>
            <a:r>
              <a:rPr lang="en-US" sz="1450" b="0" strike="noStrike" spc="-1" dirty="0" err="1">
                <a:solidFill>
                  <a:srgbClr val="CADCFC"/>
                </a:solidFill>
                <a:latin typeface="Calibri"/>
              </a:rPr>
              <a:t>próximo</a:t>
            </a:r>
            <a:r>
              <a:rPr lang="en-US" sz="1450" b="0" strike="noStrike" spc="-1" dirty="0">
                <a:solidFill>
                  <a:srgbClr val="CADCFC"/>
                </a:solidFill>
                <a:latin typeface="Calibri"/>
              </a:rPr>
              <a:t> </a:t>
            </a:r>
            <a:r>
              <a:rPr lang="en-US" sz="1450" b="0" strike="noStrike" spc="-1" dirty="0" err="1">
                <a:solidFill>
                  <a:srgbClr val="CADCFC"/>
                </a:solidFill>
                <a:latin typeface="Calibri"/>
              </a:rPr>
              <a:t>passo</a:t>
            </a:r>
            <a:r>
              <a:rPr lang="en-US" sz="1450" b="0" strike="noStrike" spc="-1" dirty="0">
                <a:solidFill>
                  <a:srgbClr val="CADCFC"/>
                </a:solidFill>
                <a:latin typeface="Calibri"/>
              </a:rPr>
              <a:t> é </a:t>
            </a:r>
            <a:r>
              <a:rPr lang="en-US" sz="1450" b="0" strike="noStrike" spc="-1" dirty="0" err="1">
                <a:solidFill>
                  <a:srgbClr val="CADCFC"/>
                </a:solidFill>
                <a:latin typeface="Calibri"/>
              </a:rPr>
              <a:t>uma</a:t>
            </a:r>
            <a:r>
              <a:rPr lang="en-US" sz="1450" b="0" strike="noStrike" spc="-1" dirty="0">
                <a:solidFill>
                  <a:srgbClr val="CADCFC"/>
                </a:solidFill>
                <a:latin typeface="Calibri"/>
              </a:rPr>
              <a:t> rede que, dado um </a:t>
            </a:r>
            <a:r>
              <a:rPr lang="en-US" sz="1450" b="0" strike="noStrike" spc="-1" dirty="0" err="1">
                <a:solidFill>
                  <a:srgbClr val="CADCFC"/>
                </a:solidFill>
                <a:latin typeface="Calibri"/>
              </a:rPr>
              <a:t>contexto</a:t>
            </a:r>
            <a:r>
              <a:rPr lang="en-US" sz="1450" b="0" strike="noStrike" spc="-1" dirty="0">
                <a:solidFill>
                  <a:srgbClr val="CADCFC"/>
                </a:solidFill>
                <a:latin typeface="Calibri"/>
              </a:rPr>
              <a:t> de </a:t>
            </a:r>
            <a:r>
              <a:rPr lang="en-US" sz="1450" b="0" strike="noStrike" spc="-1" dirty="0" err="1">
                <a:solidFill>
                  <a:srgbClr val="CADCFC"/>
                </a:solidFill>
                <a:latin typeface="Calibri"/>
              </a:rPr>
              <a:t>palavras</a:t>
            </a:r>
            <a:r>
              <a:rPr lang="en-US" sz="1450" b="0" strike="noStrike" spc="-1" dirty="0">
                <a:solidFill>
                  <a:srgbClr val="CADCFC"/>
                </a:solidFill>
                <a:latin typeface="Calibri"/>
              </a:rPr>
              <a:t>, </a:t>
            </a:r>
            <a:r>
              <a:rPr lang="en-US" sz="1450" b="0" strike="noStrike" spc="-1" dirty="0" err="1">
                <a:solidFill>
                  <a:srgbClr val="CADCFC"/>
                </a:solidFill>
                <a:latin typeface="Calibri"/>
              </a:rPr>
              <a:t>prevê</a:t>
            </a:r>
            <a:r>
              <a:rPr lang="en-US" sz="1450" b="0" strike="noStrike" spc="-1" dirty="0">
                <a:solidFill>
                  <a:srgbClr val="CADCFC"/>
                </a:solidFill>
                <a:latin typeface="Calibri"/>
              </a:rPr>
              <a:t> a </a:t>
            </a:r>
            <a:r>
              <a:rPr lang="en-US" sz="1450" b="0" strike="noStrike" spc="-1" dirty="0" err="1">
                <a:solidFill>
                  <a:srgbClr val="CADCFC"/>
                </a:solidFill>
                <a:latin typeface="Calibri"/>
              </a:rPr>
              <a:t>próxima</a:t>
            </a:r>
            <a:r>
              <a:rPr lang="en-US" sz="1450" b="0" strike="noStrike" spc="-1" dirty="0">
                <a:solidFill>
                  <a:srgbClr val="CADCFC"/>
                </a:solidFill>
                <a:latin typeface="Calibri"/>
              </a:rPr>
              <a:t>. </a:t>
            </a:r>
            <a:r>
              <a:rPr lang="en-US" sz="1450" b="1" strike="noStrike" spc="-1" dirty="0">
                <a:solidFill>
                  <a:srgbClr val="FF0000"/>
                </a:solidFill>
                <a:latin typeface="Calibri"/>
              </a:rPr>
              <a:t>É </a:t>
            </a:r>
            <a:r>
              <a:rPr lang="en-US" sz="1450" b="1" strike="noStrike" spc="-1" dirty="0" err="1">
                <a:solidFill>
                  <a:srgbClr val="FF0000"/>
                </a:solidFill>
                <a:latin typeface="Calibri"/>
              </a:rPr>
              <a:t>exatamente</a:t>
            </a:r>
            <a:r>
              <a:rPr lang="en-US" sz="1450" b="1" strike="noStrike" spc="-1" dirty="0">
                <a:solidFill>
                  <a:srgbClr val="FF0000"/>
                </a:solidFill>
                <a:latin typeface="Calibri"/>
              </a:rPr>
              <a:t> o que </a:t>
            </a:r>
            <a:r>
              <a:rPr lang="en-US" sz="1450" b="1" strike="noStrike" spc="-1" dirty="0" err="1">
                <a:solidFill>
                  <a:srgbClr val="FF0000"/>
                </a:solidFill>
                <a:latin typeface="Calibri"/>
              </a:rPr>
              <a:t>faz</a:t>
            </a:r>
            <a:r>
              <a:rPr lang="en-US" sz="1450" b="1" strike="noStrike" spc="-1" dirty="0">
                <a:solidFill>
                  <a:srgbClr val="FF0000"/>
                </a:solidFill>
                <a:latin typeface="Calibri"/>
              </a:rPr>
              <a:t> </a:t>
            </a:r>
            <a:r>
              <a:rPr lang="en-US" sz="1450" b="1" strike="noStrike" spc="-1" dirty="0" err="1">
                <a:solidFill>
                  <a:srgbClr val="FF0000"/>
                </a:solidFill>
                <a:latin typeface="Calibri"/>
              </a:rPr>
              <a:t>uma</a:t>
            </a:r>
            <a:r>
              <a:rPr lang="en-US" sz="1450" b="1" strike="noStrike" spc="-1" dirty="0">
                <a:solidFill>
                  <a:srgbClr val="FF0000"/>
                </a:solidFill>
                <a:latin typeface="Calibri"/>
              </a:rPr>
              <a:t> LLM !!</a:t>
            </a:r>
            <a:endParaRPr lang="en-US" sz="1450" b="0" strike="noStrike" spc="-1" dirty="0">
              <a:solidFill>
                <a:srgbClr val="FF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7E722096-1C07-69A2-F970-16698791381B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5D13A051-40B8-AFA2-4B9C-683D19E37D09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9</a:t>
            </a:fld>
            <a:endParaRPr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to 2"/>
          <p:cNvGraphicFramePr/>
          <p:nvPr>
            <p:extLst>
              <p:ext uri="{D42A27DB-BD31-4B8C-83A1-F6EECF244321}">
                <p14:modId xmlns:p14="http://schemas.microsoft.com/office/powerpoint/2010/main" val="3110351839"/>
              </p:ext>
            </p:extLst>
          </p:nvPr>
        </p:nvGraphicFramePr>
        <p:xfrm>
          <a:off x="402049" y="2035451"/>
          <a:ext cx="7501890" cy="402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7496175" imgH="4019550" progId="Paint.Picture">
                  <p:embed/>
                </p:oleObj>
              </mc:Choice>
              <mc:Fallback>
                <p:oleObj r:id="rId3" imgW="7496175" imgH="4019550" progId="Paint.Picture">
                  <p:embed/>
                  <p:pic>
                    <p:nvPicPr>
                      <p:cNvPr id="3" name="Objeto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2049" y="2035451"/>
                        <a:ext cx="7501890" cy="4022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0">
            <a:extLst>
              <a:ext uri="{FF2B5EF4-FFF2-40B4-BE49-F238E27FC236}">
                <a16:creationId xmlns:a16="http://schemas.microsoft.com/office/drawing/2014/main" id="{B2D50F3E-F381-2FD3-1A93-693AB1B775B3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na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prática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B2E6AED-09BA-9F56-156F-32FBE29B3E3C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Exemplos iniciais de Vetores representativos de </a:t>
            </a:r>
            <a:r>
              <a:rPr lang="pt-BR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Embeddings</a:t>
            </a: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com 2 dimensões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3E24FDF-7ABD-46E7-B279-DE0247F719D2}"/>
              </a:ext>
            </a:extLst>
          </p:cNvPr>
          <p:cNvSpPr txBox="1"/>
          <p:nvPr/>
        </p:nvSpPr>
        <p:spPr>
          <a:xfrm>
            <a:off x="8194429" y="2086251"/>
            <a:ext cx="3436451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hangingPunct="0"/>
            <a:r>
              <a:rPr lang="pt-BR" altLang="zh-CN" sz="1600" b="1" dirty="0" err="1">
                <a:latin typeface="Arial" panose="020B0604020202020204" pitchFamily="34" charset="0"/>
                <a:sym typeface="Arial" panose="020B0604020202020204" pitchFamily="34" charset="0"/>
              </a:rPr>
              <a:t>Embedding</a:t>
            </a:r>
            <a:r>
              <a:rPr lang="pt-BR" altLang="zh-CN" sz="1600" b="1" dirty="0">
                <a:latin typeface="Arial" panose="020B0604020202020204" pitchFamily="34" charset="0"/>
                <a:sym typeface="Arial" panose="020B0604020202020204" pitchFamily="34" charset="0"/>
              </a:rPr>
              <a:t> </a:t>
            </a:r>
            <a:r>
              <a:rPr lang="pt-BR" altLang="zh-CN" sz="1600" dirty="0">
                <a:latin typeface="Arial" panose="020B0604020202020204" pitchFamily="34" charset="0"/>
                <a:sym typeface="Arial" panose="020B0604020202020204" pitchFamily="34" charset="0"/>
              </a:rPr>
              <a:t>é a representação vetorial de um texto em um espaço multidimensional. Ou seja, um modelo (ou uma camada) de </a:t>
            </a:r>
            <a:r>
              <a:rPr lang="pt-BR" altLang="zh-CN" sz="1600" dirty="0" err="1">
                <a:latin typeface="Arial" panose="020B0604020202020204" pitchFamily="34" charset="0"/>
                <a:sym typeface="Arial" panose="020B0604020202020204" pitchFamily="34" charset="0"/>
              </a:rPr>
              <a:t>Embeddings</a:t>
            </a:r>
            <a:r>
              <a:rPr lang="pt-BR" altLang="zh-CN" sz="1600" dirty="0">
                <a:latin typeface="Arial" panose="020B0604020202020204" pitchFamily="34" charset="0"/>
                <a:sym typeface="Arial" panose="020B0604020202020204" pitchFamily="34" charset="0"/>
              </a:rPr>
              <a:t> vai transformar texto em vetores. E por texto, pode se entender como um único Token, uma palavra, ou grandes quantidades de sentenças. Todo pedaço de texto pode ser convertido em </a:t>
            </a:r>
            <a:r>
              <a:rPr lang="pt-BR" altLang="zh-CN" sz="1600" dirty="0" err="1">
                <a:latin typeface="Arial" panose="020B0604020202020204" pitchFamily="34" charset="0"/>
                <a:sym typeface="Arial" panose="020B0604020202020204" pitchFamily="34" charset="0"/>
              </a:rPr>
              <a:t>Embeddings</a:t>
            </a:r>
            <a:r>
              <a:rPr lang="pt-BR" altLang="zh-CN" sz="1600" dirty="0">
                <a:latin typeface="Arial" panose="020B0604020202020204" pitchFamily="34" charset="0"/>
                <a:sym typeface="Arial" panose="020B0604020202020204" pitchFamily="34" charset="0"/>
              </a:rPr>
              <a:t>. </a:t>
            </a:r>
          </a:p>
          <a:p>
            <a:pPr algn="just" eaLnBrk="0" hangingPunct="0"/>
            <a:endParaRPr lang="pt-BR" altLang="zh-CN" sz="1600" dirty="0">
              <a:latin typeface="Arial" panose="020B0604020202020204" pitchFamily="34" charset="0"/>
              <a:sym typeface="Arial" panose="020B0604020202020204" pitchFamily="34" charset="0"/>
            </a:endParaRPr>
          </a:p>
          <a:p>
            <a:pPr algn="just" eaLnBrk="0" hangingPunct="0"/>
            <a:r>
              <a:rPr lang="pt-BR" altLang="zh-CN" sz="1600" b="1" dirty="0">
                <a:latin typeface="Arial" panose="020B0604020202020204" pitchFamily="34" charset="0"/>
                <a:sym typeface="Arial" panose="020B0604020202020204" pitchFamily="34" charset="0"/>
              </a:rPr>
              <a:t>Importante: </a:t>
            </a:r>
            <a:r>
              <a:rPr lang="pt-BR" altLang="zh-CN" sz="1600" dirty="0">
                <a:latin typeface="Arial" panose="020B0604020202020204" pitchFamily="34" charset="0"/>
                <a:sym typeface="Arial" panose="020B0604020202020204" pitchFamily="34" charset="0"/>
              </a:rPr>
              <a:t>na prática, cada “pedaço de texto” vai ser convertido em tokens (</a:t>
            </a:r>
            <a:r>
              <a:rPr lang="pt-BR" altLang="zh-CN" sz="1600" dirty="0" err="1">
                <a:latin typeface="Arial" panose="020B0604020202020204" pitchFamily="34" charset="0"/>
                <a:sym typeface="Arial" panose="020B0604020202020204" pitchFamily="34" charset="0"/>
              </a:rPr>
              <a:t>ID+Vetor</a:t>
            </a:r>
            <a:r>
              <a:rPr lang="pt-BR" altLang="zh-CN" sz="1600" dirty="0">
                <a:latin typeface="Arial" panose="020B0604020202020204" pitchFamily="34" charset="0"/>
                <a:sym typeface="Arial" panose="020B0604020202020204" pitchFamily="34" charset="0"/>
              </a:rPr>
              <a:t>), internos ao modelo de </a:t>
            </a:r>
            <a:r>
              <a:rPr lang="pt-BR" altLang="zh-CN" sz="1600" dirty="0" err="1">
                <a:latin typeface="Arial" panose="020B0604020202020204" pitchFamily="34" charset="0"/>
                <a:sym typeface="Arial" panose="020B0604020202020204" pitchFamily="34" charset="0"/>
              </a:rPr>
              <a:t>Embedding</a:t>
            </a:r>
            <a:r>
              <a:rPr lang="pt-BR" altLang="zh-CN" sz="1600" dirty="0">
                <a:latin typeface="Arial" panose="020B0604020202020204" pitchFamily="34" charset="0"/>
                <a:sym typeface="Arial" panose="020B0604020202020204" pitchFamily="34" charset="0"/>
              </a:rPr>
              <a:t> !!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7D5BC1B6-7821-D6AA-C7C5-30A773E89119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8D80A9DD-C1C1-0E09-09ED-BF2BA66D494F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10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 de Texto 1"/>
          <p:cNvSpPr txBox="1"/>
          <p:nvPr/>
        </p:nvSpPr>
        <p:spPr>
          <a:xfrm>
            <a:off x="6648450" y="2037983"/>
            <a:ext cx="533019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Enquanto token é uma representação estática de unidades de texto (veremos mais a fundo adiante), o </a:t>
            </a:r>
            <a:r>
              <a:rPr lang="pt-BR" sz="1600" dirty="0" err="1"/>
              <a:t>Embedding</a:t>
            </a:r>
            <a:r>
              <a:rPr lang="pt-BR" sz="1600" dirty="0"/>
              <a:t> é  mais dinâmico. O </a:t>
            </a:r>
            <a:r>
              <a:rPr lang="pt-BR" sz="1600" dirty="0" err="1"/>
              <a:t>Embedding</a:t>
            </a:r>
            <a:r>
              <a:rPr lang="pt-BR" sz="1600" dirty="0"/>
              <a:t> é a representação vetorial do texto em um espaço multidimensional.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Podemos imaginar </a:t>
            </a:r>
            <a:r>
              <a:rPr lang="pt-BR" sz="1600" dirty="0" err="1"/>
              <a:t>Embeddings</a:t>
            </a:r>
            <a:r>
              <a:rPr lang="pt-BR" sz="1600" dirty="0"/>
              <a:t> como pontos com coordenadas. Enquanto um token tem um código estático, o </a:t>
            </a:r>
            <a:r>
              <a:rPr lang="pt-BR" sz="1600" dirty="0" err="1"/>
              <a:t>embedding</a:t>
            </a:r>
            <a:r>
              <a:rPr lang="pt-BR" sz="1600" dirty="0"/>
              <a:t> pode mudar de posição conforme o contexto.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Supondo acima o seguinte espaço 2D de </a:t>
            </a:r>
            <a:r>
              <a:rPr lang="pt-BR" sz="1600" dirty="0" err="1"/>
              <a:t>Embeddings</a:t>
            </a:r>
            <a:r>
              <a:rPr lang="pt-BR" sz="1600" dirty="0"/>
              <a:t>. As palavras “Cachorro” (0.5, 8), “gato” (1,8) e “cavalo“ (1,7) serão colocadas próximas ao passo que “sofá” (7,7) será colocado mais próxima à “cadeiras/mesa” (6,7).</a:t>
            </a:r>
            <a:endParaRPr lang="pt-BR" sz="1600" dirty="0">
              <a:solidFill>
                <a:srgbClr val="FF0000"/>
              </a:solidFill>
            </a:endParaRPr>
          </a:p>
        </p:txBody>
      </p:sp>
      <p:graphicFrame>
        <p:nvGraphicFramePr>
          <p:cNvPr id="3" name="Objeto 2"/>
          <p:cNvGraphicFramePr/>
          <p:nvPr>
            <p:extLst>
              <p:ext uri="{D42A27DB-BD31-4B8C-83A1-F6EECF244321}">
                <p14:modId xmlns:p14="http://schemas.microsoft.com/office/powerpoint/2010/main" val="1700866889"/>
              </p:ext>
            </p:extLst>
          </p:nvPr>
        </p:nvGraphicFramePr>
        <p:xfrm>
          <a:off x="627381" y="2266951"/>
          <a:ext cx="5669735" cy="324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429375" imgH="3295650" progId="Paint.Picture">
                  <p:embed/>
                </p:oleObj>
              </mc:Choice>
              <mc:Fallback>
                <p:oleObj r:id="rId3" imgW="6429375" imgH="3295650" progId="Paint.Picture">
                  <p:embed/>
                  <p:pic>
                    <p:nvPicPr>
                      <p:cNvPr id="3" name="Objeto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27381" y="2266951"/>
                        <a:ext cx="5669735" cy="32406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0">
            <a:extLst>
              <a:ext uri="{FF2B5EF4-FFF2-40B4-BE49-F238E27FC236}">
                <a16:creationId xmlns:a16="http://schemas.microsoft.com/office/drawing/2014/main" id="{C07DA054-C10B-8975-E498-A1A48781A4E6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na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prática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F77A73B-A526-A1D5-0816-3D1A3C9CC6F8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Exemplos iniciais de Vetores representativos de </a:t>
            </a:r>
            <a:r>
              <a:rPr lang="pt-BR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Embeddings</a:t>
            </a: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com 2 dimensões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3F07AE08-C82B-C126-D1D0-53B28FB9DC86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311C28A-CE90-3D1A-04F0-9421C6248D61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11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oken_embedding_2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85339" y="1865160"/>
            <a:ext cx="8289175" cy="4097490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C0C1D9DB-EB02-A457-30BE-341D5BC22CC7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na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prática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706ABF5-E2A1-A922-2351-0CD6BDBA3943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As palavras mais próximas tendem a se agrupar!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561EBBB4-4460-B96D-F692-E4D5B8EFFC0A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52DDC889-7A10-4A30-79FE-D702E7CCF311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12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 de Texto 6"/>
          <p:cNvSpPr txBox="1"/>
          <p:nvPr/>
        </p:nvSpPr>
        <p:spPr>
          <a:xfrm>
            <a:off x="1919605" y="6163311"/>
            <a:ext cx="824484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buFont typeface="Arial" panose="020B0604020202020204" pitchFamily="34" charset="0"/>
            </a:pPr>
            <a:r>
              <a:rPr lang="pt-BR" altLang="en-US" sz="1600">
                <a:solidFill>
                  <a:srgbClr val="FF0000"/>
                </a:solidFill>
                <a:sym typeface="+mn-ea"/>
              </a:rPr>
              <a:t>E quando da inclusão da palavra “banco” ?</a:t>
            </a:r>
          </a:p>
        </p:txBody>
      </p:sp>
      <p:pic>
        <p:nvPicPr>
          <p:cNvPr id="2" name="token_embedding_4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142489" y="1865160"/>
            <a:ext cx="7533005" cy="4000528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C8ED085-78CD-31F7-7F98-FEBBB0330ABA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na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prática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91431EF-BDE9-7D4C-3CA3-901ABD74D461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As palavras mais próximas tendem a se agrupar!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8087B6A0-7DFB-2AF5-B230-AAB62967FCD7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54F9636E-CDE4-5A0A-EEDD-CC17E1784B27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13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 de Texto 6"/>
          <p:cNvSpPr txBox="1"/>
          <p:nvPr/>
        </p:nvSpPr>
        <p:spPr>
          <a:xfrm>
            <a:off x="1919605" y="6163311"/>
            <a:ext cx="824484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buFont typeface="Arial" panose="020B0604020202020204" pitchFamily="34" charset="0"/>
            </a:pPr>
            <a:r>
              <a:rPr lang="pt-BR" altLang="en-US" sz="1600">
                <a:solidFill>
                  <a:srgbClr val="FF0000"/>
                </a:solidFill>
                <a:sym typeface="+mn-ea"/>
              </a:rPr>
              <a:t>Estava no banco fazendo um depósito</a:t>
            </a:r>
          </a:p>
          <a:p>
            <a:pPr algn="ctr">
              <a:buFont typeface="Arial" panose="020B0604020202020204" pitchFamily="34" charset="0"/>
            </a:pPr>
            <a:r>
              <a:rPr lang="pt-BR" altLang="en-US" sz="1600">
                <a:solidFill>
                  <a:srgbClr val="FF0000"/>
                </a:solidFill>
                <a:sym typeface="+mn-ea"/>
              </a:rPr>
              <a:t>Escolha um banco e sente-se</a:t>
            </a:r>
          </a:p>
        </p:txBody>
      </p:sp>
      <p:pic>
        <p:nvPicPr>
          <p:cNvPr id="2" name="token_embedding_6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30767" y="1760221"/>
            <a:ext cx="7530465" cy="399097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5D5D5D96-9A9D-E2F9-99AA-2C4016B164FA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na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prática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F10841B-916F-3D0D-1636-7A66F8736ECA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A importância do contexto: Mecanismo de Atenção!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E0F79F79-4503-9983-BEB8-F906DD7591FC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F9B2FB23-0DD5-6CDD-E13F-AD8AF5514B35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14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  <p:timing>
    <p:tnLst>
      <p:par>
        <p:cTn id="1" dur="indefinite" restart="never" nodeType="tmRoot">
          <p:childTnLst>
            <p:video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 de Texto 1"/>
          <p:cNvSpPr txBox="1"/>
          <p:nvPr/>
        </p:nvSpPr>
        <p:spPr>
          <a:xfrm>
            <a:off x="592455" y="1837056"/>
            <a:ext cx="817245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Nos exemplos, trabalhamos com </a:t>
            </a:r>
            <a:r>
              <a:rPr lang="pt-BR" sz="1600" dirty="0" err="1"/>
              <a:t>Embeddings</a:t>
            </a:r>
            <a:r>
              <a:rPr lang="pt-BR" sz="1600" dirty="0"/>
              <a:t> de </a:t>
            </a:r>
            <a:r>
              <a:rPr lang="pt-BR" sz="1600" b="1" dirty="0"/>
              <a:t>2</a:t>
            </a:r>
            <a:r>
              <a:rPr lang="pt-BR" sz="1600" dirty="0"/>
              <a:t> dimensões.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Na prática, trabalhamos com </a:t>
            </a:r>
            <a:r>
              <a:rPr lang="pt-BR" sz="1600" dirty="0" err="1"/>
              <a:t>Embeddings</a:t>
            </a:r>
            <a:r>
              <a:rPr lang="pt-BR" sz="1600" dirty="0"/>
              <a:t> de </a:t>
            </a:r>
            <a:r>
              <a:rPr lang="pt-BR" sz="1600" b="1" dirty="0"/>
              <a:t>512 </a:t>
            </a:r>
            <a:r>
              <a:rPr lang="pt-BR" sz="1600" dirty="0"/>
              <a:t>a </a:t>
            </a:r>
            <a:r>
              <a:rPr lang="pt-BR" sz="1600" b="1" dirty="0"/>
              <a:t>4096 </a:t>
            </a:r>
            <a:r>
              <a:rPr lang="pt-BR" sz="1600" dirty="0"/>
              <a:t>dimensões.</a:t>
            </a:r>
          </a:p>
        </p:txBody>
      </p:sp>
      <p:graphicFrame>
        <p:nvGraphicFramePr>
          <p:cNvPr id="4" name="Objeto 3"/>
          <p:cNvGraphicFramePr/>
          <p:nvPr>
            <p:extLst>
              <p:ext uri="{D42A27DB-BD31-4B8C-83A1-F6EECF244321}">
                <p14:modId xmlns:p14="http://schemas.microsoft.com/office/powerpoint/2010/main" val="1270858114"/>
              </p:ext>
            </p:extLst>
          </p:nvPr>
        </p:nvGraphicFramePr>
        <p:xfrm>
          <a:off x="2305684" y="2590801"/>
          <a:ext cx="7593965" cy="40976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6819900" imgH="3381375" progId="Paint.Picture">
                  <p:embed/>
                </p:oleObj>
              </mc:Choice>
              <mc:Fallback>
                <p:oleObj r:id="rId3" imgW="6819900" imgH="3381375" progId="Paint.Picture">
                  <p:embed/>
                  <p:pic>
                    <p:nvPicPr>
                      <p:cNvPr id="4" name="Objeto 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05684" y="2590801"/>
                        <a:ext cx="7593965" cy="40976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0">
            <a:extLst>
              <a:ext uri="{FF2B5EF4-FFF2-40B4-BE49-F238E27FC236}">
                <a16:creationId xmlns:a16="http://schemas.microsoft.com/office/drawing/2014/main" id="{AD550182-7E85-007F-7448-507F0463702E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na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prática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20DF1AB-5360-56BE-8AAE-0EAB4A7A2104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err="1">
                <a:solidFill>
                  <a:srgbClr val="5A6072"/>
                </a:solidFill>
                <a:latin typeface="Calibri"/>
                <a:ea typeface="Calibri"/>
              </a:rPr>
              <a:t>Embeddings</a:t>
            </a: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realistas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2E454678-C68A-CECF-E2E6-6909CBDEC08E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D4AE6A18-6B74-EBE7-2030-6E8F64AFA2FC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15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 de Texto 1"/>
          <p:cNvSpPr txBox="1"/>
          <p:nvPr/>
        </p:nvSpPr>
        <p:spPr>
          <a:xfrm>
            <a:off x="586104" y="2014856"/>
            <a:ext cx="1072324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Um Vetor, na Ciência da Computação, pode ser definido como um </a:t>
            </a:r>
            <a:r>
              <a:rPr lang="pt-BR" sz="1600" dirty="0" err="1"/>
              <a:t>array</a:t>
            </a:r>
            <a:r>
              <a:rPr lang="pt-BR" sz="1600" dirty="0"/>
              <a:t> de números. Ou como uma Matrix de uma só coluna. Em Python, a biblioteca mais utilizada para trabalhar com vetores é a </a:t>
            </a:r>
            <a:r>
              <a:rPr lang="pt-BR" sz="1600" dirty="0" err="1"/>
              <a:t>NumPy</a:t>
            </a:r>
            <a:r>
              <a:rPr lang="pt-BR" sz="16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Os vetores também podem ser representados como setas em um plano, ou em um espaço de maiores dimensões, como um Hiperplano. Dois componentes super importantes dos vetores são a sua Magnitude, ou o seu tamanho, e a sua Direção.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Essas setas podem ser representadas como uma sequência de números ou como coordenadas. </a:t>
            </a:r>
            <a:r>
              <a:rPr lang="pt-BR" sz="1600" dirty="0">
                <a:solidFill>
                  <a:srgbClr val="FF0000"/>
                </a:solidFill>
              </a:rPr>
              <a:t>O número de coordenadas que um </a:t>
            </a:r>
            <a:r>
              <a:rPr lang="pt-BR" sz="1600" dirty="0" err="1">
                <a:solidFill>
                  <a:srgbClr val="FF0000"/>
                </a:solidFill>
              </a:rPr>
              <a:t>Embedding</a:t>
            </a:r>
            <a:r>
              <a:rPr lang="pt-BR" sz="1600" dirty="0">
                <a:solidFill>
                  <a:srgbClr val="FF0000"/>
                </a:solidFill>
              </a:rPr>
              <a:t> tem é o número de dimensões do espaço vetorial onde ele se encontra!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4EAD716-13DB-C721-D2CD-615D8E6A3B82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e 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Cálculo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de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Distâncias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0A3C220-B721-0B04-67E1-60B0DBCDB3D0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A representação vetorial de </a:t>
            </a:r>
            <a:r>
              <a:rPr lang="pt-BR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Embeddings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F74713B0-DD74-E1E7-B81F-9156066B5CFF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35D8E060-503F-E0E7-21AC-E10F4CBD7FDC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16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244" y="1294765"/>
            <a:ext cx="4820355" cy="5102522"/>
          </a:xfrm>
          <a:prstGeom prst="rect">
            <a:avLst/>
          </a:prstGeom>
        </p:spPr>
      </p:pic>
      <p:sp>
        <p:nvSpPr>
          <p:cNvPr id="4" name="Caixa de Texto 3"/>
          <p:cNvSpPr txBox="1"/>
          <p:nvPr/>
        </p:nvSpPr>
        <p:spPr>
          <a:xfrm>
            <a:off x="520010" y="2239810"/>
            <a:ext cx="5042590" cy="2852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pt-BR" sz="1600" dirty="0">
                <a:sym typeface="+mn-ea"/>
              </a:rPr>
              <a:t>Exemplo de um vetor com as coordenadas (4, 3) em um plano 2D, (bidimensional): sua seta parte da Origem (0, 0) e se encerra exatamente no ponto com a coordenada horizontal x=4 e a coordenada vertical y=3.</a:t>
            </a:r>
          </a:p>
          <a:p>
            <a:pPr algn="just"/>
            <a:endParaRPr lang="pt-BR" altLang="en-US" sz="1600" dirty="0">
              <a:sym typeface="+mn-ea"/>
            </a:endParaRPr>
          </a:p>
          <a:p>
            <a:pPr algn="just"/>
            <a:r>
              <a:rPr lang="pt-BR" altLang="en-US" sz="1600" dirty="0">
                <a:sym typeface="+mn-ea"/>
              </a:rPr>
              <a:t>Podem existir vetores com mais dimensões, por exemplo em 3D. O vetor com coordenadas (4, 3, 1) possui três dimensões e, portanto, mora em um espaço tridimensional. Este vetor também parte da origem (0, 0, 0) e se encerra nas coordenadas horizontal x = 4, vertical y = 3 e de profundidade z = 1.</a:t>
            </a: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41DB3833-932C-3C6C-4539-D582B87EC10C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e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sua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Representação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55A082F2-61F2-22AE-5B56-3A15D1FC5F5B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A representação vetorial de </a:t>
            </a:r>
            <a:r>
              <a:rPr lang="pt-BR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Embeddings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D417AFE7-3929-3016-68F1-6A2E8127CD8A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59B63459-AF60-75C6-A222-0F6C00426EE6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17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 de Texto 3"/>
          <p:cNvSpPr txBox="1"/>
          <p:nvPr/>
        </p:nvSpPr>
        <p:spPr>
          <a:xfrm>
            <a:off x="579755" y="2680970"/>
            <a:ext cx="4436746" cy="132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pt-BR" sz="1600" dirty="0">
                <a:sym typeface="+mn-ea"/>
              </a:rPr>
              <a:t>A Direção de um vetor pode ser encontrada a partir das suas coordenadas. Por exemplo, esse vetor com coordenadas (4, 3), dado que o ângulo entre ele e o eixo horizontal é </a:t>
            </a:r>
            <a:r>
              <a:rPr lang="pt-BR" sz="1600" dirty="0" err="1">
                <a:sym typeface="+mn-ea"/>
              </a:rPr>
              <a:t>Theta</a:t>
            </a:r>
            <a:r>
              <a:rPr lang="pt-BR" sz="1600" dirty="0">
                <a:sym typeface="+mn-ea"/>
              </a:rPr>
              <a:t>, então a Tangente de </a:t>
            </a:r>
            <a:r>
              <a:rPr lang="pt-BR" sz="1600" dirty="0" err="1">
                <a:sym typeface="+mn-ea"/>
              </a:rPr>
              <a:t>Theta</a:t>
            </a:r>
            <a:r>
              <a:rPr lang="pt-BR" sz="1600" dirty="0">
                <a:sym typeface="+mn-ea"/>
              </a:rPr>
              <a:t> é precisamente 3/4.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794" y="1290321"/>
            <a:ext cx="4650105" cy="5073883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A28F48C9-7469-CEA7-6788-7C3D56BD7C34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e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sua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Representação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766FD90-A6A0-7009-83F3-8A506ADC7D92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A representação vetorial de </a:t>
            </a:r>
            <a:r>
              <a:rPr lang="pt-BR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Embeddings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9F03347E-0F53-4AD6-DE07-0A8052663DE3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17879F30-7DA3-9050-43D2-6C97C8CFEA9D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18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 de Texto 1"/>
          <p:cNvSpPr txBox="1"/>
          <p:nvPr/>
        </p:nvSpPr>
        <p:spPr>
          <a:xfrm>
            <a:off x="598805" y="1865160"/>
            <a:ext cx="441769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Os modelos de </a:t>
            </a:r>
            <a:r>
              <a:rPr lang="pt-BR" sz="1600" dirty="0" err="1"/>
              <a:t>Embeddings</a:t>
            </a:r>
            <a:r>
              <a:rPr lang="pt-BR" sz="1600" dirty="0"/>
              <a:t> tendem a posicionar seus tokens, ou palavras, ou textos similares próximos uns aos outros. E dado que cada </a:t>
            </a:r>
            <a:r>
              <a:rPr lang="pt-BR" sz="1600" dirty="0" err="1"/>
              <a:t>Embedding</a:t>
            </a:r>
            <a:r>
              <a:rPr lang="pt-BR" sz="1600" dirty="0"/>
              <a:t> tem a sua posição exata, conseguimos medir as distâncias entre eles.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/>
              <a:t>Se medirmos constataremos que a distância entre "cachorro" e "gato", e "cachorro" e "cavalo" é muito menor do que entre, por exemplo, "cachorro" e "maçã".</a:t>
            </a:r>
          </a:p>
          <a:p>
            <a:pPr algn="just">
              <a:buFont typeface="Arial" panose="020B0604020202020204" pitchFamily="34" charset="0"/>
            </a:pPr>
            <a:endParaRPr lang="pt-BR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 err="1"/>
              <a:t>Embeddings</a:t>
            </a:r>
            <a:r>
              <a:rPr lang="pt-BR" sz="1600" dirty="0"/>
              <a:t> semelhantes vão estar próximos, com uma distância curta entre si.</a:t>
            </a:r>
          </a:p>
          <a:p>
            <a:pPr algn="just"/>
            <a:endParaRPr lang="pt-BR" sz="1600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6696" y="1824037"/>
            <a:ext cx="6585230" cy="3539430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6628BE5F-C330-2713-65B9-E364B2F79EB2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e o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Cálculo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de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Distâncias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F750C89-8CED-5DA8-633D-7AFB5EF7D72B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Distâncias e Similaridades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FFD2B039-48BD-D87C-5E41-35113BF9DBFA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2A55786F-9B19-27F3-0A6E-29A37C5BC40A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19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 de Texto 3"/>
          <p:cNvSpPr txBox="1"/>
          <p:nvPr/>
        </p:nvSpPr>
        <p:spPr>
          <a:xfrm>
            <a:off x="611504" y="1948816"/>
            <a:ext cx="4309745" cy="37856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pt-BR" sz="1600" dirty="0">
                <a:sym typeface="+mn-ea"/>
              </a:rPr>
              <a:t>Vimos como medir a Magnitude dos </a:t>
            </a:r>
            <a:r>
              <a:rPr lang="pt-BR" sz="1600" dirty="0" err="1">
                <a:sym typeface="+mn-ea"/>
              </a:rPr>
              <a:t>Embeddings</a:t>
            </a:r>
            <a:r>
              <a:rPr lang="pt-BR" sz="1600" dirty="0">
                <a:sym typeface="+mn-ea"/>
              </a:rPr>
              <a:t> (ou Vetores), ou seja, a distância da Origem até a coordenada final do vetor. Mas e a </a:t>
            </a:r>
            <a:r>
              <a:rPr lang="pt-BR" sz="1600" b="1" dirty="0">
                <a:sym typeface="+mn-ea"/>
              </a:rPr>
              <a:t>distância entre dois </a:t>
            </a:r>
            <a:r>
              <a:rPr lang="pt-BR" sz="1600" b="1" dirty="0" err="1">
                <a:sym typeface="+mn-ea"/>
              </a:rPr>
              <a:t>Embeddings</a:t>
            </a:r>
            <a:r>
              <a:rPr lang="pt-BR" sz="1600" dirty="0">
                <a:sym typeface="+mn-ea"/>
              </a:rPr>
              <a:t>? </a:t>
            </a:r>
          </a:p>
          <a:p>
            <a:pPr algn="just"/>
            <a:endParaRPr lang="pt-BR" sz="1600" dirty="0">
              <a:sym typeface="+mn-ea"/>
            </a:endParaRPr>
          </a:p>
          <a:p>
            <a:pPr algn="just"/>
            <a:r>
              <a:rPr lang="pt-BR" sz="1600" dirty="0">
                <a:sym typeface="+mn-ea"/>
              </a:rPr>
              <a:t>Por exemplo, qual a diferença entre o vetor (1,5) e o vetor (6, 2)?</a:t>
            </a:r>
          </a:p>
          <a:p>
            <a:pPr algn="just"/>
            <a:endParaRPr lang="pt-BR" sz="1600" dirty="0">
              <a:sym typeface="+mn-ea"/>
            </a:endParaRPr>
          </a:p>
          <a:p>
            <a:pPr algn="just"/>
            <a:r>
              <a:rPr lang="pt-BR" sz="1600" dirty="0">
                <a:sym typeface="+mn-ea"/>
              </a:rPr>
              <a:t>Já sabemos que quanto mais semelhantes/similares os </a:t>
            </a:r>
            <a:r>
              <a:rPr lang="pt-BR" sz="1600" dirty="0" err="1">
                <a:sym typeface="+mn-ea"/>
              </a:rPr>
              <a:t>Embeddings</a:t>
            </a:r>
            <a:r>
              <a:rPr lang="pt-BR" sz="1600" dirty="0">
                <a:sym typeface="+mn-ea"/>
              </a:rPr>
              <a:t> são,</a:t>
            </a:r>
          </a:p>
          <a:p>
            <a:pPr algn="just"/>
            <a:r>
              <a:rPr lang="pt-BR" sz="1600" dirty="0">
                <a:sym typeface="+mn-ea"/>
              </a:rPr>
              <a:t>mais próximos eles ficam. </a:t>
            </a:r>
          </a:p>
          <a:p>
            <a:pPr algn="just"/>
            <a:endParaRPr lang="pt-BR" sz="1600" dirty="0">
              <a:sym typeface="+mn-ea"/>
            </a:endParaRPr>
          </a:p>
          <a:p>
            <a:pPr algn="just"/>
            <a:r>
              <a:rPr lang="pt-BR" sz="1600" b="1" dirty="0">
                <a:sym typeface="+mn-ea"/>
              </a:rPr>
              <a:t>Portanto, quanto menor a distância entre dois </a:t>
            </a:r>
            <a:r>
              <a:rPr lang="pt-BR" sz="1600" b="1" dirty="0" err="1">
                <a:sym typeface="+mn-ea"/>
              </a:rPr>
              <a:t>Embeddings</a:t>
            </a:r>
            <a:r>
              <a:rPr lang="pt-BR" sz="1600" b="1" dirty="0">
                <a:sym typeface="+mn-ea"/>
              </a:rPr>
              <a:t>, maior a tendência de os textos originais serem </a:t>
            </a:r>
            <a:r>
              <a:rPr lang="pt-BR" sz="1600" b="1" dirty="0">
                <a:solidFill>
                  <a:srgbClr val="FF0000"/>
                </a:solidFill>
                <a:sym typeface="+mn-ea"/>
              </a:rPr>
              <a:t>semanticamente</a:t>
            </a:r>
            <a:r>
              <a:rPr lang="pt-BR" sz="1600" b="1" dirty="0">
                <a:sym typeface="+mn-ea"/>
              </a:rPr>
              <a:t> parecidos.</a:t>
            </a:r>
            <a:endParaRPr lang="pt-BR" sz="1600" dirty="0">
              <a:sym typeface="+mn-ea"/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436" y="1590840"/>
            <a:ext cx="4209414" cy="4359393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088C5992-67CF-9BBD-F977-638080D71FCF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e o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Cálculo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de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Distâncias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9CA9D204-7CE7-8B70-C2DF-AEDC138AEAD3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Similaridade de </a:t>
            </a:r>
            <a:r>
              <a:rPr lang="pt-BR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Embeddings</a:t>
            </a: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por meio do Cálculo de Distâncias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22337FEF-2B21-6BBD-5E74-FB86A1789CF8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098A8EA5-5087-8698-8C1A-CD2D0F5C6537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20</a:t>
            </a:fld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2308383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 de Texto 3"/>
          <p:cNvSpPr txBox="1"/>
          <p:nvPr/>
        </p:nvSpPr>
        <p:spPr>
          <a:xfrm>
            <a:off x="395604" y="1802766"/>
            <a:ext cx="11155319" cy="32932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pt-BR" sz="1600" dirty="0">
                <a:sym typeface="+mn-ea"/>
              </a:rPr>
              <a:t>A Magnitude, ou tamanho, dos vetores podem ser definidos de diversas formas. A boa notícia é que todas elas também se baseiam nas coordenadas do vetor e emulam distâncias que nós utilizamos na vida real. Afinal de contas, a Magnitude do vetor é a distância da Origem até a coordenada final do vetor.</a:t>
            </a:r>
          </a:p>
          <a:p>
            <a:pPr algn="just"/>
            <a:endParaRPr lang="pt-BR" sz="1600" dirty="0">
              <a:sym typeface="+mn-ea"/>
            </a:endParaRPr>
          </a:p>
          <a:p>
            <a:pPr algn="just"/>
            <a:endParaRPr lang="pt-BR" sz="1600" dirty="0">
              <a:sym typeface="+mn-ea"/>
            </a:endParaRPr>
          </a:p>
          <a:p>
            <a:pPr algn="just"/>
            <a:r>
              <a:rPr lang="pt-BR" sz="1600" dirty="0">
                <a:sym typeface="+mn-ea"/>
              </a:rPr>
              <a:t>Formas de cálculo de distância de vetores: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b="1" dirty="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b="1" dirty="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sym typeface="+mn-ea"/>
              </a:rPr>
              <a:t>Norma L1 - a distância de Manhattan, do Táxi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b="1" dirty="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sym typeface="+mn-ea"/>
              </a:rPr>
              <a:t>Norma L2 - a distância Euclidiana, do Helicóptero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b="1" dirty="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sym typeface="+mn-ea"/>
              </a:rPr>
              <a:t>Distância de Cosseno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5A20C48-B89D-652C-2C9E-BE3A5C7CE379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e o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Cálculo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de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Distâncias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C13857-346D-01AC-D0C4-D7A9F45B58DD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Similaridade de </a:t>
            </a:r>
            <a:r>
              <a:rPr lang="pt-BR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Embeddings</a:t>
            </a: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por meio do Cálculo de Distâncias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85305F11-9037-E4D7-CE99-0BF3133D5B97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59845247-B60A-AC86-5277-82D68A34ED20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21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 de Texto 3"/>
          <p:cNvSpPr txBox="1"/>
          <p:nvPr/>
        </p:nvSpPr>
        <p:spPr>
          <a:xfrm>
            <a:off x="700406" y="2005965"/>
            <a:ext cx="4316094" cy="37856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ym typeface="+mn-ea"/>
              </a:rPr>
              <a:t>A primeira forma de medir distância é: imagine que você vive em uma cidade formada por quadras quadradas com ruas totalmente perpendiculares. Temos ruas verticais e horizontais, todas de mão dupla. E a única forma de se locomover nessa cidade é pelas ruas, de Táxi, por exemplo.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ym typeface="+mn-ea"/>
              </a:rPr>
              <a:t>Portanto, para sairmos da Origem (0, 0) e chegarmos à coordenada final do nosso Vetor (4, 3), precisamos andar 4 quadras horizontais e 3 quadras verticais. Portanto, a nossa distância total é de 4 + 3 = 7. Andamos 7 unidades de medida para chegar no final do nosso vetor.</a:t>
            </a:r>
            <a:endParaRPr lang="pt-BR" sz="1600" b="1" dirty="0">
              <a:sym typeface="+mn-ea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6190" y="1590840"/>
            <a:ext cx="4316094" cy="4294727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9731E51B-BE09-DB46-9107-A503D358C673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– Norma L1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FC79E2B-E894-12D9-5853-8B85A461B01A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Norma L1: a distância do Táxi (Manhattan ou City Block)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852BA69C-2AD3-EA6A-8055-05C2CDDE5413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E8BAB442-88B7-1E93-8B6C-76B9C82D2EA8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22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 de Texto 3"/>
          <p:cNvSpPr txBox="1"/>
          <p:nvPr/>
        </p:nvSpPr>
        <p:spPr>
          <a:xfrm>
            <a:off x="617856" y="1732915"/>
            <a:ext cx="4379594" cy="40318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pt-BR" sz="1600" dirty="0">
                <a:sym typeface="+mn-ea"/>
              </a:rPr>
              <a:t>Por que os valores absolutos? </a:t>
            </a:r>
          </a:p>
          <a:p>
            <a:pPr algn="just"/>
            <a:endParaRPr lang="pt-BR" sz="1600" dirty="0">
              <a:sym typeface="+mn-ea"/>
            </a:endParaRPr>
          </a:p>
          <a:p>
            <a:pPr algn="just"/>
            <a:r>
              <a:rPr lang="pt-BR" sz="1600" dirty="0">
                <a:sym typeface="+mn-ea"/>
              </a:rPr>
              <a:t>Porque os valores das coordenadas a e b podem ser positivos ou negativos, mas, a distância é sempre positiva.</a:t>
            </a:r>
          </a:p>
          <a:p>
            <a:pPr algn="just"/>
            <a:endParaRPr lang="pt-BR" sz="1600" dirty="0">
              <a:sym typeface="+mn-ea"/>
            </a:endParaRPr>
          </a:p>
          <a:p>
            <a:pPr algn="just"/>
            <a:r>
              <a:rPr lang="pt-BR" sz="1600" dirty="0">
                <a:sym typeface="+mn-ea"/>
              </a:rPr>
              <a:t>Diferentes caminhos levam à mesma distância da </a:t>
            </a:r>
            <a:r>
              <a:rPr lang="pt-BR" sz="1600" b="1" dirty="0">
                <a:sym typeface="+mn-ea"/>
              </a:rPr>
              <a:t>Norma L1.</a:t>
            </a:r>
            <a:endParaRPr lang="pt-BR" sz="1600" dirty="0">
              <a:sym typeface="+mn-ea"/>
            </a:endParaRPr>
          </a:p>
          <a:p>
            <a:pPr algn="just"/>
            <a:endParaRPr lang="pt-BR" sz="1600" dirty="0">
              <a:sym typeface="+mn-ea"/>
            </a:endParaRPr>
          </a:p>
          <a:p>
            <a:pPr algn="just"/>
            <a:endParaRPr lang="pt-BR" sz="1600" dirty="0">
              <a:sym typeface="+mn-ea"/>
            </a:endParaRPr>
          </a:p>
          <a:p>
            <a:pPr algn="just"/>
            <a:endParaRPr lang="pt-BR" sz="1600" b="1" i="1" dirty="0">
              <a:sym typeface="+mn-ea"/>
            </a:endParaRPr>
          </a:p>
          <a:p>
            <a:pPr algn="just"/>
            <a:endParaRPr lang="pt-BR" sz="1600" b="1" i="1" dirty="0">
              <a:sym typeface="+mn-ea"/>
            </a:endParaRPr>
          </a:p>
          <a:p>
            <a:pPr algn="just"/>
            <a:r>
              <a:rPr lang="pt-BR" sz="1600" dirty="0">
                <a:sym typeface="+mn-ea"/>
              </a:rPr>
              <a:t>A Norma L1 é chamada também  por Distância de Manhattan. Isso acontece porque o distrito de Manhattan, em Nova Iorque, segue no geral esse formato de quadras com ruas perpendiculares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729" y="1590840"/>
            <a:ext cx="4478021" cy="4447279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235" y="4062731"/>
            <a:ext cx="3124835" cy="407035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25853322-2B7C-7172-C25B-35157DEAEEFE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– Norma L1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773D2FF8-BFD7-02EA-9C88-1E7DFEFA3518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Norma L1: a distância do Táxi (Manhattan ou City Block)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E797404-CAD3-053D-2608-FE077D3B2DF7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A636435-D521-9F96-E115-AE0496E2828E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23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820" y="2127251"/>
            <a:ext cx="8032750" cy="3462655"/>
          </a:xfrm>
          <a:prstGeom prst="rect">
            <a:avLst/>
          </a:prstGeom>
        </p:spPr>
      </p:pic>
      <p:sp>
        <p:nvSpPr>
          <p:cNvPr id="5" name="Caixa de Texto 4"/>
          <p:cNvSpPr txBox="1"/>
          <p:nvPr/>
        </p:nvSpPr>
        <p:spPr>
          <a:xfrm>
            <a:off x="6692266" y="3207386"/>
            <a:ext cx="336486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600">
                <a:solidFill>
                  <a:srgbClr val="FF0000"/>
                </a:solidFill>
                <a:latin typeface="Consolas" panose="020B0609020204030204"/>
                <a:ea typeface="Consolas" panose="020B0609020204030204"/>
              </a:rPr>
              <a:t>Norma L1 (distância de Manhattan) entre os vetores: 0.39999999999999997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249DCB16-812F-B3C5-D672-E3CF6D1307AA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– Norma L1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6A9AD7F4-E78B-6C66-C91E-BBB7FF7FB1FA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L1 – Exemplo de Uso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32F4157D-3602-AF4D-D756-01555EB7C049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5516603-237B-EED0-C730-2E337FA3DF1C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24</a:t>
            </a:fld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219652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76" y="2780666"/>
            <a:ext cx="4700905" cy="44513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826" y="3292476"/>
            <a:ext cx="3071495" cy="408305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35201" y="3860800"/>
            <a:ext cx="1843405" cy="41656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22974" y="1590840"/>
            <a:ext cx="3933825" cy="43053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73635093-D00E-0C0E-DD7E-1946F281DEB1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– Norma L1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5B3CBD3-88F5-116A-AB61-AB87FA51E1DD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Similaridade de </a:t>
            </a:r>
            <a:r>
              <a:rPr lang="pt-BR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Embeddings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E46CD6-1088-990B-A289-9705B3EA36F9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1FC0DC-1E18-6885-7DB2-6B6B0AD5A54A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25</a:t>
            </a:fld>
            <a:endParaRPr sz="900" dirty="0"/>
          </a:p>
        </p:txBody>
      </p:sp>
    </p:spTree>
    <p:extLst>
      <p:ext uri="{BB962C8B-B14F-4D97-AF65-F5344CB8AC3E}">
        <p14:creationId xmlns:p14="http://schemas.microsoft.com/office/powerpoint/2010/main" val="1837582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 de Texto 3"/>
          <p:cNvSpPr txBox="1"/>
          <p:nvPr/>
        </p:nvSpPr>
        <p:spPr>
          <a:xfrm>
            <a:off x="475560" y="1993265"/>
            <a:ext cx="4534590" cy="32932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ym typeface="+mn-ea"/>
              </a:rPr>
              <a:t>Para uma segunda forma de medir distância, imagine que nesta mesma cidade, em todas as esquinas existe um heliponto onde você pode simplesmente pegar um helicóptero e viajar em linha reta até onde quer chegar.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ym typeface="+mn-ea"/>
              </a:rPr>
              <a:t>Neste caso, para sairmos da Origem (0, 0) e chegarmos ao final do nosso Vetor (4, 3), nós podemos pegar a Hipotenusa, ou seja, a linha reta entre os dois pontos deste plano.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ym typeface="+mn-ea"/>
              </a:rPr>
              <a:t>O melhor caminho que podemos fazer é a raiz quadrada de 4^2 mais 3^2, que é igual a 5.</a:t>
            </a: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B1A5317C-EB67-C36E-BF0B-10BD13523EF2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– Norma L2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654145B-42D2-69DA-2F6B-5BDEC2E694BA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Norma L2: a distância do Helicóptero (Euclidiana)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D4B0F56-8262-BF53-EEB9-58D655C73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580" y="1251021"/>
            <a:ext cx="4810759" cy="3977044"/>
          </a:xfrm>
          <a:prstGeom prst="rect">
            <a:avLst/>
          </a:prstGeom>
        </p:spPr>
      </p:pic>
      <p:sp>
        <p:nvSpPr>
          <p:cNvPr id="3" name="TextBox 7">
            <a:extLst>
              <a:ext uri="{FF2B5EF4-FFF2-40B4-BE49-F238E27FC236}">
                <a16:creationId xmlns:a16="http://schemas.microsoft.com/office/drawing/2014/main" id="{A3F09464-5F4E-7C56-1553-E2A0FE9A12AA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D0D0A458-EBEC-CEC5-3233-22FBAF07C8B5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26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 de Texto 3"/>
          <p:cNvSpPr txBox="1"/>
          <p:nvPr/>
        </p:nvSpPr>
        <p:spPr>
          <a:xfrm>
            <a:off x="609918" y="1809116"/>
            <a:ext cx="4400232" cy="37856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pt-BR" sz="1600" dirty="0">
                <a:sym typeface="+mn-ea"/>
              </a:rPr>
              <a:t>Esta medida de distância é conhecida como Norma L2, ou a Distância Euclidiana. E quando medimos esta distância da origem (0,0) até a coordenada final do vetor (</a:t>
            </a:r>
            <a:r>
              <a:rPr lang="pt-BR" sz="1600" dirty="0" err="1">
                <a:sym typeface="+mn-ea"/>
              </a:rPr>
              <a:t>a,b</a:t>
            </a:r>
            <a:r>
              <a:rPr lang="pt-BR" sz="1600" dirty="0">
                <a:sym typeface="+mn-ea"/>
              </a:rPr>
              <a:t>), temos exatamente o cálculo da hipotenusa, ou seja, a raiz quadrada da soma dos quadrados das coordenadas.</a:t>
            </a:r>
          </a:p>
          <a:p>
            <a:pPr algn="just"/>
            <a:endParaRPr lang="pt-BR" sz="1600" dirty="0">
              <a:sym typeface="+mn-ea"/>
            </a:endParaRPr>
          </a:p>
          <a:p>
            <a:pPr algn="just"/>
            <a:endParaRPr lang="pt-BR" sz="1600" dirty="0">
              <a:sym typeface="+mn-ea"/>
            </a:endParaRPr>
          </a:p>
          <a:p>
            <a:pPr algn="just"/>
            <a:endParaRPr lang="pt-BR" sz="1600" dirty="0">
              <a:sym typeface="+mn-ea"/>
            </a:endParaRPr>
          </a:p>
          <a:p>
            <a:pPr algn="just"/>
            <a:endParaRPr lang="pt-BR" sz="1600" dirty="0">
              <a:sym typeface="+mn-ea"/>
            </a:endParaRPr>
          </a:p>
          <a:p>
            <a:pPr algn="just"/>
            <a:endParaRPr lang="pt-BR" sz="1600" dirty="0">
              <a:sym typeface="+mn-ea"/>
            </a:endParaRPr>
          </a:p>
          <a:p>
            <a:pPr algn="just"/>
            <a:r>
              <a:rPr lang="pt-BR" sz="1600" dirty="0">
                <a:sym typeface="+mn-ea"/>
              </a:rPr>
              <a:t>Sabemos que a menor distância entre dois pontos é uma linha reta. Portanto, a Norma L2, ou Distância Euclidiana, vai ser sempre menor (ou igual) à Norma L1.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1" y="3701942"/>
            <a:ext cx="3302635" cy="39814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7660" y="5727629"/>
            <a:ext cx="3921760" cy="526415"/>
          </a:xfrm>
          <a:prstGeom prst="rect">
            <a:avLst/>
          </a:prstGeom>
        </p:spPr>
      </p:pic>
      <p:sp>
        <p:nvSpPr>
          <p:cNvPr id="6" name="Caixa de Texto 5"/>
          <p:cNvSpPr txBox="1"/>
          <p:nvPr/>
        </p:nvSpPr>
        <p:spPr>
          <a:xfrm>
            <a:off x="6677660" y="5390444"/>
            <a:ext cx="400939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pt-BR" sz="1600" dirty="0">
                <a:solidFill>
                  <a:schemeClr val="bg2"/>
                </a:solidFill>
                <a:sym typeface="+mn-ea"/>
              </a:rPr>
              <a:t>Desenvolvendo o cálculo:</a:t>
            </a:r>
            <a:endParaRPr lang="pt-BR" altLang="en-US" sz="1600" dirty="0">
              <a:solidFill>
                <a:schemeClr val="bg2"/>
              </a:solidFill>
              <a:sym typeface="+mn-ea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FA22B1BC-CB54-2303-560D-29E8E80AD4CA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– Norma L2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Text 1">
            <a:extLst>
              <a:ext uri="{FF2B5EF4-FFF2-40B4-BE49-F238E27FC236}">
                <a16:creationId xmlns:a16="http://schemas.microsoft.com/office/drawing/2014/main" id="{9B803698-8604-A746-D146-8CFB96318723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Norma L2: a distância do Helicóptero (Euclidiana)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4ACEE9C-E008-89A4-F4FA-9647842A31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580" y="1251021"/>
            <a:ext cx="4810759" cy="39770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8B02AB-8C08-D0A9-4423-6633BD8365B3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7D7F9C39-CC8C-0979-D482-E21F022E46B2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27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96" y="2366645"/>
            <a:ext cx="4346575" cy="1352550"/>
          </a:xfrm>
          <a:prstGeom prst="rect">
            <a:avLst/>
          </a:prstGeom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2106" y="3879216"/>
            <a:ext cx="2176145" cy="520065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4240" y="1470026"/>
            <a:ext cx="3829050" cy="4391025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1FF046BC-5401-6AA7-906F-79625B5CED96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– Norma L2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EAF3B52F-E7EA-9A65-4B8E-6C0FD7DC268B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Similaridade de </a:t>
            </a:r>
            <a:r>
              <a:rPr lang="pt-BR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Embeddings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D7B6C76B-BDB6-E306-44D3-8E7EFF1EFEB4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4C860517-A951-2BE5-46EB-7FCD0467D4CC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28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650" y="2628901"/>
            <a:ext cx="7763510" cy="2994025"/>
          </a:xfrm>
          <a:prstGeom prst="rect">
            <a:avLst/>
          </a:prstGeom>
        </p:spPr>
      </p:pic>
      <p:sp>
        <p:nvSpPr>
          <p:cNvPr id="6" name="Caixa de Texto 5"/>
          <p:cNvSpPr txBox="1"/>
          <p:nvPr/>
        </p:nvSpPr>
        <p:spPr>
          <a:xfrm>
            <a:off x="6845936" y="3564256"/>
            <a:ext cx="3340735" cy="829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600">
                <a:solidFill>
                  <a:srgbClr val="FF0000"/>
                </a:solidFill>
                <a:latin typeface="Consolas" panose="020B0609020204030204"/>
                <a:ea typeface="Consolas" panose="020B0609020204030204"/>
              </a:rPr>
              <a:t>Norma L2 (distância Euclidiana) entre os vetores: 0.2449489742783178</a:t>
            </a: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2505F7CB-2C0E-8BA5-6C96-27B7A7F19449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– Norma L2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1B44597-F1FC-1E7B-8C29-7FA7CF96163F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L2 – Exemplo de Uso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3538FE41-EAD1-9901-7BFD-E065E84E870A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82C5DC01-8A7D-7110-5395-813CFBDB3D6F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29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695" y="2046606"/>
            <a:ext cx="6800850" cy="3719195"/>
          </a:xfrm>
          <a:prstGeom prst="rect">
            <a:avLst/>
          </a:prstGeom>
        </p:spPr>
      </p:pic>
      <p:sp>
        <p:nvSpPr>
          <p:cNvPr id="7" name="Caixa de Texto 6"/>
          <p:cNvSpPr txBox="1"/>
          <p:nvPr/>
        </p:nvSpPr>
        <p:spPr>
          <a:xfrm>
            <a:off x="5588635" y="4422776"/>
            <a:ext cx="385191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600">
                <a:solidFill>
                  <a:srgbClr val="FF0000"/>
                </a:solidFill>
                <a:latin typeface="Consolas" panose="020B0609020204030204"/>
                <a:ea typeface="Consolas" panose="020B0609020204030204"/>
              </a:rPr>
              <a:t>Similaridade entre 'gato' e 'cachorro': 0.07497558742761612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933F55CB-A3DD-502C-0035-53091D759E0E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– Norma L2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EF485B7-4C06-83AC-B067-CCFE4E2398D7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L2 – Outro Exemplo de Uso 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315D643-08B6-7DD5-B5F9-DC5A36311F1D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565FD288-ED22-560A-4C93-BCBF55D38254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30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232C06E-FA67-A9A6-F7AB-4ED1001FFE7A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e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comparação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L1 vs. L2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6370E1E-CF58-D3DF-DCE3-5A06920BD0F2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L1 </a:t>
            </a:r>
            <a:r>
              <a:rPr lang="pt-BR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vs</a:t>
            </a: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 L2 – Quando usar?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582685A-9D4C-13BD-8131-DA54686344BA}"/>
              </a:ext>
            </a:extLst>
          </p:cNvPr>
          <p:cNvSpPr txBox="1"/>
          <p:nvPr/>
        </p:nvSpPr>
        <p:spPr>
          <a:xfrm>
            <a:off x="4362450" y="3302000"/>
            <a:ext cx="1572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Incluir quadro!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05309ED-64B2-0F36-DD57-621DF2FCF50A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3B5A5512-F0E2-9615-D0D6-9BB85C03F8A7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31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 de Texto 1"/>
          <p:cNvSpPr txBox="1"/>
          <p:nvPr/>
        </p:nvSpPr>
        <p:spPr>
          <a:xfrm>
            <a:off x="567056" y="1844676"/>
            <a:ext cx="4512944" cy="30469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pt-BR" sz="1600" dirty="0">
                <a:sym typeface="+mn-ea"/>
              </a:rPr>
              <a:t>A </a:t>
            </a:r>
            <a:r>
              <a:rPr lang="pt-BR" sz="1600" b="1" dirty="0">
                <a:sym typeface="+mn-ea"/>
              </a:rPr>
              <a:t>Distância de Cosseno</a:t>
            </a:r>
            <a:r>
              <a:rPr lang="pt-BR" sz="1600" dirty="0">
                <a:sym typeface="+mn-ea"/>
              </a:rPr>
              <a:t>, também chamada de Similaridade de Cosseno, é também uma métrica de similaridade de </a:t>
            </a:r>
            <a:r>
              <a:rPr lang="pt-BR" sz="1600" dirty="0" err="1">
                <a:sym typeface="+mn-ea"/>
              </a:rPr>
              <a:t>Embeddings</a:t>
            </a:r>
            <a:r>
              <a:rPr lang="pt-BR" sz="1600" dirty="0">
                <a:sym typeface="+mn-ea"/>
              </a:rPr>
              <a:t> muito popular no Processamento de Linguagem Natural. Diferente das Normas L1 e L2, a Similaridade de Cosseno mede o cosseno do ângulo entre os dois vetores, independente da Magnitude deles. Nesse caso, apenas a direção dos </a:t>
            </a:r>
            <a:r>
              <a:rPr lang="pt-BR" sz="1600" dirty="0" err="1">
                <a:sym typeface="+mn-ea"/>
              </a:rPr>
              <a:t>Embeddings</a:t>
            </a:r>
            <a:r>
              <a:rPr lang="pt-BR" sz="1600" dirty="0">
                <a:sym typeface="+mn-ea"/>
              </a:rPr>
              <a:t> é relevante.</a:t>
            </a:r>
          </a:p>
          <a:p>
            <a:pPr algn="just"/>
            <a:endParaRPr lang="pt-BR" sz="1600" dirty="0">
              <a:sym typeface="+mn-ea"/>
            </a:endParaRPr>
          </a:p>
          <a:p>
            <a:pPr algn="just"/>
            <a:r>
              <a:rPr lang="pt-BR" sz="1600" dirty="0">
                <a:sym typeface="+mn-ea"/>
              </a:rPr>
              <a:t>Vamos chamar o ângulo entre os dois vetores de </a:t>
            </a:r>
            <a:r>
              <a:rPr lang="pt-BR" sz="1600" dirty="0" err="1">
                <a:sym typeface="+mn-ea"/>
              </a:rPr>
              <a:t>Theta</a:t>
            </a:r>
            <a:r>
              <a:rPr lang="pt-BR" sz="1600" dirty="0">
                <a:sym typeface="+mn-ea"/>
              </a:rPr>
              <a:t> . A </a:t>
            </a:r>
            <a:r>
              <a:rPr lang="pt-BR" sz="1600" b="1" dirty="0">
                <a:sym typeface="+mn-ea"/>
              </a:rPr>
              <a:t>Distância de Cosseno é simplesmente o cosseno de </a:t>
            </a:r>
            <a:r>
              <a:rPr lang="pt-BR" sz="1600" b="1" dirty="0" err="1">
                <a:sym typeface="+mn-ea"/>
              </a:rPr>
              <a:t>Theta</a:t>
            </a:r>
            <a:r>
              <a:rPr lang="pt-BR" sz="1600" b="1" dirty="0">
                <a:sym typeface="+mn-ea"/>
              </a:rPr>
              <a:t> (θ): (cos(θ)).</a:t>
            </a: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6966" y="1438276"/>
            <a:ext cx="4323714" cy="4592011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0F54787A-ED6C-028C-4708-8001B3A9D069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-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Distância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de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Cosseno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A6AA8D76-053D-5A4F-ABF7-5E42B72AF576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Similaridade de </a:t>
            </a:r>
            <a:r>
              <a:rPr lang="pt-BR" sz="1500" b="0" strike="noStrike" spc="-1" dirty="0" err="1">
                <a:solidFill>
                  <a:srgbClr val="5A6072"/>
                </a:solidFill>
                <a:latin typeface="Calibri"/>
                <a:ea typeface="Calibri"/>
              </a:rPr>
              <a:t>Embeddings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B0B329EB-3B14-1B6E-A92A-00A440605F0F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7" name="TextBox 8">
            <a:extLst>
              <a:ext uri="{FF2B5EF4-FFF2-40B4-BE49-F238E27FC236}">
                <a16:creationId xmlns:a16="http://schemas.microsoft.com/office/drawing/2014/main" id="{CA67D5FF-7FB2-9631-77A9-C87A9E8DAB9A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32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 de Texto 1"/>
          <p:cNvSpPr txBox="1"/>
          <p:nvPr/>
        </p:nvSpPr>
        <p:spPr>
          <a:xfrm>
            <a:off x="475560" y="1865160"/>
            <a:ext cx="11155320" cy="403187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ym typeface="+mn-ea"/>
              </a:rPr>
              <a:t>A Similaridade de Cosseno é particularmente útil como medida de similaridade em </a:t>
            </a:r>
            <a:r>
              <a:rPr lang="pt-BR" sz="1600" dirty="0" err="1">
                <a:sym typeface="+mn-ea"/>
              </a:rPr>
              <a:t>Embeddings</a:t>
            </a:r>
            <a:r>
              <a:rPr lang="pt-BR" sz="1600" dirty="0">
                <a:sym typeface="+mn-ea"/>
              </a:rPr>
              <a:t> de palavras (tipo Word2Vec e </a:t>
            </a:r>
            <a:r>
              <a:rPr lang="pt-BR" sz="1600" dirty="0" err="1">
                <a:sym typeface="+mn-ea"/>
              </a:rPr>
              <a:t>GloVe</a:t>
            </a:r>
            <a:r>
              <a:rPr lang="pt-BR" sz="1600" dirty="0">
                <a:sym typeface="+mn-ea"/>
              </a:rPr>
              <a:t>). Essa medida captura a orientação – ou direção – dos vetores, que é normalmente mais importante que a sua magnitude quando se fala de relação entre palavras.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ym typeface="+mn-ea"/>
              </a:rPr>
              <a:t>Para similaridade de documentos, quando representamos documentos como vetores (como vetores TF-IDF), a Distância de Cosseno consegue medir o quão similares os documentos são com base nos seus conteúdos, independente do tamanho.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ym typeface="+mn-ea"/>
              </a:rPr>
              <a:t>Enquanto as Normas L1 e L2 são úteis em cenários onde a magnitude dos vetores é importante, como em clusterizações, onde a distância de fato é importante, a Similaridade de Cosseno é mais aplicada em casos em que a direção do vetor é mais relevante, como medir a similaridade semântica entre documentos.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ym typeface="+mn-ea"/>
              </a:rPr>
              <a:t>Em resumo, a Distância de Cosseno é a medida preferida em tarefas de NLP (Natural </a:t>
            </a:r>
            <a:r>
              <a:rPr lang="pt-BR" sz="1600" dirty="0" err="1">
                <a:sym typeface="+mn-ea"/>
              </a:rPr>
              <a:t>Language</a:t>
            </a:r>
            <a:r>
              <a:rPr lang="pt-BR" sz="1600" dirty="0">
                <a:sym typeface="+mn-ea"/>
              </a:rPr>
              <a:t> </a:t>
            </a:r>
            <a:r>
              <a:rPr lang="pt-BR" sz="1600" dirty="0" err="1">
                <a:sym typeface="+mn-ea"/>
              </a:rPr>
              <a:t>Processing</a:t>
            </a:r>
            <a:r>
              <a:rPr lang="pt-BR" sz="1600" dirty="0">
                <a:sym typeface="+mn-ea"/>
              </a:rPr>
              <a:t>) onde a direção dos vetores é mais importante que as suas magnitudes.</a:t>
            </a:r>
          </a:p>
          <a:p>
            <a:pPr algn="just"/>
            <a:endParaRPr lang="pt-BR" sz="1600" b="1" dirty="0">
              <a:sym typeface="+mn-ea"/>
            </a:endParaRPr>
          </a:p>
          <a:p>
            <a:pPr algn="just"/>
            <a:r>
              <a:rPr lang="pt-BR" sz="1600" b="1" dirty="0">
                <a:sym typeface="+mn-ea"/>
              </a:rPr>
              <a:t>Exemplos de modelos que usam Distância de Cosseno: BERT, ROBERTA - </a:t>
            </a:r>
            <a:r>
              <a:rPr lang="pt-BR" sz="1600" b="1" dirty="0" err="1">
                <a:sym typeface="+mn-ea"/>
              </a:rPr>
              <a:t>Sentence</a:t>
            </a:r>
            <a:r>
              <a:rPr lang="pt-BR" sz="1600" b="1" dirty="0">
                <a:sym typeface="+mn-ea"/>
              </a:rPr>
              <a:t> Transformers (métrica principal, mas não a única)</a:t>
            </a:r>
            <a:endParaRPr lang="pt-BR" sz="1600" dirty="0">
              <a:sym typeface="+mn-ea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6F0B0535-5E39-6AE0-FEBA-62FBB4E62C54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-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Distância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de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Cosseno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8545BA40-9F12-5B7E-0FB4-A820EAB81646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Quando usar?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8EABD7AA-C11E-05E2-F1A7-1071E45BC3D2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F92611ED-800D-0558-8228-A1BDD94051F0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33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955" y="2183765"/>
            <a:ext cx="8237220" cy="3733800"/>
          </a:xfrm>
          <a:prstGeom prst="rect">
            <a:avLst/>
          </a:prstGeom>
        </p:spPr>
      </p:pic>
      <p:sp>
        <p:nvSpPr>
          <p:cNvPr id="4" name="Caixa de Texto 3"/>
          <p:cNvSpPr txBox="1"/>
          <p:nvPr/>
        </p:nvSpPr>
        <p:spPr>
          <a:xfrm>
            <a:off x="6924675" y="4272281"/>
            <a:ext cx="3178810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1600">
                <a:solidFill>
                  <a:srgbClr val="FF0000"/>
                </a:solidFill>
                <a:latin typeface="Consolas" panose="020B0609020204030204"/>
                <a:ea typeface="Consolas" panose="020B0609020204030204"/>
              </a:rPr>
              <a:t>Similaridade de cossenos entre as sentenças: 0.5348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5D85586D-18D4-A807-B3CC-E4984CC87A6A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-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Distância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de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Cosseno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B3E6534C-5AF9-3C36-41C2-780F5A3E717E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Distância de Cosseno - exemplo de uso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625E46E2-754B-453F-D8E8-B52CE30826E7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90285BB4-4435-DA93-6D64-07255ED8BEE1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34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 de Texto 1"/>
          <p:cNvSpPr txBox="1"/>
          <p:nvPr/>
        </p:nvSpPr>
        <p:spPr>
          <a:xfrm>
            <a:off x="522604" y="1948816"/>
            <a:ext cx="11108275" cy="2554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sym typeface="+mn-ea"/>
              </a:rPr>
              <a:t>1:</a:t>
            </a:r>
            <a:r>
              <a:rPr lang="pt-BR" sz="1600" dirty="0">
                <a:sym typeface="+mn-ea"/>
              </a:rPr>
              <a:t> Significa que os dois vetores são idênticos em direção. Eles apontam exatamente na mesma direção no espaço vetorial. Isso indica que as duas entidades (por exemplo, sentenças ou palavras) são </a:t>
            </a:r>
            <a:r>
              <a:rPr lang="pt-BR" sz="1600" dirty="0" err="1">
                <a:sym typeface="+mn-ea"/>
              </a:rPr>
              <a:t>semânticamente</a:t>
            </a:r>
            <a:r>
              <a:rPr lang="pt-BR" sz="1600" dirty="0">
                <a:sym typeface="+mn-ea"/>
              </a:rPr>
              <a:t> muito semelhantes.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sym typeface="+mn-ea"/>
              </a:rPr>
              <a:t>0:</a:t>
            </a:r>
            <a:r>
              <a:rPr lang="pt-BR" sz="1600" dirty="0">
                <a:sym typeface="+mn-ea"/>
              </a:rPr>
              <a:t> Indica que os dois vetores são ortogonais (ou seja, não têm relação alguma entre si). Neste caso, as duas entidades não compartilham características semânticas ou contextuais relevantes.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sym typeface="+mn-ea"/>
              </a:rPr>
              <a:t>-1:</a:t>
            </a:r>
            <a:r>
              <a:rPr lang="pt-BR" sz="1600" dirty="0">
                <a:sym typeface="+mn-ea"/>
              </a:rPr>
              <a:t> Significa que os dois vetores são opostos. Eles apontam em direções diametralmente opostas, indicando uma relação semântica negativa entre as duas entidades.</a:t>
            </a: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E198254-79A6-F0C5-2AF6-93FFCFD7E30F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-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Distância</a:t>
            </a: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 de </a:t>
            </a:r>
            <a:r>
              <a:rPr lang="en-US" sz="3000" b="1" strike="noStrike" spc="-1" dirty="0" err="1">
                <a:solidFill>
                  <a:srgbClr val="1E2761"/>
                </a:solidFill>
                <a:latin typeface="Cambria"/>
                <a:ea typeface="Cambria"/>
              </a:rPr>
              <a:t>Cosseno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698E601-7B5D-FC08-8BA5-2D8F4D36F919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Significado dos Valores da Distância de Cosseno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77B0FCE8-B8B9-5A79-0A9D-CEDD63D1DF4B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064D7404-30FC-7D97-1A5D-A09955591CCF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35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 de Texto 1"/>
          <p:cNvSpPr txBox="1"/>
          <p:nvPr/>
        </p:nvSpPr>
        <p:spPr>
          <a:xfrm>
            <a:off x="603250" y="2152016"/>
            <a:ext cx="10890250" cy="35394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sym typeface="+mn-ea"/>
              </a:rPr>
              <a:t>Magnitude</a:t>
            </a:r>
            <a:r>
              <a:rPr lang="pt-BR" sz="1600" dirty="0">
                <a:sym typeface="+mn-ea"/>
              </a:rPr>
              <a:t> diz respeito ao tamanho do vetor, ou seja, o "quanto" do vetor existe.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b="1" dirty="0">
                <a:sym typeface="+mn-ea"/>
              </a:rPr>
              <a:t>Direção</a:t>
            </a:r>
            <a:r>
              <a:rPr lang="pt-BR" sz="1600" dirty="0">
                <a:sym typeface="+mn-ea"/>
              </a:rPr>
              <a:t> indica o "para onde" o vetor aponta no espaço.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ym typeface="+mn-ea"/>
              </a:rPr>
              <a:t>Em PLN, a similaridade de cossenos mede a proximidade em termos de direção, desconsiderando a magnitude. Isso significa que dois vetores podem ter tamanhos muito diferentes, mas se apontarem para a mesma direção, serão considerados semelhantes.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ym typeface="+mn-ea"/>
              </a:rPr>
              <a:t>Por outro lado, se você está comparando vetores com base na norma L2 (distância Euclidiana), tanto a magnitude quanto a direção são levadas em consideração. Isso é importante quando a magnitude tem significado no contexto, como no caso de contagens absolutas ou pesos.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t-BR" sz="1600" dirty="0">
              <a:sym typeface="+mn-ea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1600" dirty="0">
                <a:sym typeface="+mn-ea"/>
              </a:rPr>
              <a:t>Essa distinção ajuda a escolher a métrica adequada para a tarefa, dependendo se a intensidade (magnitude) ou apenas a orientação (direção) do vetor é mais relevante.</a:t>
            </a: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3A362955-1507-0A4F-6CB0-BD34A0844A5D}"/>
              </a:ext>
            </a:extLst>
          </p:cNvPr>
          <p:cNvSpPr/>
          <p:nvPr/>
        </p:nvSpPr>
        <p:spPr>
          <a:xfrm>
            <a:off x="457200" y="41148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 dirty="0">
                <a:solidFill>
                  <a:srgbClr val="1E2761"/>
                </a:solidFill>
                <a:latin typeface="Cambria"/>
                <a:ea typeface="Cambria"/>
              </a:rPr>
              <a:t>Embeddings 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BCC5204-C8A0-D4C4-9F7D-E72624AE2D15}"/>
              </a:ext>
            </a:extLst>
          </p:cNvPr>
          <p:cNvSpPr/>
          <p:nvPr/>
        </p:nvSpPr>
        <p:spPr>
          <a:xfrm>
            <a:off x="475560" y="1134000"/>
            <a:ext cx="11155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1500" b="0" strike="noStrike" spc="-1" dirty="0">
                <a:solidFill>
                  <a:srgbClr val="5A6072"/>
                </a:solidFill>
                <a:latin typeface="Calibri"/>
                <a:ea typeface="Calibri"/>
              </a:rPr>
              <a:t>Fechamento!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F63E60D4-BC38-D48E-7D52-32CC7D885558}"/>
              </a:ext>
            </a:extLst>
          </p:cNvPr>
          <p:cNvSpPr txBox="1"/>
          <p:nvPr/>
        </p:nvSpPr>
        <p:spPr>
          <a:xfrm>
            <a:off x="751156" y="6522732"/>
            <a:ext cx="1146468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100">
                <a:solidFill>
                  <a:srgbClr val="94A3B8"/>
                </a:solidFill>
              </a:defRPr>
            </a:pPr>
            <a:r>
              <a:rPr lang="pt-BR" sz="900" dirty="0"/>
              <a:t>Inteligência Artificial</a:t>
            </a:r>
          </a:p>
        </p:txBody>
      </p:sp>
      <p:sp>
        <p:nvSpPr>
          <p:cNvPr id="4" name="TextBox 8">
            <a:extLst>
              <a:ext uri="{FF2B5EF4-FFF2-40B4-BE49-F238E27FC236}">
                <a16:creationId xmlns:a16="http://schemas.microsoft.com/office/drawing/2014/main" id="{E68A28BE-D0A9-32AC-FF34-0065A0D76767}"/>
              </a:ext>
            </a:extLst>
          </p:cNvPr>
          <p:cNvSpPr txBox="1"/>
          <p:nvPr/>
        </p:nvSpPr>
        <p:spPr>
          <a:xfrm>
            <a:off x="11124124" y="6561575"/>
            <a:ext cx="494046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pt-BR"/>
            </a:defPPr>
            <a:lvl1pPr defTabSz="457200">
              <a:defRPr sz="1100">
                <a:solidFill>
                  <a:srgbClr val="94A3B8"/>
                </a:solidFill>
              </a:defRPr>
            </a:lvl1pPr>
            <a:lvl2pPr defTabSz="457200"/>
            <a:lvl3pPr defTabSz="457200"/>
            <a:lvl4pPr defTabSz="457200"/>
            <a:lvl5pPr defTabSz="457200"/>
            <a:lvl6pPr defTabSz="457200"/>
            <a:lvl7pPr defTabSz="457200"/>
            <a:lvl8pPr defTabSz="457200"/>
            <a:lvl9pPr defTabSz="457200"/>
          </a:lstStyle>
          <a:p>
            <a:r>
              <a:rPr sz="900" dirty="0"/>
              <a:t>Slide </a:t>
            </a:r>
            <a:fld id="{7290D235-C2D4-4290-85EC-134EBAF84FCB}" type="slidenum">
              <a:rPr lang="pt-BR" sz="900"/>
              <a:pPr/>
              <a:t>36</a:t>
            </a:fld>
            <a:endParaRPr sz="9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>
      <p:transition spd="med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8A2D2C2733B7342A34F941B973AA6E6" ma:contentTypeVersion="9" ma:contentTypeDescription="Crie um novo documento." ma:contentTypeScope="" ma:versionID="0683c89334ed78834fe33c164e772971">
  <xsd:schema xmlns:xsd="http://www.w3.org/2001/XMLSchema" xmlns:xs="http://www.w3.org/2001/XMLSchema" xmlns:p="http://schemas.microsoft.com/office/2006/metadata/properties" xmlns:ns2="f534e9f2-b7ec-4ccc-a69c-51d3e3635b48" xmlns:ns3="bf55bb95-0e2d-49eb-8730-bda5c0a73d75" targetNamespace="http://schemas.microsoft.com/office/2006/metadata/properties" ma:root="true" ma:fieldsID="b6ff691edaa762fc51b4ef2dd0edebb2" ns2:_="" ns3:_="">
    <xsd:import namespace="f534e9f2-b7ec-4ccc-a69c-51d3e3635b48"/>
    <xsd:import namespace="bf55bb95-0e2d-49eb-8730-bda5c0a73d7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34e9f2-b7ec-4ccc-a69c-51d3e3635b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699e888a-e30d-4c0e-bef0-0db25144e5f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55bb95-0e2d-49eb-8730-bda5c0a73d7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5afc77d-9220-47df-90d7-402ba00a53d1}" ma:internalName="TaxCatchAll" ma:showField="CatchAllData" ma:web="bf55bb95-0e2d-49eb-8730-bda5c0a73d7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55bb95-0e2d-49eb-8730-bda5c0a73d75" xsi:nil="true"/>
    <lcf76f155ced4ddcb4097134ff3c332f xmlns="f534e9f2-b7ec-4ccc-a69c-51d3e3635b4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783D1FF-FAD9-4C9B-B1D3-A438BE1738FC}"/>
</file>

<file path=customXml/itemProps2.xml><?xml version="1.0" encoding="utf-8"?>
<ds:datastoreItem xmlns:ds="http://schemas.openxmlformats.org/officeDocument/2006/customXml" ds:itemID="{04300E50-F10C-4A36-8E42-1EC4CCD09C70}"/>
</file>

<file path=customXml/itemProps3.xml><?xml version="1.0" encoding="utf-8"?>
<ds:datastoreItem xmlns:ds="http://schemas.openxmlformats.org/officeDocument/2006/customXml" ds:itemID="{ACF284DA-FE0E-4D6E-BDB2-46FE14EF0AB2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3038</Words>
  <Application>Microsoft Office PowerPoint</Application>
  <PresentationFormat>Widescreen</PresentationFormat>
  <Paragraphs>344</Paragraphs>
  <Slides>36</Slides>
  <Notes>36</Notes>
  <HiddenSlides>0</HiddenSlides>
  <MMClips>3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36</vt:i4>
      </vt:variant>
    </vt:vector>
  </HeadingPairs>
  <TitlesOfParts>
    <vt:vector size="45" baseType="lpstr">
      <vt:lpstr>Arial</vt:lpstr>
      <vt:lpstr>Calibri</vt:lpstr>
      <vt:lpstr>Cambria</vt:lpstr>
      <vt:lpstr>Consolas</vt:lpstr>
      <vt:lpstr>Symbol</vt:lpstr>
      <vt:lpstr>Times New Roman</vt:lpstr>
      <vt:lpstr>Wingdings</vt:lpstr>
      <vt:lpstr>Office Theme</vt:lpstr>
      <vt:lpstr>Paintbrush Picture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JOSE WALMIR GONCALVES DUQUE</cp:lastModifiedBy>
  <cp:revision>25</cp:revision>
  <dcterms:modified xsi:type="dcterms:W3CDTF">2026-09-16T15:54:56Z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2026-09-10T02:18:24Z</dcterms:created>
  <dc:creator>PptxGenJS</dc:creator>
  <dc:description/>
  <dc:language>en-US</dc:language>
  <cp:lastModifiedBy>PptxGenJS</cp:lastModifiedBy>
  <dcterms:modified xsi:type="dcterms:W3CDTF">2026-09-10T02:18:24Z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9</vt:r8>
  </property>
  <property fmtid="{D5CDD505-2E9C-101B-9397-08002B2CF9AE}" pid="3" name="PresentationFormat">
    <vt:lpwstr>On-screen Show (16:9)</vt:lpwstr>
  </property>
  <property fmtid="{D5CDD505-2E9C-101B-9397-08002B2CF9AE}" pid="4" name="Slides">
    <vt:r8>9</vt:r8>
  </property>
  <property fmtid="{D5CDD505-2E9C-101B-9397-08002B2CF9AE}" pid="5" name="ContentTypeId">
    <vt:lpwstr>0x01010078A2D2C2733B7342A34F941B973AA6E6</vt:lpwstr>
  </property>
</Properties>
</file>