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6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12192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434" autoAdjust="0"/>
  </p:normalViewPr>
  <p:slideViewPr>
    <p:cSldViewPr snapToGrid="0">
      <p:cViewPr varScale="1">
        <p:scale>
          <a:sx n="94" d="100"/>
          <a:sy n="94" d="100"/>
        </p:scale>
        <p:origin x="6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BB0833A-BFFD-41BA-8D76-1B365042CEEA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‹nº›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34A80B-AECB-44D2-9086-F08EA3462C83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42DD3E-EFC4-4035-855F-9DCF82505FB0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4E3121-F8B8-4C5B-B348-208675F086B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323726-2027-4920-8F58-A2BABBE0825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EB1E21-3CAA-4C1D-94DB-7611236C78F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329F24-394A-4289-8966-DCA0D0440AE1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FE0EBD-E98B-4D82-9012-24FE82393E4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DE4516-D695-4E23-9BD9-6DED07E94F2D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F014E9-6860-49EB-B7FD-E93B68B559DC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D534E407-1F83-F248-4710-0F3F762ECFF5}"/>
              </a:ext>
            </a:extLst>
          </p:cNvPr>
          <p:cNvSpPr/>
          <p:nvPr/>
        </p:nvSpPr>
        <p:spPr>
          <a:xfrm>
            <a:off x="594360" y="2343447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5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Treinamento</a:t>
            </a:r>
            <a:r>
              <a:rPr lang="en-US" sz="3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Testes</a:t>
            </a:r>
            <a:endParaRPr lang="en-US" sz="35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6136C7A-BDC5-A88C-2FAC-DD15EC895AC3}"/>
              </a:ext>
            </a:extLst>
          </p:cNvPr>
          <p:cNvSpPr/>
          <p:nvPr/>
        </p:nvSpPr>
        <p:spPr>
          <a:xfrm>
            <a:off x="640080" y="3760767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0" i="1" strike="noStrike" spc="-1" dirty="0">
                <a:solidFill>
                  <a:srgbClr val="CADCFC"/>
                </a:solidFill>
                <a:latin typeface="Calibri"/>
                <a:ea typeface="Calibri"/>
              </a:rPr>
              <a:t>Como </a:t>
            </a:r>
            <a:r>
              <a:rPr lang="en-US" sz="1600" b="0" i="1" strike="noStrike" spc="-1" dirty="0" err="1">
                <a:solidFill>
                  <a:srgbClr val="CADCFC"/>
                </a:solidFill>
                <a:latin typeface="Calibri"/>
                <a:ea typeface="Calibri"/>
              </a:rPr>
              <a:t>treinar</a:t>
            </a:r>
            <a:r>
              <a:rPr lang="en-US" sz="1600" b="0" i="1" strike="noStrike" spc="-1" dirty="0">
                <a:solidFill>
                  <a:srgbClr val="CADCFC"/>
                </a:solidFill>
                <a:latin typeface="Calibri"/>
                <a:ea typeface="Calibri"/>
              </a:rPr>
              <a:t>, </a:t>
            </a:r>
            <a:r>
              <a:rPr lang="en-US" sz="1600" b="0" i="1" strike="noStrike" spc="-1" dirty="0" err="1">
                <a:solidFill>
                  <a:srgbClr val="CADCFC"/>
                </a:solidFill>
                <a:latin typeface="Calibri"/>
                <a:ea typeface="Calibri"/>
              </a:rPr>
              <a:t>validar</a:t>
            </a:r>
            <a:r>
              <a:rPr lang="en-US" sz="1600" b="0" i="1" strike="noStrike" spc="-1" dirty="0">
                <a:solidFill>
                  <a:srgbClr val="CADCFC"/>
                </a:solidFill>
                <a:latin typeface="Calibri"/>
                <a:ea typeface="Calibri"/>
              </a:rPr>
              <a:t> e </a:t>
            </a:r>
            <a:r>
              <a:rPr lang="en-US" sz="1600" b="0" i="1" strike="noStrike" spc="-1" dirty="0" err="1">
                <a:solidFill>
                  <a:srgbClr val="CADCFC"/>
                </a:solidFill>
                <a:latin typeface="Calibri"/>
                <a:ea typeface="Calibri"/>
              </a:rPr>
              <a:t>medir</a:t>
            </a:r>
            <a:r>
              <a:rPr lang="en-US" sz="1600" b="0" i="1" strike="noStrike" spc="-1" dirty="0">
                <a:solidFill>
                  <a:srgbClr val="CADCFC"/>
                </a:solidFill>
                <a:latin typeface="Calibri"/>
                <a:ea typeface="Calibri"/>
              </a:rPr>
              <a:t> um </a:t>
            </a:r>
            <a:r>
              <a:rPr lang="en-US" sz="1600" b="0" i="1" strike="noStrike" spc="-1" dirty="0" err="1">
                <a:solidFill>
                  <a:srgbClr val="CADCFC"/>
                </a:solidFill>
                <a:latin typeface="Calibri"/>
                <a:ea typeface="Calibri"/>
              </a:rPr>
              <a:t>modelo</a:t>
            </a:r>
            <a:r>
              <a:rPr lang="en-US" sz="1600" b="0" i="1" strike="noStrike" spc="-1" dirty="0">
                <a:solidFill>
                  <a:srgbClr val="CADCFC"/>
                </a:solidFill>
                <a:latin typeface="Calibri"/>
                <a:ea typeface="Calibri"/>
              </a:rPr>
              <a:t> de </a:t>
            </a:r>
            <a:r>
              <a:rPr lang="en-US" sz="1600" b="0" i="1" strike="noStrike" spc="-1" dirty="0" err="1">
                <a:solidFill>
                  <a:srgbClr val="CADCFC"/>
                </a:solidFill>
                <a:latin typeface="Calibri"/>
                <a:ea typeface="Calibri"/>
              </a:rPr>
              <a:t>Regressão</a:t>
            </a:r>
            <a:r>
              <a:rPr lang="en-US" sz="1600" b="0" i="1" strike="noStrike" spc="-1" dirty="0">
                <a:solidFill>
                  <a:srgbClr val="CADCFC"/>
                </a:solidFill>
                <a:latin typeface="Calibri"/>
                <a:ea typeface="Calibri"/>
              </a:rPr>
              <a:t> — com o dataset Diabetes</a:t>
            </a:r>
            <a:endParaRPr lang="en-US" sz="16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C65ECFC-CFAC-1162-B754-AF6BB527BA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02" t="20731" r="18964" b="13989"/>
          <a:stretch/>
        </p:blipFill>
        <p:spPr>
          <a:xfrm>
            <a:off x="735492" y="697733"/>
            <a:ext cx="2923215" cy="16779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E2761"/>
                </a:solidFill>
                <a:latin typeface="Cambria"/>
                <a:ea typeface="Cambria"/>
              </a:rPr>
              <a:t>A regra de ouro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Nunca avalie o modelo nos mesmos dados em que ele aprendeu.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548640" y="1965960"/>
            <a:ext cx="7680600" cy="868320"/>
          </a:xfrm>
          <a:prstGeom prst="roundRect">
            <a:avLst>
              <a:gd name="adj" fmla="val 6316"/>
            </a:avLst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548640" y="1965960"/>
            <a:ext cx="768060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Calibri"/>
                <a:ea typeface="Calibri"/>
              </a:rPr>
              <a:t>Treino  ~80%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4"/>
          <p:cNvSpPr/>
          <p:nvPr/>
        </p:nvSpPr>
        <p:spPr>
          <a:xfrm>
            <a:off x="8412480" y="1965960"/>
            <a:ext cx="3200040" cy="868320"/>
          </a:xfrm>
          <a:prstGeom prst="roundRect">
            <a:avLst>
              <a:gd name="adj" fmla="val 6316"/>
            </a:avLst>
          </a:prstGeom>
          <a:solidFill>
            <a:srgbClr val="F2B8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8412480" y="1965960"/>
            <a:ext cx="32000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1E2761"/>
                </a:solidFill>
                <a:latin typeface="Calibri"/>
                <a:ea typeface="Calibri"/>
              </a:rPr>
              <a:t>Teste  ~20%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6"/>
          <p:cNvSpPr/>
          <p:nvPr/>
        </p:nvSpPr>
        <p:spPr>
          <a:xfrm>
            <a:off x="548640" y="3108960"/>
            <a:ext cx="5440320" cy="2194200"/>
          </a:xfrm>
          <a:prstGeom prst="roundRect">
            <a:avLst>
              <a:gd name="adj" fmla="val 3333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7"/>
          <p:cNvSpPr/>
          <p:nvPr/>
        </p:nvSpPr>
        <p:spPr>
          <a:xfrm>
            <a:off x="822960" y="3291840"/>
            <a:ext cx="49374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1E2761"/>
                </a:solidFill>
                <a:latin typeface="Cambria"/>
                <a:ea typeface="Cambria"/>
              </a:rPr>
              <a:t>Treino — o modelo aprende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8"/>
          <p:cNvSpPr/>
          <p:nvPr/>
        </p:nvSpPr>
        <p:spPr>
          <a:xfrm>
            <a:off x="822960" y="3749040"/>
            <a:ext cx="493740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5A6072"/>
                </a:solidFill>
                <a:latin typeface="Calibri"/>
                <a:ea typeface="Calibri"/>
              </a:rPr>
              <a:t>Vê os dados e ajusta seus parâmetros para captar os padrões.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9"/>
          <p:cNvSpPr/>
          <p:nvPr/>
        </p:nvSpPr>
        <p:spPr>
          <a:xfrm>
            <a:off x="6172200" y="3108960"/>
            <a:ext cx="5440320" cy="219420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10"/>
          <p:cNvSpPr/>
          <p:nvPr/>
        </p:nvSpPr>
        <p:spPr>
          <a:xfrm>
            <a:off x="6446520" y="3291840"/>
            <a:ext cx="49374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Cambria"/>
                <a:ea typeface="Cambria"/>
              </a:rPr>
              <a:t>Teste — a prova final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11"/>
          <p:cNvSpPr/>
          <p:nvPr/>
        </p:nvSpPr>
        <p:spPr>
          <a:xfrm>
            <a:off x="6446520" y="3749040"/>
            <a:ext cx="493740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CADCFC"/>
                </a:solidFill>
                <a:latin typeface="Calibri"/>
                <a:ea typeface="Calibri"/>
              </a:rPr>
              <a:t>Dados que o modelo NUNCA viu. É aqui que se mede se ele generaliza ou só decorou.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2"/>
          <p:cNvSpPr/>
          <p:nvPr/>
        </p:nvSpPr>
        <p:spPr>
          <a:xfrm>
            <a:off x="548640" y="548640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6E79A0"/>
                </a:solidFill>
                <a:latin typeface="Calibri"/>
                <a:ea typeface="Calibri"/>
              </a:rPr>
              <a:t>Avaliar no treino é como dar a prova com o gabarito — o resultado engana.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12C958CA-9ACE-097B-4722-37C7F59F1B4A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76334472-B073-A8A8-63F1-9ACC8137E7BD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2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E2761"/>
                </a:solidFill>
                <a:latin typeface="Cambria"/>
                <a:ea typeface="Cambria"/>
              </a:rPr>
              <a:t>Train/Test Split na prática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1"/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Uma </a:t>
            </a:r>
            <a:r>
              <a:rPr lang="en-US" sz="15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linha</a:t>
            </a:r>
            <a:r>
              <a:rPr lang="en-US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do </a:t>
            </a:r>
            <a:r>
              <a:rPr lang="en-US" sz="1500" b="1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SKLearn</a:t>
            </a:r>
            <a:r>
              <a:rPr lang="en-US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</a:t>
            </a:r>
            <a:r>
              <a:rPr lang="en-US" sz="15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separa</a:t>
            </a:r>
            <a:r>
              <a:rPr lang="en-US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</a:t>
            </a:r>
            <a:r>
              <a:rPr lang="en-US" sz="15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os</a:t>
            </a:r>
            <a:r>
              <a:rPr lang="en-US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dados — e </a:t>
            </a:r>
            <a:r>
              <a:rPr lang="en-US" sz="15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reserva</a:t>
            </a:r>
            <a:r>
              <a:rPr lang="en-US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o teste.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2"/>
          <p:cNvSpPr/>
          <p:nvPr/>
        </p:nvSpPr>
        <p:spPr>
          <a:xfrm>
            <a:off x="548640" y="1920240"/>
            <a:ext cx="6674760" cy="2742840"/>
          </a:xfrm>
          <a:prstGeom prst="roundRect">
            <a:avLst>
              <a:gd name="adj" fmla="val 2000"/>
            </a:avLst>
          </a:prstGeom>
          <a:solidFill>
            <a:srgbClr val="12183A"/>
          </a:solidFill>
          <a:ln w="12700">
            <a:solidFill>
              <a:srgbClr val="2A35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3"/>
          <p:cNvSpPr/>
          <p:nvPr/>
        </p:nvSpPr>
        <p:spPr>
          <a:xfrm>
            <a:off x="749880" y="2057400"/>
            <a:ext cx="6272280" cy="246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200" b="0" strike="noStrike" spc="-1">
                <a:solidFill>
                  <a:srgbClr val="C79BF0"/>
                </a:solidFill>
                <a:latin typeface="Consolas"/>
                <a:ea typeface="Consolas"/>
              </a:rPr>
              <a:t>from </a:t>
            </a:r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sklearn.model_selection </a:t>
            </a:r>
            <a:r>
              <a:rPr lang="en-US" sz="1200" b="0" strike="noStrike" spc="-1">
                <a:solidFill>
                  <a:srgbClr val="C79BF0"/>
                </a:solidFill>
                <a:latin typeface="Consolas"/>
                <a:ea typeface="Consolas"/>
              </a:rPr>
              <a:t>import </a:t>
            </a:r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train_test_split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X_train, X_test, y_train, y_test = \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  train_test_split(df, y, test_size=</a:t>
            </a:r>
            <a:r>
              <a:rPr lang="en-US" sz="1200" b="0" strike="noStrike" spc="-1">
                <a:solidFill>
                  <a:srgbClr val="7FB4F0"/>
                </a:solidFill>
                <a:latin typeface="Consolas"/>
                <a:ea typeface="Consolas"/>
              </a:rPr>
              <a:t>0.2</a:t>
            </a:r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,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                   random_state=</a:t>
            </a:r>
            <a:r>
              <a:rPr lang="en-US" sz="1200" b="0" strike="noStrike" spc="-1">
                <a:solidFill>
                  <a:srgbClr val="7FB4F0"/>
                </a:solidFill>
                <a:latin typeface="Consolas"/>
                <a:ea typeface="Consolas"/>
              </a:rPr>
              <a:t>42</a:t>
            </a:r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)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4"/>
          <p:cNvSpPr/>
          <p:nvPr/>
        </p:nvSpPr>
        <p:spPr>
          <a:xfrm>
            <a:off x="7452360" y="1920240"/>
            <a:ext cx="4160160" cy="2742840"/>
          </a:xfrm>
          <a:prstGeom prst="roundRect">
            <a:avLst>
              <a:gd name="adj" fmla="val 2667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5"/>
          <p:cNvSpPr/>
          <p:nvPr/>
        </p:nvSpPr>
        <p:spPr>
          <a:xfrm>
            <a:off x="7726680" y="21031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1E2761"/>
                </a:solidFill>
                <a:latin typeface="Cambria"/>
                <a:ea typeface="Cambria"/>
              </a:rPr>
              <a:t>O que sai disso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6"/>
          <p:cNvSpPr/>
          <p:nvPr/>
        </p:nvSpPr>
        <p:spPr>
          <a:xfrm>
            <a:off x="7726680" y="2514600"/>
            <a:ext cx="365724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200" b="1" strike="noStrike" spc="-1">
                <a:solidFill>
                  <a:srgbClr val="4F7BE8"/>
                </a:solidFill>
                <a:latin typeface="Consolas"/>
                <a:ea typeface="Consolas"/>
              </a:rPr>
              <a:t>test_size=0.2</a:t>
            </a: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 → 20% teste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1" strike="noStrike" spc="-1">
                <a:solidFill>
                  <a:srgbClr val="4F7BE8"/>
                </a:solidFill>
                <a:latin typeface="Consolas"/>
                <a:ea typeface="Consolas"/>
              </a:rPr>
              <a:t>random_state=42</a:t>
            </a: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 → divisão sempre igual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Diabetes: 442 linhas →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1E2761"/>
                </a:solidFill>
                <a:latin typeface="Calibri"/>
                <a:ea typeface="Calibri"/>
              </a:rPr>
              <a:t>353 treino  +  89 teste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7"/>
          <p:cNvSpPr/>
          <p:nvPr/>
        </p:nvSpPr>
        <p:spPr>
          <a:xfrm>
            <a:off x="548640" y="493776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 dirty="0" err="1">
                <a:solidFill>
                  <a:srgbClr val="FF0000"/>
                </a:solidFill>
                <a:latin typeface="Calibri"/>
                <a:ea typeface="Calibri"/>
              </a:rPr>
              <a:t>Desafio</a:t>
            </a:r>
            <a:r>
              <a:rPr lang="en-US" sz="1350" b="0" strike="noStrike" spc="-1" dirty="0">
                <a:solidFill>
                  <a:srgbClr val="FF0000"/>
                </a:solidFill>
                <a:latin typeface="Calibri"/>
                <a:ea typeface="Calibri"/>
              </a:rPr>
              <a:t> 2 do Lab:</a:t>
            </a:r>
            <a:r>
              <a:rPr lang="en-US" sz="1350" b="0" i="1" strike="noStrike" spc="-1" dirty="0">
                <a:solidFill>
                  <a:srgbClr val="6E79A0"/>
                </a:solidFill>
                <a:latin typeface="Calibri"/>
                <a:ea typeface="Calibri"/>
              </a:rPr>
              <a:t> </a:t>
            </a:r>
            <a:r>
              <a:rPr lang="en-US" sz="1350" b="0" i="1" strike="noStrike" spc="-1" dirty="0" err="1">
                <a:solidFill>
                  <a:srgbClr val="6E79A0"/>
                </a:solidFill>
                <a:latin typeface="Calibri"/>
                <a:ea typeface="Calibri"/>
              </a:rPr>
              <a:t>varie</a:t>
            </a:r>
            <a:r>
              <a:rPr lang="en-US" sz="1350" b="0" i="1" strike="noStrike" spc="-1" dirty="0">
                <a:solidFill>
                  <a:srgbClr val="6E79A0"/>
                </a:solidFill>
                <a:latin typeface="Calibri"/>
                <a:ea typeface="Calibri"/>
              </a:rPr>
              <a:t> </a:t>
            </a:r>
            <a:r>
              <a:rPr lang="en-US" sz="1350" b="0" i="1" strike="noStrike" spc="-1" dirty="0" err="1">
                <a:solidFill>
                  <a:srgbClr val="6E79A0"/>
                </a:solidFill>
                <a:latin typeface="Calibri"/>
                <a:ea typeface="Calibri"/>
              </a:rPr>
              <a:t>test_size</a:t>
            </a:r>
            <a:r>
              <a:rPr lang="en-US" sz="1350" b="0" i="1" strike="noStrike" spc="-1" dirty="0">
                <a:solidFill>
                  <a:srgbClr val="6E79A0"/>
                </a:solidFill>
                <a:latin typeface="Calibri"/>
                <a:ea typeface="Calibri"/>
              </a:rPr>
              <a:t> (0.1, 0.3, 0.4) e observe o </a:t>
            </a:r>
            <a:r>
              <a:rPr lang="en-US" sz="1350" b="0" i="1" strike="noStrike" spc="-1" dirty="0" err="1">
                <a:solidFill>
                  <a:srgbClr val="6E79A0"/>
                </a:solidFill>
                <a:latin typeface="Calibri"/>
                <a:ea typeface="Calibri"/>
              </a:rPr>
              <a:t>efeito</a:t>
            </a:r>
            <a:r>
              <a:rPr lang="en-US" sz="1350" b="0" i="1" strike="noStrike" spc="-1" dirty="0">
                <a:solidFill>
                  <a:srgbClr val="6E79A0"/>
                </a:solidFill>
                <a:latin typeface="Calibri"/>
                <a:ea typeface="Calibri"/>
              </a:rPr>
              <a:t> </a:t>
            </a:r>
            <a:r>
              <a:rPr lang="en-US" sz="1350" b="0" i="1" strike="noStrike" spc="-1" dirty="0" err="1">
                <a:solidFill>
                  <a:srgbClr val="6E79A0"/>
                </a:solidFill>
                <a:latin typeface="Calibri"/>
                <a:ea typeface="Calibri"/>
              </a:rPr>
              <a:t>na</a:t>
            </a:r>
            <a:r>
              <a:rPr lang="en-US" sz="1350" b="0" i="1" strike="noStrike" spc="-1" dirty="0">
                <a:solidFill>
                  <a:srgbClr val="6E79A0"/>
                </a:solidFill>
                <a:latin typeface="Calibri"/>
                <a:ea typeface="Calibri"/>
              </a:rPr>
              <a:t> </a:t>
            </a:r>
            <a:r>
              <a:rPr lang="en-US" sz="1350" b="0" i="1" strike="noStrike" spc="-1" dirty="0" err="1">
                <a:solidFill>
                  <a:srgbClr val="6E79A0"/>
                </a:solidFill>
                <a:latin typeface="Calibri"/>
                <a:ea typeface="Calibri"/>
              </a:rPr>
              <a:t>avaliação</a:t>
            </a:r>
            <a:r>
              <a:rPr lang="en-US" sz="1350" b="0" i="1" strike="noStrike" spc="-1" dirty="0">
                <a:solidFill>
                  <a:srgbClr val="6E79A0"/>
                </a:solidFill>
                <a:latin typeface="Calibri"/>
                <a:ea typeface="Calibri"/>
              </a:rPr>
              <a:t>.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50" b="0" strike="noStrike" spc="-1" dirty="0" err="1">
                <a:solidFill>
                  <a:srgbClr val="000000"/>
                </a:solidFill>
                <a:latin typeface="Arial"/>
              </a:rPr>
              <a:t>random_state</a:t>
            </a:r>
            <a:r>
              <a:rPr lang="pt-BR" sz="1350" b="0" strike="noStrike" spc="-1" dirty="0">
                <a:solidFill>
                  <a:srgbClr val="000000"/>
                </a:solidFill>
                <a:latin typeface="Arial"/>
              </a:rPr>
              <a:t> fixa a divisão (reprodutibilidade). Trade-off do </a:t>
            </a:r>
            <a:r>
              <a:rPr lang="pt-BR" sz="1350" b="0" strike="noStrike" spc="-1" dirty="0" err="1">
                <a:solidFill>
                  <a:srgbClr val="000000"/>
                </a:solidFill>
                <a:latin typeface="Arial"/>
              </a:rPr>
              <a:t>test_size</a:t>
            </a:r>
            <a:r>
              <a:rPr lang="pt-BR" sz="1350" b="0" strike="noStrike" spc="-1" dirty="0">
                <a:solidFill>
                  <a:srgbClr val="000000"/>
                </a:solidFill>
                <a:latin typeface="Arial"/>
              </a:rPr>
              <a:t>: mais treino aprende melhor, mais teste avalia melhor — é o Desafio 2.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A47A4AE7-84DF-A185-16DF-DDEF8F914FDE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F85BF09A-9085-6F6C-B8B0-6C18F2738F6C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3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/>
          <p:nvPr/>
        </p:nvSpPr>
        <p:spPr>
          <a:xfrm>
            <a:off x="548640" y="45720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97">
                <a:solidFill>
                  <a:srgbClr val="4F7BE8"/>
                </a:solidFill>
                <a:latin typeface="Calibri"/>
                <a:ea typeface="Calibri"/>
              </a:rPr>
              <a:t>O CICLO DO MODELO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1"/>
          <p:cNvSpPr/>
          <p:nvPr/>
        </p:nvSpPr>
        <p:spPr>
          <a:xfrm>
            <a:off x="502920" y="822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strike="noStrike" spc="-1">
                <a:solidFill>
                  <a:srgbClr val="FFFFFF"/>
                </a:solidFill>
                <a:latin typeface="Cambria"/>
                <a:ea typeface="Cambria"/>
              </a:rPr>
              <a:t>Treinar, prever, avaliar</a:t>
            </a:r>
            <a:endParaRPr lang="en-US" sz="3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2"/>
          <p:cNvSpPr/>
          <p:nvPr/>
        </p:nvSpPr>
        <p:spPr>
          <a:xfrm>
            <a:off x="548640" y="2194560"/>
            <a:ext cx="3611520" cy="3017160"/>
          </a:xfrm>
          <a:prstGeom prst="roundRect">
            <a:avLst>
              <a:gd name="adj" fmla="val 2727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3"/>
          <p:cNvSpPr/>
          <p:nvPr/>
        </p:nvSpPr>
        <p:spPr>
          <a:xfrm>
            <a:off x="548640" y="2194560"/>
            <a:ext cx="3611520" cy="127800"/>
          </a:xfrm>
          <a:prstGeom prst="roundRect">
            <a:avLst>
              <a:gd name="adj" fmla="val 21429"/>
            </a:avLst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4"/>
          <p:cNvSpPr/>
          <p:nvPr/>
        </p:nvSpPr>
        <p:spPr>
          <a:xfrm>
            <a:off x="804600" y="246888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199">
                <a:solidFill>
                  <a:srgbClr val="4F7BE8"/>
                </a:solidFill>
                <a:latin typeface="Calibri"/>
                <a:ea typeface="Calibri"/>
              </a:rPr>
              <a:t>TREINAR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5"/>
          <p:cNvSpPr/>
          <p:nvPr/>
        </p:nvSpPr>
        <p:spPr>
          <a:xfrm>
            <a:off x="804600" y="2971800"/>
            <a:ext cx="3108600" cy="639720"/>
          </a:xfrm>
          <a:prstGeom prst="roundRect">
            <a:avLst>
              <a:gd name="adj" fmla="val 7143"/>
            </a:avLst>
          </a:prstGeom>
          <a:solidFill>
            <a:srgbClr val="12183A"/>
          </a:solidFill>
          <a:ln w="12700">
            <a:solidFill>
              <a:srgbClr val="2A35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6"/>
          <p:cNvSpPr/>
          <p:nvPr/>
        </p:nvSpPr>
        <p:spPr>
          <a:xfrm>
            <a:off x="914400" y="2971800"/>
            <a:ext cx="2925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7FD1A8"/>
                </a:solidFill>
                <a:latin typeface="Consolas"/>
                <a:ea typeface="Consolas"/>
              </a:rPr>
              <a:t>fit(X_train, y_train)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7"/>
          <p:cNvSpPr/>
          <p:nvPr/>
        </p:nvSpPr>
        <p:spPr>
          <a:xfrm>
            <a:off x="804600" y="3749040"/>
            <a:ext cx="315432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CADCFC"/>
                </a:solidFill>
                <a:latin typeface="Calibri"/>
                <a:ea typeface="Calibri"/>
              </a:rPr>
              <a:t>o modelo aprende os padrões — só com o treino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8"/>
          <p:cNvSpPr/>
          <p:nvPr/>
        </p:nvSpPr>
        <p:spPr>
          <a:xfrm>
            <a:off x="4005000" y="2194560"/>
            <a:ext cx="365400" cy="30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9FBCE8"/>
                </a:solidFill>
                <a:latin typeface="Calibri"/>
                <a:ea typeface="Calibri"/>
              </a:rPr>
              <a:t>→</a:t>
            </a:r>
            <a:endParaRPr lang="en-US" sz="2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Shape 9"/>
          <p:cNvSpPr/>
          <p:nvPr/>
        </p:nvSpPr>
        <p:spPr>
          <a:xfrm>
            <a:off x="4325040" y="2194560"/>
            <a:ext cx="3611520" cy="3017160"/>
          </a:xfrm>
          <a:prstGeom prst="roundRect">
            <a:avLst>
              <a:gd name="adj" fmla="val 2727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10"/>
          <p:cNvSpPr/>
          <p:nvPr/>
        </p:nvSpPr>
        <p:spPr>
          <a:xfrm>
            <a:off x="4325040" y="2194560"/>
            <a:ext cx="3611520" cy="127800"/>
          </a:xfrm>
          <a:prstGeom prst="roundRect">
            <a:avLst>
              <a:gd name="adj" fmla="val 21429"/>
            </a:avLst>
          </a:prstGeom>
          <a:solidFill>
            <a:srgbClr val="49B3A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11"/>
          <p:cNvSpPr/>
          <p:nvPr/>
        </p:nvSpPr>
        <p:spPr>
          <a:xfrm>
            <a:off x="4581000" y="246888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199">
                <a:solidFill>
                  <a:srgbClr val="49B3A0"/>
                </a:solidFill>
                <a:latin typeface="Calibri"/>
                <a:ea typeface="Calibri"/>
              </a:rPr>
              <a:t>PREVER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Shape 12"/>
          <p:cNvSpPr/>
          <p:nvPr/>
        </p:nvSpPr>
        <p:spPr>
          <a:xfrm>
            <a:off x="4581000" y="2971800"/>
            <a:ext cx="3108600" cy="639720"/>
          </a:xfrm>
          <a:prstGeom prst="roundRect">
            <a:avLst>
              <a:gd name="adj" fmla="val 7143"/>
            </a:avLst>
          </a:prstGeom>
          <a:solidFill>
            <a:srgbClr val="12183A"/>
          </a:solidFill>
          <a:ln w="12700">
            <a:solidFill>
              <a:srgbClr val="2A35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13"/>
          <p:cNvSpPr/>
          <p:nvPr/>
        </p:nvSpPr>
        <p:spPr>
          <a:xfrm>
            <a:off x="4690800" y="2971800"/>
            <a:ext cx="2925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7FD1A8"/>
                </a:solidFill>
                <a:latin typeface="Consolas"/>
                <a:ea typeface="Consolas"/>
              </a:rPr>
              <a:t>predict(X_test)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14"/>
          <p:cNvSpPr/>
          <p:nvPr/>
        </p:nvSpPr>
        <p:spPr>
          <a:xfrm>
            <a:off x="4581000" y="3749040"/>
            <a:ext cx="315432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CADCFC"/>
                </a:solidFill>
                <a:latin typeface="Calibri"/>
                <a:ea typeface="Calibri"/>
              </a:rPr>
              <a:t>gera previsões para dados nunca vistos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15"/>
          <p:cNvSpPr/>
          <p:nvPr/>
        </p:nvSpPr>
        <p:spPr>
          <a:xfrm>
            <a:off x="7781400" y="2194560"/>
            <a:ext cx="365400" cy="30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9FBCE8"/>
                </a:solidFill>
                <a:latin typeface="Calibri"/>
                <a:ea typeface="Calibri"/>
              </a:rPr>
              <a:t>→</a:t>
            </a:r>
            <a:endParaRPr lang="en-US" sz="2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16"/>
          <p:cNvSpPr/>
          <p:nvPr/>
        </p:nvSpPr>
        <p:spPr>
          <a:xfrm>
            <a:off x="8101440" y="2194560"/>
            <a:ext cx="3611520" cy="3017160"/>
          </a:xfrm>
          <a:prstGeom prst="roundRect">
            <a:avLst>
              <a:gd name="adj" fmla="val 2727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17"/>
          <p:cNvSpPr/>
          <p:nvPr/>
        </p:nvSpPr>
        <p:spPr>
          <a:xfrm>
            <a:off x="8101440" y="2194560"/>
            <a:ext cx="3611520" cy="127800"/>
          </a:xfrm>
          <a:prstGeom prst="roundRect">
            <a:avLst>
              <a:gd name="adj" fmla="val 21429"/>
            </a:avLst>
          </a:prstGeom>
          <a:solidFill>
            <a:srgbClr val="F2B8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18"/>
          <p:cNvSpPr/>
          <p:nvPr/>
        </p:nvSpPr>
        <p:spPr>
          <a:xfrm>
            <a:off x="8357760" y="246888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199">
                <a:solidFill>
                  <a:srgbClr val="F2B84A"/>
                </a:solidFill>
                <a:latin typeface="Calibri"/>
                <a:ea typeface="Calibri"/>
              </a:rPr>
              <a:t>AVALIAR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19"/>
          <p:cNvSpPr/>
          <p:nvPr/>
        </p:nvSpPr>
        <p:spPr>
          <a:xfrm>
            <a:off x="8357760" y="2971800"/>
            <a:ext cx="3108600" cy="639720"/>
          </a:xfrm>
          <a:prstGeom prst="roundRect">
            <a:avLst>
              <a:gd name="adj" fmla="val 7143"/>
            </a:avLst>
          </a:prstGeom>
          <a:solidFill>
            <a:srgbClr val="12183A"/>
          </a:solidFill>
          <a:ln w="12700">
            <a:solidFill>
              <a:srgbClr val="2A35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20"/>
          <p:cNvSpPr/>
          <p:nvPr/>
        </p:nvSpPr>
        <p:spPr>
          <a:xfrm>
            <a:off x="8467200" y="2971800"/>
            <a:ext cx="2925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7FD1A8"/>
                </a:solidFill>
                <a:latin typeface="Consolas"/>
                <a:ea typeface="Consolas"/>
              </a:rPr>
              <a:t>score / métricas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21"/>
          <p:cNvSpPr/>
          <p:nvPr/>
        </p:nvSpPr>
        <p:spPr>
          <a:xfrm>
            <a:off x="8357760" y="3749040"/>
            <a:ext cx="315432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CADCFC"/>
                </a:solidFill>
                <a:latin typeface="Calibri"/>
                <a:ea typeface="Calibri"/>
              </a:rPr>
              <a:t>compara previsões com os valores reais do teste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C6877388-68AE-EFE8-6502-D4EC6F60294C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5C1C9E25-CC07-B454-A0BA-69C60777CE07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4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Underfitting, Good fitting e Overfitting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75488" y="98755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conjunto de pontos, ajustado por modelos de complexidade crescente. A linha tracejada é o padrão real.</a:t>
            </a:r>
            <a:endParaRPr lang="en-US" sz="1450" dirty="0"/>
          </a:p>
        </p:txBody>
      </p:sp>
      <p:pic>
        <p:nvPicPr>
          <p:cNvPr id="4" name="Image 0" descr="fitting_t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11274552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74920"/>
            <a:ext cx="3611880" cy="1234440"/>
          </a:xfrm>
          <a:prstGeom prst="roundRect">
            <a:avLst>
              <a:gd name="adj" fmla="val 5185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5074920"/>
            <a:ext cx="3611880" cy="82296"/>
          </a:xfrm>
          <a:prstGeom prst="roundRect">
            <a:avLst>
              <a:gd name="adj" fmla="val 22222"/>
            </a:avLst>
          </a:prstGeom>
          <a:solidFill>
            <a:srgbClr val="C4506B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5175504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Underfitting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8368" y="5486400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simples demais (uma reta) — não captura a curvatura. Erra tanto nos dados de treino quanto em dados </a:t>
            </a:r>
            <a:r>
              <a:rPr lang="en-US" sz="1050" dirty="0" err="1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</a:t>
            </a: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0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APRENDEU !!</a:t>
            </a:r>
            <a:endParaRPr lang="en-US" sz="1050" b="1" dirty="0">
              <a:solidFill>
                <a:srgbClr val="FF0000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658368" y="6053328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5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 treino: alto · erro teste: alto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88536" y="5074920"/>
            <a:ext cx="3611880" cy="1234440"/>
          </a:xfrm>
          <a:prstGeom prst="roundRect">
            <a:avLst>
              <a:gd name="adj" fmla="val 5185"/>
            </a:avLst>
          </a:prstGeom>
          <a:solidFill>
            <a:srgbClr val="E7F3EC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88536" y="5074920"/>
            <a:ext cx="3611880" cy="82296"/>
          </a:xfrm>
          <a:prstGeom prst="roundRect">
            <a:avLst>
              <a:gd name="adj" fmla="val 22222"/>
            </a:avLst>
          </a:prstGeom>
          <a:solidFill>
            <a:srgbClr val="2E8B7A"/>
          </a:solidFill>
          <a:ln/>
        </p:spPr>
      </p:sp>
      <p:sp>
        <p:nvSpPr>
          <p:cNvPr id="12" name="Text 9"/>
          <p:cNvSpPr/>
          <p:nvPr/>
        </p:nvSpPr>
        <p:spPr>
          <a:xfrm>
            <a:off x="4489704" y="5175504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fitting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489704" y="5486400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certa — segue o padrão real sem perseguir cada ponto. </a:t>
            </a:r>
            <a:r>
              <a:rPr lang="en-US" sz="10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BEM</a:t>
            </a: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treino e generaliza para dados </a:t>
            </a:r>
            <a:r>
              <a:rPr lang="en-US" sz="1050" dirty="0" err="1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</a:t>
            </a: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489704" y="6053328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8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 treino: baixo · erro teste: baixo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119872" y="5074920"/>
            <a:ext cx="3611880" cy="1234440"/>
          </a:xfrm>
          <a:prstGeom prst="roundRect">
            <a:avLst>
              <a:gd name="adj" fmla="val 5185"/>
            </a:avLst>
          </a:prstGeom>
          <a:solidFill>
            <a:srgbClr val="1E2761"/>
          </a:solidFill>
          <a:ln/>
        </p:spPr>
      </p:sp>
      <p:sp>
        <p:nvSpPr>
          <p:cNvPr id="16" name="Shape 13"/>
          <p:cNvSpPr/>
          <p:nvPr/>
        </p:nvSpPr>
        <p:spPr>
          <a:xfrm>
            <a:off x="8119872" y="5074920"/>
            <a:ext cx="3611880" cy="82296"/>
          </a:xfrm>
          <a:prstGeom prst="roundRect">
            <a:avLst>
              <a:gd name="adj" fmla="val 22222"/>
            </a:avLst>
          </a:prstGeom>
          <a:solidFill>
            <a:srgbClr val="F2B84A"/>
          </a:solidFill>
          <a:ln/>
        </p:spPr>
      </p:sp>
      <p:sp>
        <p:nvSpPr>
          <p:cNvPr id="17" name="Text 14"/>
          <p:cNvSpPr/>
          <p:nvPr/>
        </p:nvSpPr>
        <p:spPr>
          <a:xfrm>
            <a:off x="8321040" y="5175504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321040" y="5486400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Complexo demais — passa por todos os pontos, mas </a:t>
            </a:r>
            <a:r>
              <a:rPr lang="en-US" sz="10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 O RUÍDO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Ótimo no treino e péssimo em dados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321040" y="6053328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2B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 treino: baixo · erro teste: ALTO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E2761"/>
                </a:solidFill>
                <a:latin typeface="Cambria"/>
                <a:ea typeface="Cambria"/>
              </a:rPr>
              <a:t>Cross-Validation (K-Folds)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1"/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Em vez de uma divisão só, K rodadas — cada fatia é teste uma vez.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2"/>
          <p:cNvSpPr/>
          <p:nvPr/>
        </p:nvSpPr>
        <p:spPr>
          <a:xfrm>
            <a:off x="822960" y="2103120"/>
            <a:ext cx="2029680" cy="502560"/>
          </a:xfrm>
          <a:prstGeom prst="rect">
            <a:avLst/>
          </a:prstGeom>
          <a:solidFill>
            <a:srgbClr val="F2B84A"/>
          </a:solidFill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3"/>
          <p:cNvSpPr/>
          <p:nvPr/>
        </p:nvSpPr>
        <p:spPr>
          <a:xfrm>
            <a:off x="822960" y="2103120"/>
            <a:ext cx="2029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E2761"/>
                </a:solidFill>
                <a:latin typeface="Calibri"/>
                <a:ea typeface="Calibri"/>
              </a:rPr>
              <a:t>teste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4"/>
          <p:cNvSpPr/>
          <p:nvPr/>
        </p:nvSpPr>
        <p:spPr>
          <a:xfrm>
            <a:off x="2907720" y="2103120"/>
            <a:ext cx="2029680" cy="502560"/>
          </a:xfrm>
          <a:prstGeom prst="rect">
            <a:avLst/>
          </a:prstGeom>
          <a:solidFill>
            <a:srgbClr val="9FBCE8"/>
          </a:solidFill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5"/>
          <p:cNvSpPr/>
          <p:nvPr/>
        </p:nvSpPr>
        <p:spPr>
          <a:xfrm>
            <a:off x="4992480" y="2103120"/>
            <a:ext cx="2029680" cy="502560"/>
          </a:xfrm>
          <a:prstGeom prst="rect">
            <a:avLst/>
          </a:prstGeom>
          <a:solidFill>
            <a:srgbClr val="9FBCE8"/>
          </a:solidFill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6"/>
          <p:cNvSpPr/>
          <p:nvPr/>
        </p:nvSpPr>
        <p:spPr>
          <a:xfrm>
            <a:off x="7077600" y="2103120"/>
            <a:ext cx="2029680" cy="502560"/>
          </a:xfrm>
          <a:prstGeom prst="rect">
            <a:avLst/>
          </a:prstGeom>
          <a:solidFill>
            <a:srgbClr val="9FBCE8"/>
          </a:solidFill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7"/>
          <p:cNvSpPr/>
          <p:nvPr/>
        </p:nvSpPr>
        <p:spPr>
          <a:xfrm>
            <a:off x="9162360" y="2103120"/>
            <a:ext cx="2029680" cy="502560"/>
          </a:xfrm>
          <a:prstGeom prst="rect">
            <a:avLst/>
          </a:prstGeom>
          <a:solidFill>
            <a:srgbClr val="9FBCE8"/>
          </a:solidFill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8"/>
          <p:cNvSpPr/>
          <p:nvPr/>
        </p:nvSpPr>
        <p:spPr>
          <a:xfrm>
            <a:off x="11384280" y="2103120"/>
            <a:ext cx="11883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6E79A0"/>
                </a:solidFill>
                <a:latin typeface="Calibri"/>
                <a:ea typeface="Calibri"/>
              </a:rPr>
              <a:t>rodada 1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9"/>
          <p:cNvSpPr/>
          <p:nvPr/>
        </p:nvSpPr>
        <p:spPr>
          <a:xfrm>
            <a:off x="822960" y="2715840"/>
            <a:ext cx="2029680" cy="502560"/>
          </a:xfrm>
          <a:prstGeom prst="rect">
            <a:avLst/>
          </a:prstGeom>
          <a:solidFill>
            <a:srgbClr val="9FBCE8"/>
          </a:solidFill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10"/>
          <p:cNvSpPr/>
          <p:nvPr/>
        </p:nvSpPr>
        <p:spPr>
          <a:xfrm>
            <a:off x="2907720" y="2715840"/>
            <a:ext cx="2029680" cy="502560"/>
          </a:xfrm>
          <a:prstGeom prst="rect">
            <a:avLst/>
          </a:prstGeom>
          <a:solidFill>
            <a:srgbClr val="F2B84A"/>
          </a:solidFill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11"/>
          <p:cNvSpPr/>
          <p:nvPr/>
        </p:nvSpPr>
        <p:spPr>
          <a:xfrm>
            <a:off x="2907720" y="2715840"/>
            <a:ext cx="2029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E2761"/>
                </a:solidFill>
                <a:latin typeface="Calibri"/>
                <a:ea typeface="Calibri"/>
              </a:rPr>
              <a:t>teste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12"/>
          <p:cNvSpPr/>
          <p:nvPr/>
        </p:nvSpPr>
        <p:spPr>
          <a:xfrm>
            <a:off x="4992480" y="2715840"/>
            <a:ext cx="2029680" cy="502560"/>
          </a:xfrm>
          <a:prstGeom prst="rect">
            <a:avLst/>
          </a:prstGeom>
          <a:solidFill>
            <a:srgbClr val="9FBCE8"/>
          </a:solidFill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13"/>
          <p:cNvSpPr/>
          <p:nvPr/>
        </p:nvSpPr>
        <p:spPr>
          <a:xfrm>
            <a:off x="7077600" y="2715840"/>
            <a:ext cx="2029680" cy="502560"/>
          </a:xfrm>
          <a:prstGeom prst="rect">
            <a:avLst/>
          </a:prstGeom>
          <a:solidFill>
            <a:srgbClr val="9FBCE8"/>
          </a:solidFill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14"/>
          <p:cNvSpPr/>
          <p:nvPr/>
        </p:nvSpPr>
        <p:spPr>
          <a:xfrm>
            <a:off x="9162360" y="2715840"/>
            <a:ext cx="2029680" cy="502560"/>
          </a:xfrm>
          <a:prstGeom prst="rect">
            <a:avLst/>
          </a:prstGeom>
          <a:solidFill>
            <a:srgbClr val="9FBCE8"/>
          </a:solidFill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15"/>
          <p:cNvSpPr/>
          <p:nvPr/>
        </p:nvSpPr>
        <p:spPr>
          <a:xfrm>
            <a:off x="11384280" y="2715840"/>
            <a:ext cx="11883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6E79A0"/>
                </a:solidFill>
                <a:latin typeface="Calibri"/>
                <a:ea typeface="Calibri"/>
              </a:rPr>
              <a:t>rodada 2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16"/>
          <p:cNvSpPr/>
          <p:nvPr/>
        </p:nvSpPr>
        <p:spPr>
          <a:xfrm>
            <a:off x="822960" y="3328560"/>
            <a:ext cx="2029680" cy="502560"/>
          </a:xfrm>
          <a:prstGeom prst="rect">
            <a:avLst/>
          </a:prstGeom>
          <a:solidFill>
            <a:srgbClr val="9FBCE8"/>
          </a:solidFill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17"/>
          <p:cNvSpPr/>
          <p:nvPr/>
        </p:nvSpPr>
        <p:spPr>
          <a:xfrm>
            <a:off x="2907720" y="3328560"/>
            <a:ext cx="2029680" cy="502560"/>
          </a:xfrm>
          <a:prstGeom prst="rect">
            <a:avLst/>
          </a:prstGeom>
          <a:solidFill>
            <a:srgbClr val="9FBCE8"/>
          </a:solidFill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18"/>
          <p:cNvSpPr/>
          <p:nvPr/>
        </p:nvSpPr>
        <p:spPr>
          <a:xfrm>
            <a:off x="4992480" y="3328560"/>
            <a:ext cx="2029680" cy="502560"/>
          </a:xfrm>
          <a:prstGeom prst="rect">
            <a:avLst/>
          </a:prstGeom>
          <a:solidFill>
            <a:srgbClr val="F2B84A"/>
          </a:solidFill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19"/>
          <p:cNvSpPr/>
          <p:nvPr/>
        </p:nvSpPr>
        <p:spPr>
          <a:xfrm>
            <a:off x="4992480" y="3328560"/>
            <a:ext cx="2029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E2761"/>
                </a:solidFill>
                <a:latin typeface="Calibri"/>
                <a:ea typeface="Calibri"/>
              </a:rPr>
              <a:t>teste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20"/>
          <p:cNvSpPr/>
          <p:nvPr/>
        </p:nvSpPr>
        <p:spPr>
          <a:xfrm>
            <a:off x="7077600" y="3328560"/>
            <a:ext cx="2029680" cy="502560"/>
          </a:xfrm>
          <a:prstGeom prst="rect">
            <a:avLst/>
          </a:prstGeom>
          <a:solidFill>
            <a:srgbClr val="9FBCE8"/>
          </a:solidFill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21"/>
          <p:cNvSpPr/>
          <p:nvPr/>
        </p:nvSpPr>
        <p:spPr>
          <a:xfrm>
            <a:off x="9162360" y="3328560"/>
            <a:ext cx="2029680" cy="502560"/>
          </a:xfrm>
          <a:prstGeom prst="rect">
            <a:avLst/>
          </a:prstGeom>
          <a:solidFill>
            <a:srgbClr val="9FBCE8"/>
          </a:solidFill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22"/>
          <p:cNvSpPr/>
          <p:nvPr/>
        </p:nvSpPr>
        <p:spPr>
          <a:xfrm>
            <a:off x="11384280" y="3328560"/>
            <a:ext cx="11883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6E79A0"/>
                </a:solidFill>
                <a:latin typeface="Calibri"/>
                <a:ea typeface="Calibri"/>
              </a:rPr>
              <a:t>rodada 3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23"/>
          <p:cNvSpPr/>
          <p:nvPr/>
        </p:nvSpPr>
        <p:spPr>
          <a:xfrm>
            <a:off x="822960" y="3940920"/>
            <a:ext cx="2029680" cy="502560"/>
          </a:xfrm>
          <a:prstGeom prst="rect">
            <a:avLst/>
          </a:prstGeom>
          <a:solidFill>
            <a:srgbClr val="9FBCE8"/>
          </a:solidFill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24"/>
          <p:cNvSpPr/>
          <p:nvPr/>
        </p:nvSpPr>
        <p:spPr>
          <a:xfrm>
            <a:off x="2907720" y="3940920"/>
            <a:ext cx="2029680" cy="502560"/>
          </a:xfrm>
          <a:prstGeom prst="rect">
            <a:avLst/>
          </a:prstGeom>
          <a:solidFill>
            <a:srgbClr val="9FBCE8"/>
          </a:solidFill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25"/>
          <p:cNvSpPr/>
          <p:nvPr/>
        </p:nvSpPr>
        <p:spPr>
          <a:xfrm>
            <a:off x="4992480" y="3940920"/>
            <a:ext cx="2029680" cy="502560"/>
          </a:xfrm>
          <a:prstGeom prst="rect">
            <a:avLst/>
          </a:prstGeom>
          <a:solidFill>
            <a:srgbClr val="9FBCE8"/>
          </a:solidFill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26"/>
          <p:cNvSpPr/>
          <p:nvPr/>
        </p:nvSpPr>
        <p:spPr>
          <a:xfrm>
            <a:off x="7077600" y="3940920"/>
            <a:ext cx="2029680" cy="502560"/>
          </a:xfrm>
          <a:prstGeom prst="rect">
            <a:avLst/>
          </a:prstGeom>
          <a:solidFill>
            <a:srgbClr val="F2B84A"/>
          </a:solidFill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27"/>
          <p:cNvSpPr/>
          <p:nvPr/>
        </p:nvSpPr>
        <p:spPr>
          <a:xfrm>
            <a:off x="7077600" y="3940920"/>
            <a:ext cx="2029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E2761"/>
                </a:solidFill>
                <a:latin typeface="Calibri"/>
                <a:ea typeface="Calibri"/>
              </a:rPr>
              <a:t>teste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28"/>
          <p:cNvSpPr/>
          <p:nvPr/>
        </p:nvSpPr>
        <p:spPr>
          <a:xfrm>
            <a:off x="9162360" y="3940920"/>
            <a:ext cx="2029680" cy="502560"/>
          </a:xfrm>
          <a:prstGeom prst="rect">
            <a:avLst/>
          </a:prstGeom>
          <a:solidFill>
            <a:srgbClr val="9FBCE8"/>
          </a:solidFill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29"/>
          <p:cNvSpPr/>
          <p:nvPr/>
        </p:nvSpPr>
        <p:spPr>
          <a:xfrm>
            <a:off x="11384280" y="3940920"/>
            <a:ext cx="11883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6E79A0"/>
                </a:solidFill>
                <a:latin typeface="Calibri"/>
                <a:ea typeface="Calibri"/>
              </a:rPr>
              <a:t>rodada 4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30"/>
          <p:cNvSpPr/>
          <p:nvPr/>
        </p:nvSpPr>
        <p:spPr>
          <a:xfrm>
            <a:off x="822960" y="4553640"/>
            <a:ext cx="2029680" cy="502560"/>
          </a:xfrm>
          <a:prstGeom prst="rect">
            <a:avLst/>
          </a:prstGeom>
          <a:solidFill>
            <a:srgbClr val="9FBCE8"/>
          </a:solidFill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31"/>
          <p:cNvSpPr/>
          <p:nvPr/>
        </p:nvSpPr>
        <p:spPr>
          <a:xfrm>
            <a:off x="2907720" y="4553640"/>
            <a:ext cx="2029680" cy="502560"/>
          </a:xfrm>
          <a:prstGeom prst="rect">
            <a:avLst/>
          </a:prstGeom>
          <a:solidFill>
            <a:srgbClr val="9FBCE8"/>
          </a:solidFill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32"/>
          <p:cNvSpPr/>
          <p:nvPr/>
        </p:nvSpPr>
        <p:spPr>
          <a:xfrm>
            <a:off x="4992480" y="4553640"/>
            <a:ext cx="2029680" cy="502560"/>
          </a:xfrm>
          <a:prstGeom prst="rect">
            <a:avLst/>
          </a:prstGeom>
          <a:solidFill>
            <a:srgbClr val="9FBCE8"/>
          </a:solidFill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33"/>
          <p:cNvSpPr/>
          <p:nvPr/>
        </p:nvSpPr>
        <p:spPr>
          <a:xfrm>
            <a:off x="7077600" y="4553640"/>
            <a:ext cx="2029680" cy="502560"/>
          </a:xfrm>
          <a:prstGeom prst="rect">
            <a:avLst/>
          </a:prstGeom>
          <a:solidFill>
            <a:srgbClr val="9FBCE8"/>
          </a:solidFill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34"/>
          <p:cNvSpPr/>
          <p:nvPr/>
        </p:nvSpPr>
        <p:spPr>
          <a:xfrm>
            <a:off x="9162360" y="4553640"/>
            <a:ext cx="2029680" cy="502560"/>
          </a:xfrm>
          <a:prstGeom prst="rect">
            <a:avLst/>
          </a:prstGeom>
          <a:solidFill>
            <a:srgbClr val="F2B84A"/>
          </a:solidFill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35"/>
          <p:cNvSpPr/>
          <p:nvPr/>
        </p:nvSpPr>
        <p:spPr>
          <a:xfrm>
            <a:off x="9162360" y="4553640"/>
            <a:ext cx="2029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E2761"/>
                </a:solidFill>
                <a:latin typeface="Calibri"/>
                <a:ea typeface="Calibri"/>
              </a:rPr>
              <a:t>teste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36"/>
          <p:cNvSpPr/>
          <p:nvPr/>
        </p:nvSpPr>
        <p:spPr>
          <a:xfrm>
            <a:off x="11384280" y="4553640"/>
            <a:ext cx="11883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6E79A0"/>
                </a:solidFill>
                <a:latin typeface="Calibri"/>
                <a:ea typeface="Calibri"/>
              </a:rPr>
              <a:t>rodada 5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37"/>
          <p:cNvSpPr/>
          <p:nvPr/>
        </p:nvSpPr>
        <p:spPr>
          <a:xfrm>
            <a:off x="822960" y="521208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Cada</a:t>
            </a:r>
            <a:r>
              <a:rPr lang="en-US" sz="14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</a:t>
            </a:r>
            <a:r>
              <a:rPr lang="en-US" sz="14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rodada</a:t>
            </a:r>
            <a:r>
              <a:rPr lang="en-US" sz="14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</a:t>
            </a:r>
            <a:r>
              <a:rPr lang="en-US" sz="14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treina</a:t>
            </a:r>
            <a:r>
              <a:rPr lang="en-US" sz="14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</a:t>
            </a:r>
            <a:r>
              <a:rPr lang="en-US" sz="14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em</a:t>
            </a:r>
            <a:r>
              <a:rPr lang="en-US" sz="14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4 </a:t>
            </a:r>
            <a:r>
              <a:rPr lang="en-US" sz="14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fatias</a:t>
            </a:r>
            <a:r>
              <a:rPr lang="en-US" sz="14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(</a:t>
            </a:r>
            <a:r>
              <a:rPr lang="en-US" sz="14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azul</a:t>
            </a:r>
            <a:r>
              <a:rPr lang="en-US" sz="14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) e </a:t>
            </a:r>
            <a:r>
              <a:rPr lang="en-US" sz="14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testa</a:t>
            </a:r>
            <a:r>
              <a:rPr lang="en-US" sz="14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</a:t>
            </a:r>
            <a:r>
              <a:rPr lang="en-US" sz="14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na</a:t>
            </a:r>
            <a:r>
              <a:rPr lang="en-US" sz="14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que </a:t>
            </a:r>
            <a:r>
              <a:rPr lang="en-US" sz="14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sobra</a:t>
            </a:r>
            <a:r>
              <a:rPr lang="en-US" sz="14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(</a:t>
            </a:r>
            <a:r>
              <a:rPr lang="en-US" sz="14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dourada</a:t>
            </a:r>
            <a:r>
              <a:rPr lang="en-US" sz="14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). O </a:t>
            </a:r>
            <a:r>
              <a:rPr lang="en-US" sz="14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desempenho</a:t>
            </a:r>
            <a:r>
              <a:rPr lang="en-US" sz="14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final é a </a:t>
            </a:r>
            <a:r>
              <a:rPr lang="en-US" sz="14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média</a:t>
            </a:r>
            <a:r>
              <a:rPr lang="en-US" sz="14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das K </a:t>
            </a:r>
            <a:r>
              <a:rPr lang="en-US" sz="14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rodadas</a:t>
            </a:r>
            <a:r>
              <a:rPr lang="en-US" sz="14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— </a:t>
            </a:r>
            <a:r>
              <a:rPr lang="en-US" sz="14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mais</a:t>
            </a:r>
            <a:r>
              <a:rPr lang="en-US" sz="14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</a:t>
            </a:r>
            <a:r>
              <a:rPr lang="en-US" sz="14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estável</a:t>
            </a:r>
            <a:r>
              <a:rPr lang="en-US" sz="14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que </a:t>
            </a:r>
            <a:r>
              <a:rPr lang="en-US" sz="14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uma</a:t>
            </a:r>
            <a:r>
              <a:rPr lang="en-US" sz="14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</a:t>
            </a:r>
            <a:r>
              <a:rPr lang="en-US" sz="14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divisão</a:t>
            </a:r>
            <a:r>
              <a:rPr lang="en-US" sz="14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</a:t>
            </a:r>
            <a:r>
              <a:rPr lang="en-US" sz="14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única</a:t>
            </a:r>
            <a:r>
              <a:rPr lang="en-US" sz="14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.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 dirty="0">
              <a:solidFill>
                <a:srgbClr val="5A6072"/>
              </a:solidFill>
              <a:latin typeface="Calibri"/>
              <a:ea typeface="Calibri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strike="noStrike" spc="-1" dirty="0">
                <a:solidFill>
                  <a:srgbClr val="000000"/>
                </a:solidFill>
                <a:latin typeface="Arial"/>
              </a:rPr>
              <a:t>K-</a:t>
            </a:r>
            <a:r>
              <a:rPr lang="pt-BR" sz="1400" b="1" strike="noStrike" spc="-1" dirty="0" err="1">
                <a:solidFill>
                  <a:srgbClr val="000000"/>
                </a:solidFill>
                <a:latin typeface="Arial"/>
              </a:rPr>
              <a:t>Fold</a:t>
            </a:r>
            <a:r>
              <a:rPr lang="pt-BR" sz="1400" b="1" strike="noStrike" spc="-1" dirty="0">
                <a:solidFill>
                  <a:srgbClr val="000000"/>
                </a:solidFill>
                <a:latin typeface="Arial"/>
              </a:rPr>
              <a:t> visual:</a:t>
            </a:r>
            <a:r>
              <a:rPr lang="pt-BR" sz="1400" b="0" strike="noStrike" spc="-1" dirty="0">
                <a:solidFill>
                  <a:srgbClr val="000000"/>
                </a:solidFill>
                <a:latin typeface="Arial"/>
              </a:rPr>
              <a:t> a diagonal dourada mostra cada </a:t>
            </a:r>
            <a:r>
              <a:rPr lang="pt-BR" sz="1400" b="0" strike="noStrike" spc="-1" dirty="0" err="1">
                <a:solidFill>
                  <a:srgbClr val="000000"/>
                </a:solidFill>
                <a:latin typeface="Arial"/>
              </a:rPr>
              <a:t>fold</a:t>
            </a:r>
            <a:r>
              <a:rPr lang="pt-BR" sz="1400" b="0" strike="noStrike" spc="-1" dirty="0">
                <a:solidFill>
                  <a:srgbClr val="000000"/>
                </a:solidFill>
                <a:latin typeface="Arial"/>
              </a:rPr>
              <a:t> sendo teste uma vez. 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strike="noStrike" spc="-1" dirty="0">
                <a:solidFill>
                  <a:srgbClr val="000000"/>
                </a:solidFill>
                <a:latin typeface="Arial"/>
              </a:rPr>
              <a:t>Média de acurácia das rodadas = avaliação robusta. k=5 ou 10 na prática (</a:t>
            </a:r>
            <a:r>
              <a:rPr lang="pt-BR" sz="1400" b="0" strike="noStrike" spc="-1" dirty="0">
                <a:solidFill>
                  <a:srgbClr val="FF0000"/>
                </a:solidFill>
                <a:latin typeface="Arial"/>
              </a:rPr>
              <a:t>Desafio 3 do </a:t>
            </a:r>
            <a:r>
              <a:rPr lang="pt-BR" sz="1400" b="0" strike="noStrike" spc="-1" dirty="0" err="1">
                <a:solidFill>
                  <a:srgbClr val="FF0000"/>
                </a:solidFill>
                <a:latin typeface="Arial"/>
              </a:rPr>
              <a:t>Lab</a:t>
            </a:r>
            <a:r>
              <a:rPr lang="pt-BR" sz="1400" b="0" strike="noStrike" spc="-1" dirty="0">
                <a:solidFill>
                  <a:srgbClr val="000000"/>
                </a:solidFill>
                <a:latin typeface="Arial"/>
              </a:rPr>
              <a:t>).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89296FA8-FBB2-D66D-6B6D-89F82317DC20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D68C3175-6CB4-B0F8-2EA7-0544DAC981ED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6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 0"/>
          <p:cNvSpPr/>
          <p:nvPr/>
        </p:nvSpPr>
        <p:spPr>
          <a:xfrm>
            <a:off x="548640" y="45720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97">
                <a:solidFill>
                  <a:srgbClr val="4F7BE8"/>
                </a:solidFill>
                <a:latin typeface="Calibri"/>
                <a:ea typeface="Calibri"/>
              </a:rPr>
              <a:t>K-FOLDS NO CÓDIGO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1"/>
          <p:cNvSpPr/>
          <p:nvPr/>
        </p:nvSpPr>
        <p:spPr>
          <a:xfrm>
            <a:off x="502920" y="822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strike="noStrike" spc="-1">
                <a:solidFill>
                  <a:srgbClr val="FFFFFF"/>
                </a:solidFill>
                <a:latin typeface="Cambria"/>
                <a:ea typeface="Cambria"/>
              </a:rPr>
              <a:t>Como o cross-validator separa os dados</a:t>
            </a:r>
            <a:endParaRPr lang="en-US" sz="3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Shape 2"/>
          <p:cNvSpPr/>
          <p:nvPr/>
        </p:nvSpPr>
        <p:spPr>
          <a:xfrm>
            <a:off x="548640" y="1965960"/>
            <a:ext cx="6766200" cy="2925720"/>
          </a:xfrm>
          <a:prstGeom prst="roundRect">
            <a:avLst>
              <a:gd name="adj" fmla="val 1875"/>
            </a:avLst>
          </a:prstGeom>
          <a:solidFill>
            <a:srgbClr val="12183A"/>
          </a:solidFill>
          <a:ln w="12700">
            <a:solidFill>
              <a:srgbClr val="2A35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3"/>
          <p:cNvSpPr/>
          <p:nvPr/>
        </p:nvSpPr>
        <p:spPr>
          <a:xfrm>
            <a:off x="749880" y="2103120"/>
            <a:ext cx="6363720" cy="265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200" b="0" strike="noStrike" spc="-1">
                <a:solidFill>
                  <a:srgbClr val="C79BF0"/>
                </a:solidFill>
                <a:latin typeface="Consolas"/>
                <a:ea typeface="Consolas"/>
              </a:rPr>
              <a:t>from </a:t>
            </a:r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sklearn.model_selection </a:t>
            </a:r>
            <a:r>
              <a:rPr lang="en-US" sz="1200" b="0" strike="noStrike" spc="-1">
                <a:solidFill>
                  <a:srgbClr val="C79BF0"/>
                </a:solidFill>
                <a:latin typeface="Consolas"/>
                <a:ea typeface="Consolas"/>
              </a:rPr>
              <a:t>import </a:t>
            </a:r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KFold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kf = KFold(n_splits=</a:t>
            </a:r>
            <a:r>
              <a:rPr lang="en-US" sz="1200" b="0" strike="noStrike" spc="-1">
                <a:solidFill>
                  <a:srgbClr val="7FB4F0"/>
                </a:solidFill>
                <a:latin typeface="Consolas"/>
                <a:ea typeface="Consolas"/>
              </a:rPr>
              <a:t>5</a:t>
            </a:r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)     </a:t>
            </a:r>
            <a:r>
              <a:rPr lang="en-US" sz="1200" b="0" strike="noStrike" spc="-1">
                <a:solidFill>
                  <a:srgbClr val="6E79A0"/>
                </a:solidFill>
                <a:latin typeface="Consolas"/>
                <a:ea typeface="Consolas"/>
              </a:rPr>
              <a:t># k = 5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C79BF0"/>
                </a:solidFill>
                <a:latin typeface="Consolas"/>
                <a:ea typeface="Consolas"/>
              </a:rPr>
              <a:t>for </a:t>
            </a:r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tr, te </a:t>
            </a:r>
            <a:r>
              <a:rPr lang="en-US" sz="1200" b="0" strike="noStrike" spc="-1">
                <a:solidFill>
                  <a:srgbClr val="C79BF0"/>
                </a:solidFill>
                <a:latin typeface="Consolas"/>
                <a:ea typeface="Consolas"/>
              </a:rPr>
              <a:t>in </a:t>
            </a:r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kf.split(X):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    print(</a:t>
            </a:r>
            <a:r>
              <a:rPr lang="en-US" sz="1200" b="0" strike="noStrike" spc="-1">
                <a:solidFill>
                  <a:srgbClr val="7FD1A8"/>
                </a:solidFill>
                <a:latin typeface="Consolas"/>
                <a:ea typeface="Consolas"/>
              </a:rPr>
              <a:t>"TRAIN:"</a:t>
            </a:r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, tr, </a:t>
            </a:r>
            <a:r>
              <a:rPr lang="en-US" sz="1200" b="0" strike="noStrike" spc="-1">
                <a:solidFill>
                  <a:srgbClr val="7FD1A8"/>
                </a:solidFill>
                <a:latin typeface="Consolas"/>
                <a:ea typeface="Consolas"/>
              </a:rPr>
              <a:t>"TEST:"</a:t>
            </a:r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, te)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Shape 4"/>
          <p:cNvSpPr/>
          <p:nvPr/>
        </p:nvSpPr>
        <p:spPr>
          <a:xfrm>
            <a:off x="7543800" y="1965960"/>
            <a:ext cx="4068720" cy="2925720"/>
          </a:xfrm>
          <a:prstGeom prst="roundRect">
            <a:avLst>
              <a:gd name="adj" fmla="val 2500"/>
            </a:avLst>
          </a:prstGeom>
          <a:solidFill>
            <a:srgbClr val="141A45"/>
          </a:solidFill>
          <a:ln w="12700">
            <a:solidFill>
              <a:srgbClr val="34407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5"/>
          <p:cNvSpPr/>
          <p:nvPr/>
        </p:nvSpPr>
        <p:spPr>
          <a:xfrm>
            <a:off x="7818120" y="214884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97">
                <a:solidFill>
                  <a:srgbClr val="F2B84A"/>
                </a:solidFill>
                <a:latin typeface="Calibri"/>
                <a:ea typeface="Calibri"/>
              </a:rPr>
              <a:t>QUANDO USAR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6"/>
          <p:cNvSpPr/>
          <p:nvPr/>
        </p:nvSpPr>
        <p:spPr>
          <a:xfrm>
            <a:off x="7818120" y="2560320"/>
            <a:ext cx="356580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350" b="1" strike="noStrike" spc="-1">
                <a:solidFill>
                  <a:srgbClr val="CADCFC"/>
                </a:solidFill>
                <a:latin typeface="Calibri"/>
                <a:ea typeface="Calibri"/>
              </a:rPr>
              <a:t>Dataset pequeno</a:t>
            </a:r>
            <a:r>
              <a:rPr lang="en-US" sz="1350" b="0" strike="noStrike" spc="-1">
                <a:solidFill>
                  <a:srgbClr val="CADCFC"/>
                </a:solidFill>
                <a:latin typeface="Calibri"/>
                <a:ea typeface="Calibri"/>
              </a:rPr>
              <a:t> — aproveita todos os dados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  <a:p>
            <a:endParaRPr lang="en-US" sz="1350" b="0" strike="noStrike" spc="-1">
              <a:solidFill>
                <a:srgbClr val="FFFFFF"/>
              </a:solidFill>
              <a:latin typeface="Arial"/>
            </a:endParaRPr>
          </a:p>
          <a:p>
            <a:r>
              <a:rPr lang="en-US" sz="1350" b="1" strike="noStrike" spc="-1">
                <a:solidFill>
                  <a:srgbClr val="CADCFC"/>
                </a:solidFill>
                <a:latin typeface="Calibri"/>
                <a:ea typeface="Calibri"/>
              </a:rPr>
              <a:t>Avaliação estável</a:t>
            </a:r>
            <a:r>
              <a:rPr lang="en-US" sz="1350" b="0" strike="noStrike" spc="-1">
                <a:solidFill>
                  <a:srgbClr val="CADCFC"/>
                </a:solidFill>
                <a:latin typeface="Calibri"/>
                <a:ea typeface="Calibri"/>
              </a:rPr>
              <a:t> — não depende de uma divisão "de sorte"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  <a:p>
            <a:endParaRPr lang="en-US" sz="13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CADCFC"/>
                </a:solidFill>
                <a:latin typeface="Calibri"/>
                <a:ea typeface="Calibri"/>
              </a:rPr>
              <a:t>k = 5 ou 10</a:t>
            </a:r>
            <a:r>
              <a:rPr lang="en-US" sz="1350" b="0" strike="noStrike" spc="-1">
                <a:solidFill>
                  <a:srgbClr val="CADCFC"/>
                </a:solidFill>
                <a:latin typeface="Calibri"/>
                <a:ea typeface="Calibri"/>
              </a:rPr>
              <a:t> são os mais usados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7"/>
          <p:cNvSpPr/>
          <p:nvPr/>
        </p:nvSpPr>
        <p:spPr>
          <a:xfrm>
            <a:off x="548640" y="512064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strike="noStrike" spc="-1" dirty="0" err="1">
                <a:solidFill>
                  <a:srgbClr val="FF0000"/>
                </a:solidFill>
                <a:latin typeface="Calibri"/>
                <a:ea typeface="Calibri"/>
              </a:rPr>
              <a:t>Desafio</a:t>
            </a:r>
            <a:r>
              <a:rPr lang="en-US" sz="1350" b="0" i="1" strike="noStrike" spc="-1" dirty="0">
                <a:solidFill>
                  <a:srgbClr val="FF0000"/>
                </a:solidFill>
                <a:latin typeface="Calibri"/>
                <a:ea typeface="Calibri"/>
              </a:rPr>
              <a:t> 3 do Lab:</a:t>
            </a:r>
            <a:r>
              <a:rPr lang="en-US" sz="1350" b="0" i="1" strike="noStrike" spc="-1" dirty="0">
                <a:solidFill>
                  <a:srgbClr val="9FBCE8"/>
                </a:solidFill>
                <a:latin typeface="Calibri"/>
                <a:ea typeface="Calibri"/>
              </a:rPr>
              <a:t> </a:t>
            </a:r>
            <a:r>
              <a:rPr lang="en-US" sz="1350" b="0" i="1" strike="noStrike" spc="-1" dirty="0" err="1">
                <a:solidFill>
                  <a:srgbClr val="9FBCE8"/>
                </a:solidFill>
                <a:latin typeface="Calibri"/>
                <a:ea typeface="Calibri"/>
              </a:rPr>
              <a:t>varie</a:t>
            </a:r>
            <a:r>
              <a:rPr lang="en-US" sz="1350" b="0" i="1" strike="noStrike" spc="-1" dirty="0">
                <a:solidFill>
                  <a:srgbClr val="9FBCE8"/>
                </a:solidFill>
                <a:latin typeface="Calibri"/>
                <a:ea typeface="Calibri"/>
              </a:rPr>
              <a:t> </a:t>
            </a:r>
            <a:r>
              <a:rPr lang="en-US" sz="1350" b="0" i="1" strike="noStrike" spc="-1" dirty="0" err="1">
                <a:solidFill>
                  <a:srgbClr val="9FBCE8"/>
                </a:solidFill>
                <a:latin typeface="Calibri"/>
                <a:ea typeface="Calibri"/>
              </a:rPr>
              <a:t>n_splits</a:t>
            </a:r>
            <a:r>
              <a:rPr lang="en-US" sz="1350" b="0" i="1" strike="noStrike" spc="-1" dirty="0">
                <a:solidFill>
                  <a:srgbClr val="9FBCE8"/>
                </a:solidFill>
                <a:latin typeface="Calibri"/>
                <a:ea typeface="Calibri"/>
              </a:rPr>
              <a:t> (3, 5, 10) e observe </a:t>
            </a:r>
            <a:r>
              <a:rPr lang="en-US" sz="1350" b="0" i="1" strike="noStrike" spc="-1" dirty="0" err="1">
                <a:solidFill>
                  <a:srgbClr val="9FBCE8"/>
                </a:solidFill>
                <a:latin typeface="Calibri"/>
                <a:ea typeface="Calibri"/>
              </a:rPr>
              <a:t>como</a:t>
            </a:r>
            <a:r>
              <a:rPr lang="en-US" sz="1350" b="0" i="1" strike="noStrike" spc="-1" dirty="0">
                <a:solidFill>
                  <a:srgbClr val="9FBCE8"/>
                </a:solidFill>
                <a:latin typeface="Calibri"/>
                <a:ea typeface="Calibri"/>
              </a:rPr>
              <a:t> o cross-validator </a:t>
            </a:r>
            <a:r>
              <a:rPr lang="en-US" sz="1350" b="0" i="1" strike="noStrike" spc="-1" dirty="0" err="1">
                <a:solidFill>
                  <a:srgbClr val="9FBCE8"/>
                </a:solidFill>
                <a:latin typeface="Calibri"/>
                <a:ea typeface="Calibri"/>
              </a:rPr>
              <a:t>trabalha</a:t>
            </a:r>
            <a:r>
              <a:rPr lang="en-US" sz="1350" b="0" i="1" strike="noStrike" spc="-1" dirty="0">
                <a:solidFill>
                  <a:srgbClr val="9FBCE8"/>
                </a:solidFill>
                <a:latin typeface="Calibri"/>
                <a:ea typeface="Calibri"/>
              </a:rPr>
              <a:t>.</a:t>
            </a:r>
            <a:endParaRPr lang="en-US" sz="135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A6DD83F0-F15C-02A0-6748-7A10F48388C2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B4CA09B5-8B56-DC9F-7228-C827F0AD1294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7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 1"/>
          <p:cNvSpPr/>
          <p:nvPr/>
        </p:nvSpPr>
        <p:spPr>
          <a:xfrm>
            <a:off x="640080" y="237744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199">
                <a:solidFill>
                  <a:srgbClr val="F2B84A"/>
                </a:solidFill>
                <a:latin typeface="Calibri"/>
                <a:ea typeface="Calibri"/>
              </a:rPr>
              <a:t>A PERGUNTA QUE FECHA O CICLO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2"/>
          <p:cNvSpPr/>
          <p:nvPr/>
        </p:nvSpPr>
        <p:spPr>
          <a:xfrm>
            <a:off x="594360" y="2834640"/>
            <a:ext cx="1097244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>
                <a:solidFill>
                  <a:srgbClr val="FFFFFF"/>
                </a:solidFill>
                <a:latin typeface="Cambria"/>
                <a:ea typeface="Cambria"/>
              </a:rPr>
              <a:t>Métricas de regressão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3"/>
          <p:cNvSpPr/>
          <p:nvPr/>
        </p:nvSpPr>
        <p:spPr>
          <a:xfrm>
            <a:off x="640080" y="397764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strike="noStrike" spc="-1">
                <a:solidFill>
                  <a:srgbClr val="CADCFC"/>
                </a:solidFill>
                <a:latin typeface="Calibri"/>
                <a:ea typeface="Calibri"/>
              </a:rPr>
              <a:t>"Meu modelo é bom?" — o score sozinho diz pouco. Três métricas dão a resposta.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E2761"/>
                </a:solidFill>
                <a:latin typeface="Cambria"/>
                <a:ea typeface="Cambria"/>
              </a:rPr>
              <a:t>MAE, RMSE e R²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Três formas de responder "o quanto o modelo erra?"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2"/>
          <p:cNvSpPr/>
          <p:nvPr/>
        </p:nvSpPr>
        <p:spPr>
          <a:xfrm>
            <a:off x="548640" y="1920240"/>
            <a:ext cx="3611520" cy="3702960"/>
          </a:xfrm>
          <a:prstGeom prst="roundRect">
            <a:avLst>
              <a:gd name="adj" fmla="val 2278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3"/>
          <p:cNvSpPr/>
          <p:nvPr/>
        </p:nvSpPr>
        <p:spPr>
          <a:xfrm>
            <a:off x="548640" y="1920240"/>
            <a:ext cx="3611520" cy="127800"/>
          </a:xfrm>
          <a:prstGeom prst="roundRect">
            <a:avLst>
              <a:gd name="adj" fmla="val 21429"/>
            </a:avLst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804600" y="214884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1E2761"/>
                </a:solidFill>
                <a:latin typeface="Cambria"/>
                <a:ea typeface="Cambria"/>
              </a:rPr>
              <a:t>MAE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804600" y="274320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4F7BE8"/>
                </a:solidFill>
                <a:latin typeface="Calibri"/>
                <a:ea typeface="Calibri"/>
              </a:rPr>
              <a:t>Erro absoluto médio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804600" y="3200400"/>
            <a:ext cx="3154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5A6072"/>
                </a:solidFill>
                <a:latin typeface="Calibri"/>
                <a:ea typeface="Calibri"/>
              </a:rPr>
              <a:t>Em média, erra por quantas unidades?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7"/>
          <p:cNvSpPr/>
          <p:nvPr/>
        </p:nvSpPr>
        <p:spPr>
          <a:xfrm>
            <a:off x="804600" y="4069080"/>
            <a:ext cx="3154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6E79A0"/>
                </a:solidFill>
                <a:latin typeface="Calibri"/>
                <a:ea typeface="Calibri"/>
              </a:rPr>
              <a:t>fácil de explicar a um leigo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8"/>
          <p:cNvSpPr/>
          <p:nvPr/>
        </p:nvSpPr>
        <p:spPr>
          <a:xfrm>
            <a:off x="804600" y="5029200"/>
            <a:ext cx="3108600" cy="4568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9"/>
          <p:cNvSpPr/>
          <p:nvPr/>
        </p:nvSpPr>
        <p:spPr>
          <a:xfrm>
            <a:off x="804600" y="502920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CADCFC"/>
                </a:solidFill>
                <a:latin typeface="Calibri"/>
                <a:ea typeface="Calibri"/>
              </a:rPr>
              <a:t>Diabetes:  </a:t>
            </a:r>
            <a:r>
              <a:rPr lang="en-US" sz="1300" b="1" strike="noStrike" spc="-1">
                <a:solidFill>
                  <a:srgbClr val="F2B84A"/>
                </a:solidFill>
                <a:latin typeface="Calibri"/>
                <a:ea typeface="Calibri"/>
              </a:rPr>
              <a:t>42,79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10"/>
          <p:cNvSpPr/>
          <p:nvPr/>
        </p:nvSpPr>
        <p:spPr>
          <a:xfrm>
            <a:off x="4325040" y="1920240"/>
            <a:ext cx="3611520" cy="3702960"/>
          </a:xfrm>
          <a:prstGeom prst="roundRect">
            <a:avLst>
              <a:gd name="adj" fmla="val 2278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11"/>
          <p:cNvSpPr/>
          <p:nvPr/>
        </p:nvSpPr>
        <p:spPr>
          <a:xfrm>
            <a:off x="4325040" y="1920240"/>
            <a:ext cx="3611520" cy="127800"/>
          </a:xfrm>
          <a:prstGeom prst="roundRect">
            <a:avLst>
              <a:gd name="adj" fmla="val 21429"/>
            </a:avLst>
          </a:prstGeom>
          <a:solidFill>
            <a:srgbClr val="49B3A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12"/>
          <p:cNvSpPr/>
          <p:nvPr/>
        </p:nvSpPr>
        <p:spPr>
          <a:xfrm>
            <a:off x="4581000" y="214884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1E2761"/>
                </a:solidFill>
                <a:latin typeface="Cambria"/>
                <a:ea typeface="Cambria"/>
              </a:rPr>
              <a:t>RMSE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13"/>
          <p:cNvSpPr/>
          <p:nvPr/>
        </p:nvSpPr>
        <p:spPr>
          <a:xfrm>
            <a:off x="4581000" y="274320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49B3A0"/>
                </a:solidFill>
                <a:latin typeface="Calibri"/>
                <a:ea typeface="Calibri"/>
              </a:rPr>
              <a:t>Raiz do erro quadrático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14"/>
          <p:cNvSpPr/>
          <p:nvPr/>
        </p:nvSpPr>
        <p:spPr>
          <a:xfrm>
            <a:off x="4581000" y="3200400"/>
            <a:ext cx="3154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strike="noStrike" spc="-1" dirty="0">
                <a:solidFill>
                  <a:srgbClr val="5A6072"/>
                </a:solidFill>
                <a:latin typeface="Calibri"/>
                <a:ea typeface="Calibri"/>
              </a:rPr>
              <a:t>Como o MAE, mas </a:t>
            </a:r>
            <a:r>
              <a:rPr lang="en-US" sz="1400" b="0" i="1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pune</a:t>
            </a:r>
            <a:r>
              <a:rPr lang="en-US" sz="1400" b="0" i="1" strike="noStrike" spc="-1" dirty="0">
                <a:solidFill>
                  <a:srgbClr val="5A6072"/>
                </a:solidFill>
                <a:latin typeface="Calibri"/>
                <a:ea typeface="Calibri"/>
              </a:rPr>
              <a:t> </a:t>
            </a:r>
            <a:r>
              <a:rPr lang="en-US" sz="1400" b="0" i="1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erros</a:t>
            </a:r>
            <a:r>
              <a:rPr lang="en-US" sz="1400" b="0" i="1" strike="noStrike" spc="-1" dirty="0">
                <a:solidFill>
                  <a:srgbClr val="5A6072"/>
                </a:solidFill>
                <a:latin typeface="Calibri"/>
                <a:ea typeface="Calibri"/>
              </a:rPr>
              <a:t> </a:t>
            </a:r>
            <a:r>
              <a:rPr lang="en-US" sz="1400" b="0" i="1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grandes</a:t>
            </a:r>
            <a:r>
              <a:rPr lang="en-US" sz="1400" b="0" i="1" strike="noStrike" spc="-1" dirty="0">
                <a:solidFill>
                  <a:srgbClr val="5A6072"/>
                </a:solidFill>
                <a:latin typeface="Calibri"/>
                <a:ea typeface="Calibri"/>
              </a:rPr>
              <a:t> (outliers)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15"/>
          <p:cNvSpPr/>
          <p:nvPr/>
        </p:nvSpPr>
        <p:spPr>
          <a:xfrm>
            <a:off x="4581000" y="4069080"/>
            <a:ext cx="3154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6E79A0"/>
                </a:solidFill>
                <a:latin typeface="Calibri"/>
                <a:ea typeface="Calibri"/>
              </a:rPr>
              <a:t>RMSE ≫ MAE = há erros enormes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16"/>
          <p:cNvSpPr/>
          <p:nvPr/>
        </p:nvSpPr>
        <p:spPr>
          <a:xfrm>
            <a:off x="4581000" y="5029200"/>
            <a:ext cx="3108600" cy="4568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17"/>
          <p:cNvSpPr/>
          <p:nvPr/>
        </p:nvSpPr>
        <p:spPr>
          <a:xfrm>
            <a:off x="4581000" y="502920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CADCFC"/>
                </a:solidFill>
                <a:latin typeface="Calibri"/>
                <a:ea typeface="Calibri"/>
              </a:rPr>
              <a:t>Diabetes:  </a:t>
            </a:r>
            <a:r>
              <a:rPr lang="en-US" sz="1300" b="1" strike="noStrike" spc="-1">
                <a:solidFill>
                  <a:srgbClr val="F2B84A"/>
                </a:solidFill>
                <a:latin typeface="Calibri"/>
                <a:ea typeface="Calibri"/>
              </a:rPr>
              <a:t>53,85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18"/>
          <p:cNvSpPr/>
          <p:nvPr/>
        </p:nvSpPr>
        <p:spPr>
          <a:xfrm>
            <a:off x="8101440" y="1920240"/>
            <a:ext cx="3611520" cy="3702960"/>
          </a:xfrm>
          <a:prstGeom prst="roundRect">
            <a:avLst>
              <a:gd name="adj" fmla="val 2278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19"/>
          <p:cNvSpPr/>
          <p:nvPr/>
        </p:nvSpPr>
        <p:spPr>
          <a:xfrm>
            <a:off x="8101440" y="1920240"/>
            <a:ext cx="3611520" cy="127800"/>
          </a:xfrm>
          <a:prstGeom prst="roundRect">
            <a:avLst>
              <a:gd name="adj" fmla="val 21429"/>
            </a:avLst>
          </a:prstGeom>
          <a:solidFill>
            <a:srgbClr val="F2B8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20"/>
          <p:cNvSpPr/>
          <p:nvPr/>
        </p:nvSpPr>
        <p:spPr>
          <a:xfrm>
            <a:off x="8357760" y="214884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1E2761"/>
                </a:solidFill>
                <a:latin typeface="Cambria"/>
                <a:ea typeface="Cambria"/>
              </a:rPr>
              <a:t>R²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21"/>
          <p:cNvSpPr/>
          <p:nvPr/>
        </p:nvSpPr>
        <p:spPr>
          <a:xfrm>
            <a:off x="8357760" y="274320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2B84A"/>
                </a:solidFill>
                <a:latin typeface="Calibri"/>
                <a:ea typeface="Calibri"/>
              </a:rPr>
              <a:t>Coef. de determinação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22"/>
          <p:cNvSpPr/>
          <p:nvPr/>
        </p:nvSpPr>
        <p:spPr>
          <a:xfrm>
            <a:off x="8357760" y="3200400"/>
            <a:ext cx="3154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5A6072"/>
                </a:solidFill>
                <a:latin typeface="Calibri"/>
                <a:ea typeface="Calibri"/>
              </a:rPr>
              <a:t>Quanto da variação o modelo explica?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23"/>
          <p:cNvSpPr/>
          <p:nvPr/>
        </p:nvSpPr>
        <p:spPr>
          <a:xfrm>
            <a:off x="8357760" y="4069080"/>
            <a:ext cx="3154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6E79A0"/>
                </a:solidFill>
                <a:latin typeface="Calibri"/>
                <a:ea typeface="Calibri"/>
              </a:rPr>
              <a:t>0 a 1 — quanto maior, melhor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24"/>
          <p:cNvSpPr/>
          <p:nvPr/>
        </p:nvSpPr>
        <p:spPr>
          <a:xfrm>
            <a:off x="8357760" y="5029200"/>
            <a:ext cx="3108600" cy="4568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25"/>
          <p:cNvSpPr/>
          <p:nvPr/>
        </p:nvSpPr>
        <p:spPr>
          <a:xfrm>
            <a:off x="8357760" y="502920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CADCFC"/>
                </a:solidFill>
                <a:latin typeface="Calibri"/>
                <a:ea typeface="Calibri"/>
              </a:rPr>
              <a:t>Diabetes:  </a:t>
            </a:r>
            <a:r>
              <a:rPr lang="en-US" sz="1300" b="1" strike="noStrike" spc="-1">
                <a:solidFill>
                  <a:srgbClr val="F2B84A"/>
                </a:solidFill>
                <a:latin typeface="Calibri"/>
                <a:ea typeface="Calibri"/>
              </a:rPr>
              <a:t>0,527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78FD1920-0EBD-FDA0-5D74-097192A615AD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44838655-F53D-88C5-C639-3103F54B114A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9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E2761"/>
                </a:solidFill>
                <a:latin typeface="Cambria"/>
                <a:ea typeface="Cambria"/>
              </a:rPr>
              <a:t>Calculando as métricas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1"/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Três linhas com sklearn.metrics — e a leitura do resultado.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2"/>
          <p:cNvSpPr/>
          <p:nvPr/>
        </p:nvSpPr>
        <p:spPr>
          <a:xfrm>
            <a:off x="548640" y="1874520"/>
            <a:ext cx="6674760" cy="3108600"/>
          </a:xfrm>
          <a:prstGeom prst="roundRect">
            <a:avLst>
              <a:gd name="adj" fmla="val 1765"/>
            </a:avLst>
          </a:prstGeom>
          <a:solidFill>
            <a:srgbClr val="12183A"/>
          </a:solidFill>
          <a:ln w="12700">
            <a:solidFill>
              <a:srgbClr val="2A35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3"/>
          <p:cNvSpPr/>
          <p:nvPr/>
        </p:nvSpPr>
        <p:spPr>
          <a:xfrm>
            <a:off x="749880" y="2011680"/>
            <a:ext cx="6272280" cy="283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200" b="0" strike="noStrike" spc="-1">
                <a:solidFill>
                  <a:srgbClr val="C79BF0"/>
                </a:solidFill>
                <a:latin typeface="Consolas"/>
                <a:ea typeface="Consolas"/>
              </a:rPr>
              <a:t>from </a:t>
            </a:r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sklearn.metrics </a:t>
            </a:r>
            <a:r>
              <a:rPr lang="en-US" sz="1200" b="0" strike="noStrike" spc="-1">
                <a:solidFill>
                  <a:srgbClr val="C79BF0"/>
                </a:solidFill>
                <a:latin typeface="Consolas"/>
                <a:ea typeface="Consolas"/>
              </a:rPr>
              <a:t>import </a:t>
            </a:r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(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  mean_absolute_error,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  mean_squared_error, r2_score)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mae  = mean_absolute_error(y_test, pred)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rmse = np.sqrt(mean_squared_error(y_test, pred))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r2   = r2_score(y_test, pred)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4"/>
          <p:cNvSpPr/>
          <p:nvPr/>
        </p:nvSpPr>
        <p:spPr>
          <a:xfrm>
            <a:off x="7452360" y="1874520"/>
            <a:ext cx="4160160" cy="3108600"/>
          </a:xfrm>
          <a:prstGeom prst="roundRect">
            <a:avLst>
              <a:gd name="adj" fmla="val 2353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5"/>
          <p:cNvSpPr/>
          <p:nvPr/>
        </p:nvSpPr>
        <p:spPr>
          <a:xfrm>
            <a:off x="7726680" y="208476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FFFFFF"/>
                </a:solidFill>
                <a:latin typeface="Cambria"/>
                <a:ea typeface="Cambria"/>
              </a:rPr>
              <a:t>A leitura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6"/>
          <p:cNvSpPr/>
          <p:nvPr/>
        </p:nvSpPr>
        <p:spPr>
          <a:xfrm>
            <a:off x="7726680" y="2487240"/>
            <a:ext cx="365724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350" b="1" strike="noStrike" spc="-1">
                <a:solidFill>
                  <a:srgbClr val="F2B84A"/>
                </a:solidFill>
                <a:latin typeface="Calibri"/>
                <a:ea typeface="Calibri"/>
              </a:rPr>
              <a:t>MAE 42,8</a:t>
            </a:r>
            <a:r>
              <a:rPr lang="en-US" sz="1350" b="0" strike="noStrike" spc="-1">
                <a:solidFill>
                  <a:srgbClr val="CADCFC"/>
                </a:solidFill>
                <a:latin typeface="Calibri"/>
                <a:ea typeface="Calibri"/>
              </a:rPr>
              <a:t> → erra ~43 pontos na escala da doença (25–346)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350" b="1" strike="noStrike" spc="-1">
                <a:solidFill>
                  <a:srgbClr val="F2B84A"/>
                </a:solidFill>
                <a:latin typeface="Calibri"/>
                <a:ea typeface="Calibri"/>
              </a:rPr>
              <a:t>R² 0,53</a:t>
            </a:r>
            <a:r>
              <a:rPr lang="en-US" sz="1350" b="0" strike="noStrike" spc="-1">
                <a:solidFill>
                  <a:srgbClr val="CADCFC"/>
                </a:solidFill>
                <a:latin typeface="Calibri"/>
                <a:ea typeface="Calibri"/>
              </a:rPr>
              <a:t> → explica 53% da variação; 47% fica de fora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50" b="0" i="1" strike="noStrike" spc="-1">
                <a:solidFill>
                  <a:srgbClr val="9FBCE8"/>
                </a:solidFill>
                <a:latin typeface="Calibri"/>
                <a:ea typeface="Calibri"/>
              </a:rPr>
              <a:t>Modelo razoável, com espaço para melhorar.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7"/>
          <p:cNvSpPr/>
          <p:nvPr/>
        </p:nvSpPr>
        <p:spPr>
          <a:xfrm>
            <a:off x="548640" y="516636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strike="noStrike" spc="-1" dirty="0" err="1">
                <a:solidFill>
                  <a:srgbClr val="FF0000"/>
                </a:solidFill>
                <a:latin typeface="Calibri"/>
                <a:ea typeface="Calibri"/>
              </a:rPr>
              <a:t>Fecha</a:t>
            </a:r>
            <a:r>
              <a:rPr lang="en-US" sz="1400" b="0" i="1" strike="noStrike" spc="-1" dirty="0">
                <a:solidFill>
                  <a:srgbClr val="FF0000"/>
                </a:solidFill>
                <a:latin typeface="Calibri"/>
                <a:ea typeface="Calibri"/>
              </a:rPr>
              <a:t> o </a:t>
            </a:r>
            <a:r>
              <a:rPr lang="en-US" sz="1400" b="0" i="1" strike="noStrike" spc="-1" dirty="0" err="1">
                <a:solidFill>
                  <a:srgbClr val="FF0000"/>
                </a:solidFill>
                <a:latin typeface="Calibri"/>
                <a:ea typeface="Calibri"/>
              </a:rPr>
              <a:t>ciclo</a:t>
            </a:r>
            <a:r>
              <a:rPr lang="en-US" sz="1400" b="0" i="1" strike="noStrike" spc="-1" dirty="0">
                <a:solidFill>
                  <a:srgbClr val="FF0000"/>
                </a:solidFill>
                <a:latin typeface="Calibri"/>
                <a:ea typeface="Calibri"/>
              </a:rPr>
              <a:t> do Lab 4: </a:t>
            </a:r>
            <a:r>
              <a:rPr lang="en-US" sz="1400" b="0" i="1" strike="noStrike" spc="-1" dirty="0" err="1">
                <a:solidFill>
                  <a:srgbClr val="FF0000"/>
                </a:solidFill>
                <a:latin typeface="Calibri"/>
                <a:ea typeface="Calibri"/>
              </a:rPr>
              <a:t>separar</a:t>
            </a:r>
            <a:r>
              <a:rPr lang="en-US" sz="1400" b="0" i="1" strike="noStrike" spc="-1" dirty="0">
                <a:solidFill>
                  <a:srgbClr val="FF0000"/>
                </a:solidFill>
                <a:latin typeface="Calibri"/>
                <a:ea typeface="Calibri"/>
              </a:rPr>
              <a:t> → </a:t>
            </a:r>
            <a:r>
              <a:rPr lang="en-US" sz="1400" b="0" i="1" strike="noStrike" spc="-1" dirty="0" err="1">
                <a:solidFill>
                  <a:srgbClr val="FF0000"/>
                </a:solidFill>
                <a:latin typeface="Calibri"/>
                <a:ea typeface="Calibri"/>
              </a:rPr>
              <a:t>treinar</a:t>
            </a:r>
            <a:r>
              <a:rPr lang="en-US" sz="1400" b="0" i="1" strike="noStrike" spc="-1" dirty="0">
                <a:solidFill>
                  <a:srgbClr val="FF0000"/>
                </a:solidFill>
                <a:latin typeface="Calibri"/>
                <a:ea typeface="Calibri"/>
              </a:rPr>
              <a:t> → </a:t>
            </a:r>
            <a:r>
              <a:rPr lang="en-US" sz="1400" b="0" i="1" strike="noStrike" spc="-1" dirty="0" err="1">
                <a:solidFill>
                  <a:srgbClr val="FF0000"/>
                </a:solidFill>
                <a:latin typeface="Calibri"/>
                <a:ea typeface="Calibri"/>
              </a:rPr>
              <a:t>prever</a:t>
            </a:r>
            <a:r>
              <a:rPr lang="en-US" sz="1400" b="0" i="1" strike="noStrike" spc="-1" dirty="0">
                <a:solidFill>
                  <a:srgbClr val="FF0000"/>
                </a:solidFill>
                <a:latin typeface="Calibri"/>
                <a:ea typeface="Calibri"/>
              </a:rPr>
              <a:t> → e agora </a:t>
            </a:r>
            <a:r>
              <a:rPr lang="en-US" sz="1400" b="0" i="1" strike="noStrike" spc="-1" dirty="0" err="1">
                <a:solidFill>
                  <a:srgbClr val="FF0000"/>
                </a:solidFill>
                <a:latin typeface="Calibri"/>
                <a:ea typeface="Calibri"/>
              </a:rPr>
              <a:t>medir</a:t>
            </a:r>
            <a:r>
              <a:rPr lang="en-US" sz="1400" b="0" i="1" strike="noStrike" spc="-1" dirty="0">
                <a:solidFill>
                  <a:srgbClr val="FF0000"/>
                </a:solidFill>
                <a:latin typeface="Calibri"/>
                <a:ea typeface="Calibri"/>
              </a:rPr>
              <a:t> com </a:t>
            </a:r>
            <a:r>
              <a:rPr lang="en-US" sz="1400" b="0" i="1" strike="noStrike" spc="-1" dirty="0" err="1">
                <a:solidFill>
                  <a:srgbClr val="FF0000"/>
                </a:solidFill>
                <a:latin typeface="Calibri"/>
                <a:ea typeface="Calibri"/>
              </a:rPr>
              <a:t>métricas</a:t>
            </a:r>
            <a:r>
              <a:rPr lang="en-US" sz="1400" b="0" i="1" strike="noStrike" spc="-1" dirty="0">
                <a:solidFill>
                  <a:srgbClr val="FF0000"/>
                </a:solidFill>
                <a:latin typeface="Calibri"/>
                <a:ea typeface="Calibri"/>
              </a:rPr>
              <a:t> que </a:t>
            </a:r>
            <a:r>
              <a:rPr lang="en-US" sz="1400" b="0" i="1" strike="noStrike" spc="-1" dirty="0" err="1">
                <a:solidFill>
                  <a:srgbClr val="FF0000"/>
                </a:solidFill>
                <a:latin typeface="Calibri"/>
                <a:ea typeface="Calibri"/>
              </a:rPr>
              <a:t>fazem</a:t>
            </a:r>
            <a:r>
              <a:rPr lang="en-US" sz="1400" b="0" i="1" strike="noStrike" spc="-1" dirty="0">
                <a:solidFill>
                  <a:srgbClr val="FF0000"/>
                </a:solidFill>
                <a:latin typeface="Calibri"/>
                <a:ea typeface="Calibri"/>
              </a:rPr>
              <a:t> </a:t>
            </a:r>
            <a:r>
              <a:rPr lang="en-US" sz="1400" b="0" i="1" strike="noStrike" spc="-1" dirty="0" err="1">
                <a:solidFill>
                  <a:srgbClr val="FF0000"/>
                </a:solidFill>
                <a:latin typeface="Calibri"/>
                <a:ea typeface="Calibri"/>
              </a:rPr>
              <a:t>sentido</a:t>
            </a:r>
            <a:r>
              <a:rPr lang="en-US" sz="1400" b="0" i="1" strike="noStrike" spc="-1" dirty="0">
                <a:solidFill>
                  <a:srgbClr val="FF0000"/>
                </a:solidFill>
                <a:latin typeface="Calibri"/>
                <a:ea typeface="Calibri"/>
              </a:rPr>
              <a:t>.</a:t>
            </a:r>
            <a:endParaRPr lang="en-US" sz="1400" b="0" strike="noStrike" spc="-1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7B0FDC15-1789-36F1-2469-F147EDE60C5D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9406C06B-CA07-6710-168D-5A695073786F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10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8A2D2C2733B7342A34F941B973AA6E6" ma:contentTypeVersion="9" ma:contentTypeDescription="Crie um novo documento." ma:contentTypeScope="" ma:versionID="0683c89334ed78834fe33c164e772971">
  <xsd:schema xmlns:xsd="http://www.w3.org/2001/XMLSchema" xmlns:xs="http://www.w3.org/2001/XMLSchema" xmlns:p="http://schemas.microsoft.com/office/2006/metadata/properties" xmlns:ns2="f534e9f2-b7ec-4ccc-a69c-51d3e3635b48" xmlns:ns3="bf55bb95-0e2d-49eb-8730-bda5c0a73d75" targetNamespace="http://schemas.microsoft.com/office/2006/metadata/properties" ma:root="true" ma:fieldsID="b6ff691edaa762fc51b4ef2dd0edebb2" ns2:_="" ns3:_="">
    <xsd:import namespace="f534e9f2-b7ec-4ccc-a69c-51d3e3635b48"/>
    <xsd:import namespace="bf55bb95-0e2d-49eb-8730-bda5c0a73d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34e9f2-b7ec-4ccc-a69c-51d3e3635b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699e888a-e30d-4c0e-bef0-0db25144e5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55bb95-0e2d-49eb-8730-bda5c0a73d7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5afc77d-9220-47df-90d7-402ba00a53d1}" ma:internalName="TaxCatchAll" ma:showField="CatchAllData" ma:web="bf55bb95-0e2d-49eb-8730-bda5c0a73d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f55bb95-0e2d-49eb-8730-bda5c0a73d75" xsi:nil="true"/>
    <lcf76f155ced4ddcb4097134ff3c332f xmlns="f534e9f2-b7ec-4ccc-a69c-51d3e3635b4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08B404E-D194-4D68-87CD-CBFB830B4D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34e9f2-b7ec-4ccc-a69c-51d3e3635b48"/>
    <ds:schemaRef ds:uri="bf55bb95-0e2d-49eb-8730-bda5c0a73d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E589596-9315-4DE0-89AF-52979F6A5816}">
  <ds:schemaRefs>
    <ds:schemaRef ds:uri="http://schemas.microsoft.com/office/2006/metadata/properties"/>
    <ds:schemaRef ds:uri="http://schemas.microsoft.com/office/infopath/2007/PartnerControls"/>
    <ds:schemaRef ds:uri="bf55bb95-0e2d-49eb-8730-bda5c0a73d75"/>
    <ds:schemaRef ds:uri="f534e9f2-b7ec-4ccc-a69c-51d3e3635b48"/>
  </ds:schemaRefs>
</ds:datastoreItem>
</file>

<file path=customXml/itemProps3.xml><?xml version="1.0" encoding="utf-8"?>
<ds:datastoreItem xmlns:ds="http://schemas.openxmlformats.org/officeDocument/2006/customXml" ds:itemID="{6ED9C534-144B-41B9-95AC-BF2943C9750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952</Words>
  <Application>Microsoft Office PowerPoint</Application>
  <PresentationFormat>Widescreen</PresentationFormat>
  <Paragraphs>141</Paragraphs>
  <Slides>10</Slides>
  <Notes>10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1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JOSE WALMIR GONCALVES DUQUE</cp:lastModifiedBy>
  <cp:revision>10</cp:revision>
  <dcterms:modified xsi:type="dcterms:W3CDTF">2026-10-12T12:36:11Z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2026-09-10T00:18:04Z</dcterms:created>
  <dc:creator>PptxGenJS</dc:creator>
  <dc:description/>
  <dc:language>en-US</dc:language>
  <cp:lastModifiedBy>PptxGenJS</cp:lastModifiedBy>
  <dcterms:modified xsi:type="dcterms:W3CDTF">2026-09-10T00:18:04Z</dcterms:modified>
  <cp:revision>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10</vt:r8>
  </property>
  <property fmtid="{D5CDD505-2E9C-101B-9397-08002B2CF9AE}" pid="3" name="PresentationFormat">
    <vt:lpwstr>On-screen Show (16:9)</vt:lpwstr>
  </property>
  <property fmtid="{D5CDD505-2E9C-101B-9397-08002B2CF9AE}" pid="4" name="Slides">
    <vt:r8>10</vt:r8>
  </property>
  <property fmtid="{D5CDD505-2E9C-101B-9397-08002B2CF9AE}" pid="5" name="ContentTypeId">
    <vt:lpwstr>0x01010078A2D2C2733B7342A34F941B973AA6E6</vt:lpwstr>
  </property>
  <property fmtid="{D5CDD505-2E9C-101B-9397-08002B2CF9AE}" pid="6" name="MediaServiceImageTags">
    <vt:lpwstr/>
  </property>
</Properties>
</file>