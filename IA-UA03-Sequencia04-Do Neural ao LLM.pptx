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0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594" r:id="rId10"/>
    <p:sldId id="292" r:id="rId11"/>
    <p:sldId id="593" r:id="rId12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89" autoAdjust="0"/>
  </p:normalViewPr>
  <p:slideViewPr>
    <p:cSldViewPr snapToGrid="0">
      <p:cViewPr varScale="1">
        <p:scale>
          <a:sx n="99" d="100"/>
          <a:sy n="99" d="100"/>
        </p:scale>
        <p:origin x="4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1D908BC-4901-4EBC-87E5-D15615DB7D0D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2E65C7-DFA9-4EC9-831E-27A40C0EBAA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5571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8C3573-C227-44CC-80C2-555D0B8F7AE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DF7528-2AA5-4D26-88EF-D7B5B1E3DC5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DCEAD1-ADFB-4063-B516-264658426BB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5B3815-5075-4EE7-9663-7C6A6C92C58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D5D12B-B584-49CF-A85E-36851195914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556DB1-CE23-4D43-9DC3-F77CC311653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7C09B0-70A6-4BF5-88C6-5D87B18BD8B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Google Shape;399;p38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marL="139700" lvl="0" indent="0">
              <a:spcBef>
                <a:spcPts val="365"/>
              </a:spcBef>
              <a:buNone/>
            </a:pPr>
            <a:endParaRPr lang="pt-BR" altLang="pt-BR" dirty="0"/>
          </a:p>
        </p:txBody>
      </p:sp>
      <p:sp>
        <p:nvSpPr>
          <p:cNvPr id="56323" name="Google Shape;400;p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4075985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Google Shape;391;p37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marL="139700" lvl="0" indent="0">
              <a:spcBef>
                <a:spcPts val="365"/>
              </a:spcBef>
              <a:buNone/>
            </a:pPr>
            <a:endParaRPr lang="zh-CN" altLang="x-none" dirty="0">
              <a:ea typeface="等线" charset="0"/>
            </a:endParaRPr>
          </a:p>
        </p:txBody>
      </p:sp>
      <p:sp>
        <p:nvSpPr>
          <p:cNvPr id="58371" name="Google Shape;392;p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44035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1552221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D376EC6-C06B-3D52-8F22-8913ADCC0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8DE1C153-817C-06E3-9430-0BB506FE0D12}"/>
              </a:ext>
            </a:extLst>
          </p:cNvPr>
          <p:cNvSpPr/>
          <p:nvPr/>
        </p:nvSpPr>
        <p:spPr>
          <a:xfrm>
            <a:off x="668003" y="2230464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Do neural </a:t>
            </a:r>
            <a:r>
              <a:rPr lang="en-US" sz="4400" b="1" strike="noStrike" spc="-1" dirty="0" err="1">
                <a:solidFill>
                  <a:srgbClr val="FFFFFF"/>
                </a:solidFill>
                <a:latin typeface="Cambria"/>
                <a:ea typeface="Cambria"/>
              </a:rPr>
              <a:t>ao</a:t>
            </a:r>
            <a:r>
              <a:rPr lang="en-US" sz="44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 LLM</a:t>
            </a:r>
            <a:endParaRPr lang="en-US" sz="4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8EEE65C-6330-C009-E297-02CB87D91C06}"/>
              </a:ext>
            </a:extLst>
          </p:cNvPr>
          <p:cNvSpPr/>
          <p:nvPr/>
        </p:nvSpPr>
        <p:spPr>
          <a:xfrm>
            <a:off x="713723" y="3419184"/>
            <a:ext cx="6949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Atenção, Transformer e o que é, afinal, um modelo de linguagem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16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O desafio do texto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Por que o MLP básico não basta para linguagem.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2011680"/>
            <a:ext cx="11063880" cy="1142640"/>
          </a:xfrm>
          <a:prstGeom prst="roundRect">
            <a:avLst>
              <a:gd name="adj" fmla="val 64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22960" y="219456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Tamanho variável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4572000" y="219456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uma frase tem 3 palavras, outra tem 30 — o MLP espera entrada fixa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548640" y="3310200"/>
            <a:ext cx="11063880" cy="1142640"/>
          </a:xfrm>
          <a:prstGeom prst="roundRect">
            <a:avLst>
              <a:gd name="adj" fmla="val 64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22960" y="349308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A ordem importa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4572000" y="349308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"o cão mordeu o homem" ≠ "o homem mordeu o cão" — mesmas palavras, sentido oposto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548640" y="4608720"/>
            <a:ext cx="11063880" cy="1142640"/>
          </a:xfrm>
          <a:prstGeom prst="roundRect">
            <a:avLst>
              <a:gd name="adj" fmla="val 64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822960" y="479160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O contexto é tudo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4572000" y="479160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"banco" (de sentar? de dinheiro? de rio?) só se resolve olhando as palavras ao redor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548640" y="576326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A solução veio em 2017 com o </a:t>
            </a:r>
            <a:r>
              <a:rPr lang="pt-BR" sz="1400" b="0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Transformer</a:t>
            </a:r>
            <a:r>
              <a:rPr lang="pt-BR" sz="1400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— e a peça central chama-se atenção</a:t>
            </a:r>
            <a:r>
              <a:rPr lang="pt-BR" sz="1400" i="1" spc="-1" dirty="0">
                <a:solidFill>
                  <a:srgbClr val="FF0000"/>
                </a:solidFill>
                <a:latin typeface="Calibri"/>
                <a:ea typeface="Calibri"/>
              </a:rPr>
              <a:t>!</a:t>
            </a:r>
            <a:endParaRPr lang="pt-BR" sz="14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1583E96-8391-824C-848D-2902C8B1675D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1B09D48-7201-74CD-4855-902889AF5997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2</a:t>
            </a:fld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0B58BCA-32EC-E2BD-981C-584D35920807}"/>
              </a:ext>
            </a:extLst>
          </p:cNvPr>
          <p:cNvSpPr txBox="1"/>
          <p:nvPr/>
        </p:nvSpPr>
        <p:spPr>
          <a:xfrm>
            <a:off x="5606938" y="921909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strike="noStrike" spc="-1">
                <a:solidFill>
                  <a:srgbClr val="FF0000"/>
                </a:solidFill>
                <a:latin typeface="Arial"/>
              </a:rPr>
              <a:t>O texto tem particularidades (tamanho, ordem, contexto) que o MLP não trata bem</a:t>
            </a:r>
            <a:r>
              <a:rPr lang="pt-BR" spc="-1">
                <a:solidFill>
                  <a:srgbClr val="FF0000"/>
                </a:solidFill>
                <a:latin typeface="Arial"/>
              </a:rPr>
              <a:t>!</a:t>
            </a:r>
            <a:endParaRPr lang="pt-BR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A IDEIA CENTRAL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100" b="1" strike="noStrike" spc="-1">
                <a:solidFill>
                  <a:srgbClr val="FFFFFF"/>
                </a:solidFill>
                <a:latin typeface="Cambria"/>
                <a:ea typeface="Cambria"/>
              </a:rPr>
              <a:t>Mecanismo de Atenção — olhar as palavras certas</a:t>
            </a:r>
            <a:endParaRPr lang="pt-BR" sz="3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548640" y="17830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Ao processar cada palavra, o modelo "presta atenção" nas outras palavras da frase que são relevantes para ela.</a:t>
            </a:r>
            <a:endParaRPr lang="pt-BR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548640" y="2514600"/>
            <a:ext cx="11063880" cy="1371240"/>
          </a:xfrm>
          <a:prstGeom prst="roundRect">
            <a:avLst>
              <a:gd name="adj" fmla="val 5333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822960" y="2697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Processando a palavra 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868680" y="3200400"/>
            <a:ext cx="438480" cy="502560"/>
          </a:xfrm>
          <a:prstGeom prst="roundRect">
            <a:avLst>
              <a:gd name="adj" fmla="val 12500"/>
            </a:avLst>
          </a:prstGeom>
          <a:solidFill>
            <a:srgbClr val="141A4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868680" y="3200400"/>
            <a:ext cx="438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O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1417320" y="3200400"/>
            <a:ext cx="1032840" cy="502560"/>
          </a:xfrm>
          <a:prstGeom prst="roundRect">
            <a:avLst>
              <a:gd name="adj" fmla="val 10909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417320" y="3200400"/>
            <a:ext cx="1032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animal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2560320" y="3200400"/>
            <a:ext cx="676440" cy="502560"/>
          </a:xfrm>
          <a:prstGeom prst="roundRect">
            <a:avLst>
              <a:gd name="adj" fmla="val 10909"/>
            </a:avLst>
          </a:prstGeom>
          <a:solidFill>
            <a:srgbClr val="141A4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2560320" y="3200400"/>
            <a:ext cx="676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não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11"/>
          <p:cNvSpPr/>
          <p:nvPr/>
        </p:nvSpPr>
        <p:spPr>
          <a:xfrm>
            <a:off x="3346560" y="3200400"/>
            <a:ext cx="1508400" cy="502560"/>
          </a:xfrm>
          <a:prstGeom prst="roundRect">
            <a:avLst>
              <a:gd name="adj" fmla="val 10909"/>
            </a:avLst>
          </a:prstGeom>
          <a:solidFill>
            <a:srgbClr val="141A4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3346560" y="3200400"/>
            <a:ext cx="1508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atravessou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4965120" y="3200400"/>
            <a:ext cx="438480" cy="502560"/>
          </a:xfrm>
          <a:prstGeom prst="roundRect">
            <a:avLst>
              <a:gd name="adj" fmla="val 12500"/>
            </a:avLst>
          </a:prstGeom>
          <a:solidFill>
            <a:srgbClr val="141A4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4965120" y="3200400"/>
            <a:ext cx="438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5"/>
          <p:cNvSpPr/>
          <p:nvPr/>
        </p:nvSpPr>
        <p:spPr>
          <a:xfrm>
            <a:off x="5513760" y="3200400"/>
            <a:ext cx="676440" cy="502560"/>
          </a:xfrm>
          <a:prstGeom prst="roundRect">
            <a:avLst>
              <a:gd name="adj" fmla="val 10909"/>
            </a:avLst>
          </a:prstGeom>
          <a:solidFill>
            <a:srgbClr val="3A47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5513760" y="3200400"/>
            <a:ext cx="676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rua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7"/>
          <p:cNvSpPr/>
          <p:nvPr/>
        </p:nvSpPr>
        <p:spPr>
          <a:xfrm>
            <a:off x="6300360" y="3200400"/>
            <a:ext cx="1032840" cy="502560"/>
          </a:xfrm>
          <a:prstGeom prst="roundRect">
            <a:avLst>
              <a:gd name="adj" fmla="val 10909"/>
            </a:avLst>
          </a:prstGeom>
          <a:solidFill>
            <a:srgbClr val="141A4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6300360" y="3200400"/>
            <a:ext cx="1032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porque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9"/>
          <p:cNvSpPr/>
          <p:nvPr/>
        </p:nvSpPr>
        <p:spPr>
          <a:xfrm>
            <a:off x="7443360" y="3200400"/>
            <a:ext cx="676440" cy="502560"/>
          </a:xfrm>
          <a:prstGeom prst="roundRect">
            <a:avLst>
              <a:gd name="adj" fmla="val 10909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0"/>
          <p:cNvSpPr/>
          <p:nvPr/>
        </p:nvSpPr>
        <p:spPr>
          <a:xfrm>
            <a:off x="7443360" y="3200400"/>
            <a:ext cx="676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ele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21"/>
          <p:cNvSpPr/>
          <p:nvPr/>
        </p:nvSpPr>
        <p:spPr>
          <a:xfrm>
            <a:off x="8229600" y="3200400"/>
            <a:ext cx="1032840" cy="502560"/>
          </a:xfrm>
          <a:prstGeom prst="roundRect">
            <a:avLst>
              <a:gd name="adj" fmla="val 10909"/>
            </a:avLst>
          </a:prstGeom>
          <a:solidFill>
            <a:srgbClr val="141A4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8229600" y="3200400"/>
            <a:ext cx="1032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estava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23"/>
          <p:cNvSpPr/>
          <p:nvPr/>
        </p:nvSpPr>
        <p:spPr>
          <a:xfrm>
            <a:off x="9372600" y="3200400"/>
            <a:ext cx="1151640" cy="502560"/>
          </a:xfrm>
          <a:prstGeom prst="roundRect">
            <a:avLst>
              <a:gd name="adj" fmla="val 10909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4"/>
          <p:cNvSpPr/>
          <p:nvPr/>
        </p:nvSpPr>
        <p:spPr>
          <a:xfrm>
            <a:off x="9372600" y="3200400"/>
            <a:ext cx="1151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cansado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5"/>
          <p:cNvSpPr/>
          <p:nvPr/>
        </p:nvSpPr>
        <p:spPr>
          <a:xfrm>
            <a:off x="822960" y="40538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Para entender a quem </a:t>
            </a:r>
            <a:r>
              <a:rPr lang="pt-BR" b="0" i="1" strike="noStrike" spc="-1" dirty="0">
                <a:solidFill>
                  <a:srgbClr val="FFC000"/>
                </a:solidFill>
                <a:latin typeface="Calibri"/>
                <a:ea typeface="Calibri"/>
              </a:rPr>
              <a:t>"ele"</a:t>
            </a:r>
            <a:r>
              <a:rPr lang="pt-BR" b="0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se refere, o modelo dá mais peso (mais claro) a "animal" e "cansado“ !!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i="1" spc="-1" dirty="0">
                <a:solidFill>
                  <a:srgbClr val="FF0000"/>
                </a:solidFill>
                <a:latin typeface="Calibri"/>
                <a:ea typeface="Calibri"/>
              </a:rPr>
              <a:t>Este é o coração o </a:t>
            </a:r>
            <a:r>
              <a:rPr lang="pt-BR" i="1" spc="-1" dirty="0" err="1">
                <a:solidFill>
                  <a:srgbClr val="FF0000"/>
                </a:solidFill>
                <a:latin typeface="Calibri"/>
                <a:ea typeface="Calibri"/>
              </a:rPr>
              <a:t>Transformer</a:t>
            </a:r>
            <a:r>
              <a:rPr lang="pt-BR" i="1" spc="-1" dirty="0">
                <a:solidFill>
                  <a:srgbClr val="FF0000"/>
                </a:solidFill>
                <a:latin typeface="Calibri"/>
                <a:ea typeface="Calibri"/>
              </a:rPr>
              <a:t>.</a:t>
            </a:r>
            <a:endParaRPr lang="pt-BR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54" name="Shape 26"/>
          <p:cNvSpPr/>
          <p:nvPr/>
        </p:nvSpPr>
        <p:spPr>
          <a:xfrm>
            <a:off x="548640" y="4709160"/>
            <a:ext cx="11063880" cy="1051200"/>
          </a:xfrm>
          <a:prstGeom prst="roundRect">
            <a:avLst>
              <a:gd name="adj" fmla="val 6087"/>
            </a:avLst>
          </a:prstGeom>
          <a:solidFill>
            <a:srgbClr val="141A45"/>
          </a:solidFill>
          <a:ln w="12700">
            <a:solidFill>
              <a:srgbClr val="34407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7"/>
          <p:cNvSpPr/>
          <p:nvPr/>
        </p:nvSpPr>
        <p:spPr>
          <a:xfrm>
            <a:off x="868680" y="4709160"/>
            <a:ext cx="105152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2B84A"/>
                </a:solidFill>
                <a:latin typeface="Calibri"/>
              </a:rPr>
              <a:t>Por que é revolucionário: 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a atenção deixa o modelo relacionar qualquer palavra com qualquer outra, não importa a distância — resolvendo ordem e contexto de uma vez.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1583E96-8391-824C-848D-2902C8B1675D}"/>
              </a:ext>
            </a:extLst>
          </p:cNvPr>
          <p:cNvSpPr txBox="1"/>
          <p:nvPr/>
        </p:nvSpPr>
        <p:spPr>
          <a:xfrm>
            <a:off x="502920" y="6544837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1B09D48-7201-74CD-4855-902889AF5997}"/>
              </a:ext>
            </a:extLst>
          </p:cNvPr>
          <p:cNvSpPr txBox="1"/>
          <p:nvPr/>
        </p:nvSpPr>
        <p:spPr>
          <a:xfrm>
            <a:off x="10875888" y="6583680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O Transformer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A arquitetura (2017) que colocou a atenção no centro — base de todos os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LLMs</a:t>
            </a: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.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548640" y="2011680"/>
            <a:ext cx="1106388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3"/>
          <p:cNvSpPr/>
          <p:nvPr/>
        </p:nvSpPr>
        <p:spPr>
          <a:xfrm>
            <a:off x="548640" y="2011680"/>
            <a:ext cx="127800" cy="1096920"/>
          </a:xfrm>
          <a:prstGeom prst="roundRect">
            <a:avLst>
              <a:gd name="adj" fmla="val 14286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868680" y="219456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Processa em paralelo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4846320" y="2194560"/>
            <a:ext cx="6583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olha a frase inteira de uma vez, não palavra por palavra — treina muito mais rápido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548640" y="3246120"/>
            <a:ext cx="1106388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548640" y="3246120"/>
            <a:ext cx="127800" cy="1096920"/>
          </a:xfrm>
          <a:prstGeom prst="roundRect">
            <a:avLst>
              <a:gd name="adj" fmla="val 14286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868680" y="342900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Camadas de atenção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4846320" y="3429000"/>
            <a:ext cx="6583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empilhadas, capturam relações cada vez mais complexas entre as palavras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548640" y="4480560"/>
            <a:ext cx="1106388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548640" y="4480560"/>
            <a:ext cx="127800" cy="1096920"/>
          </a:xfrm>
          <a:prstGeom prst="roundRect">
            <a:avLst>
              <a:gd name="adj" fmla="val 14286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868680" y="466344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Escala muito bem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4846320" y="4663440"/>
            <a:ext cx="6583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quanto mais dados e parâmetros, melhor — foi o que permitiu os modelos gigantes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548640" y="58064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"Attention Is All You Need" (Vaswani et al., 2017) — o </a:t>
            </a:r>
            <a:r>
              <a:rPr lang="en-US" sz="12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artigo</a:t>
            </a:r>
            <a:r>
              <a:rPr lang="en-US" sz="12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que </a:t>
            </a:r>
            <a:r>
              <a:rPr lang="en-US" sz="12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introduziu</a:t>
            </a:r>
            <a:r>
              <a:rPr lang="en-US" sz="12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o </a:t>
            </a:r>
            <a:r>
              <a:rPr lang="en-US" sz="1250" b="1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Transformer</a:t>
            </a:r>
            <a:r>
              <a:rPr lang="en-US" sz="12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.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E59F85B6-25B7-9EA5-9CE5-E2CCABFDD2DE}"/>
              </a:ext>
            </a:extLst>
          </p:cNvPr>
          <p:cNvSpPr txBox="1"/>
          <p:nvPr/>
        </p:nvSpPr>
        <p:spPr>
          <a:xfrm>
            <a:off x="502920" y="6544837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4B033E31-5DA6-BCDE-600C-ADC366E4C737}"/>
              </a:ext>
            </a:extLst>
          </p:cNvPr>
          <p:cNvSpPr txBox="1"/>
          <p:nvPr/>
        </p:nvSpPr>
        <p:spPr>
          <a:xfrm>
            <a:off x="10875888" y="6583680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O QUE VOCÊ USA TODO DIA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O que é um LLM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Large Language Model — no fundo, um preditor da próxima palavra.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76C4E86-FAAD-C502-D71C-E6FA0AB12B59}"/>
              </a:ext>
            </a:extLst>
          </p:cNvPr>
          <p:cNvSpPr txBox="1"/>
          <p:nvPr/>
        </p:nvSpPr>
        <p:spPr>
          <a:xfrm>
            <a:off x="502920" y="6544837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1E528819-78D4-2733-1BB6-FF686C1F5938}"/>
              </a:ext>
            </a:extLst>
          </p:cNvPr>
          <p:cNvSpPr txBox="1"/>
          <p:nvPr/>
        </p:nvSpPr>
        <p:spPr>
          <a:xfrm>
            <a:off x="10875888" y="6583680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Um LLM prevê a próxima palavra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Treinado para completar texto — em escala massiva.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548640" y="1920240"/>
            <a:ext cx="6583320" cy="10969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822960" y="1920240"/>
            <a:ext cx="60346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FFFFFF"/>
                </a:solidFill>
                <a:latin typeface="Consolas"/>
                <a:ea typeface="Consolas"/>
              </a:rPr>
              <a:t>"O céu está </a:t>
            </a:r>
            <a:r>
              <a:rPr lang="en-US" sz="1900" b="1" strike="noStrike" spc="-1">
                <a:solidFill>
                  <a:srgbClr val="F2B84A"/>
                </a:solidFill>
                <a:latin typeface="Consolas"/>
                <a:ea typeface="Consolas"/>
              </a:rPr>
              <a:t>____</a:t>
            </a:r>
            <a:r>
              <a:rPr lang="en-US" sz="1900" b="0" strike="noStrike" spc="-1">
                <a:solidFill>
                  <a:srgbClr val="FFFFFF"/>
                </a:solidFill>
                <a:latin typeface="Consolas"/>
                <a:ea typeface="Consolas"/>
              </a:rPr>
              <a:t>"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7315200" y="1920240"/>
            <a:ext cx="42058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O modelo calcula a probabilidade de cada palavra vir a seguir: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822960" y="3246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E2761"/>
                </a:solidFill>
                <a:latin typeface="Consolas"/>
                <a:ea typeface="Consolas"/>
              </a:rPr>
              <a:t>azul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2560320" y="3300840"/>
            <a:ext cx="5266440" cy="273960"/>
          </a:xfrm>
          <a:prstGeom prst="roundRect">
            <a:avLst>
              <a:gd name="adj" fmla="val 10000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7964280" y="324612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6E79A0"/>
                </a:solidFill>
                <a:latin typeface="Calibri"/>
                <a:ea typeface="Calibri"/>
              </a:rPr>
              <a:t>72%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822960" y="3813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E2761"/>
                </a:solidFill>
                <a:latin typeface="Consolas"/>
                <a:ea typeface="Consolas"/>
              </a:rPr>
              <a:t>nublado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2560320" y="3867840"/>
            <a:ext cx="1316520" cy="273960"/>
          </a:xfrm>
          <a:prstGeom prst="roundRect">
            <a:avLst>
              <a:gd name="adj" fmla="val 10000"/>
            </a:avLst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4014360" y="381312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6E79A0"/>
                </a:solidFill>
                <a:latin typeface="Calibri"/>
                <a:ea typeface="Calibri"/>
              </a:rPr>
              <a:t>18%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822960" y="4380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E2761"/>
                </a:solidFill>
                <a:latin typeface="Consolas"/>
                <a:ea typeface="Consolas"/>
              </a:rPr>
              <a:t>limpo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2"/>
          <p:cNvSpPr/>
          <p:nvPr/>
        </p:nvSpPr>
        <p:spPr>
          <a:xfrm>
            <a:off x="2560320" y="4434840"/>
            <a:ext cx="511560" cy="273960"/>
          </a:xfrm>
          <a:prstGeom prst="roundRect">
            <a:avLst>
              <a:gd name="adj" fmla="val 10000"/>
            </a:avLst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3209400" y="438012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6E79A0"/>
                </a:solidFill>
                <a:latin typeface="Calibri"/>
                <a:ea typeface="Calibri"/>
              </a:rPr>
              <a:t>7%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822960" y="49467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E2761"/>
                </a:solidFill>
                <a:latin typeface="Consolas"/>
                <a:ea typeface="Consolas"/>
              </a:rPr>
              <a:t>verde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5"/>
          <p:cNvSpPr/>
          <p:nvPr/>
        </p:nvSpPr>
        <p:spPr>
          <a:xfrm>
            <a:off x="2560320" y="5001840"/>
            <a:ext cx="145800" cy="273960"/>
          </a:xfrm>
          <a:prstGeom prst="roundRect">
            <a:avLst>
              <a:gd name="adj" fmla="val 18750"/>
            </a:avLst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2843640" y="494676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6E79A0"/>
                </a:solidFill>
                <a:latin typeface="Calibri"/>
                <a:ea typeface="Calibri"/>
              </a:rPr>
              <a:t>0,1%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548640" y="54864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Escolhe uma (geralmente a mais provável), acrescenta ao texto, e repete — palavra por palavra.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Só isso, em escala gigantesca, produz o que parece raciocínio.</a:t>
            </a:r>
            <a:endParaRPr lang="pt-BR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728A6C3D-F643-0AD2-B2DF-62BDB0DFE2D6}"/>
              </a:ext>
            </a:extLst>
          </p:cNvPr>
          <p:cNvSpPr txBox="1"/>
          <p:nvPr/>
        </p:nvSpPr>
        <p:spPr>
          <a:xfrm>
            <a:off x="502920" y="6544837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753B63B-7872-7266-A654-B3E3D8C58FC1}"/>
              </a:ext>
            </a:extLst>
          </p:cNvPr>
          <p:cNvSpPr txBox="1"/>
          <p:nvPr/>
        </p:nvSpPr>
        <p:spPr>
          <a:xfrm>
            <a:off x="10875888" y="6583680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DE PREDITOR A ASSISTENTE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strike="noStrike" spc="-1">
                <a:solidFill>
                  <a:srgbClr val="FFFFFF"/>
                </a:solidFill>
                <a:latin typeface="Cambria"/>
                <a:ea typeface="Cambria"/>
              </a:rPr>
              <a:t>Como o LLM vira útil</a:t>
            </a:r>
            <a:endParaRPr lang="en-US" sz="3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548640" y="2148840"/>
            <a:ext cx="11063880" cy="1142640"/>
          </a:xfrm>
          <a:prstGeom prst="roundRect">
            <a:avLst>
              <a:gd name="adj" fmla="val 64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777240" y="2441520"/>
            <a:ext cx="548280" cy="54828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777240" y="24415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1554480" y="2331720"/>
            <a:ext cx="30171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mbria"/>
                <a:ea typeface="Cambria"/>
              </a:rPr>
              <a:t>Pré-treino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4663440" y="2331720"/>
            <a:ext cx="4754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lê enormes quantidades de texto e aprende a prever a próxima palavra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9509760" y="233172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9FBCE8"/>
                </a:solidFill>
                <a:latin typeface="Calibri"/>
                <a:ea typeface="Calibri"/>
              </a:rPr>
              <a:t>padrões da língua e do mundo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548640" y="3429000"/>
            <a:ext cx="11063880" cy="1142640"/>
          </a:xfrm>
          <a:prstGeom prst="roundRect">
            <a:avLst>
              <a:gd name="adj" fmla="val 64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777240" y="3721680"/>
            <a:ext cx="548280" cy="54828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777240" y="3721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1554480" y="3611880"/>
            <a:ext cx="30171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mbria"/>
                <a:ea typeface="Cambria"/>
              </a:rPr>
              <a:t>Ajuste (fine-tuning)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4663440" y="3611880"/>
            <a:ext cx="4754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é refinado para seguir instruções e conversar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9509760" y="361188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9FBCE8"/>
                </a:solidFill>
                <a:latin typeface="Calibri"/>
                <a:ea typeface="Calibri"/>
              </a:rPr>
              <a:t>vira "assistente"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548640" y="4709160"/>
            <a:ext cx="11063880" cy="1142640"/>
          </a:xfrm>
          <a:prstGeom prst="roundRect">
            <a:avLst>
              <a:gd name="adj" fmla="val 64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5"/>
          <p:cNvSpPr/>
          <p:nvPr/>
        </p:nvSpPr>
        <p:spPr>
          <a:xfrm>
            <a:off x="777240" y="5001840"/>
            <a:ext cx="548280" cy="548280"/>
          </a:xfrm>
          <a:prstGeom prst="ellipse">
            <a:avLst/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777240" y="5001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3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1554480" y="4892040"/>
            <a:ext cx="30171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mbria"/>
                <a:ea typeface="Cambria"/>
              </a:rPr>
              <a:t>Prompt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4663440" y="4892040"/>
            <a:ext cx="4754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você dá o contexto e a pergunta; ele completa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9509760" y="48920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9FBCE8"/>
                </a:solidFill>
                <a:latin typeface="Calibri"/>
                <a:ea typeface="Calibri"/>
              </a:rPr>
              <a:t>é onde VOCÊ entra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2B440D6A-62C4-6465-F003-2B62D6A9BC6B}"/>
              </a:ext>
            </a:extLst>
          </p:cNvPr>
          <p:cNvSpPr txBox="1"/>
          <p:nvPr/>
        </p:nvSpPr>
        <p:spPr>
          <a:xfrm>
            <a:off x="502920" y="6544837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26EA273-4731-6542-5A56-3CD8572774B2}"/>
              </a:ext>
            </a:extLst>
          </p:cNvPr>
          <p:cNvSpPr txBox="1"/>
          <p:nvPr/>
        </p:nvSpPr>
        <p:spPr>
          <a:xfrm>
            <a:off x="10875888" y="6583680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O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caminho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completo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Tudo que vimos, numa escada — do neurônio ao LLM.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548640" y="2286000"/>
            <a:ext cx="2066040" cy="2742840"/>
          </a:xfrm>
          <a:prstGeom prst="roundRect">
            <a:avLst>
              <a:gd name="adj" fmla="val 354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548640" y="2286000"/>
            <a:ext cx="2066040" cy="109440"/>
          </a:xfrm>
          <a:prstGeom prst="roundRect">
            <a:avLst>
              <a:gd name="adj" fmla="val 16667"/>
            </a:avLst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731520" y="251460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9FBCE8"/>
                </a:solidFill>
                <a:latin typeface="Cambria"/>
                <a:ea typeface="Cambria"/>
              </a:rPr>
              <a:t>1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731520" y="30632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mbria"/>
                <a:ea typeface="Cambria"/>
              </a:rPr>
              <a:t>Neurônio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731520" y="39776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soma ponderada + ativação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2569320" y="2286000"/>
            <a:ext cx="27396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6E79A0"/>
                </a:solidFill>
                <a:latin typeface="Calibri"/>
                <a:ea typeface="Calibri"/>
              </a:rPr>
              <a:t>→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2797920" y="2286000"/>
            <a:ext cx="2066040" cy="2742840"/>
          </a:xfrm>
          <a:prstGeom prst="roundRect">
            <a:avLst>
              <a:gd name="adj" fmla="val 354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2797920" y="2286000"/>
            <a:ext cx="2066040" cy="109440"/>
          </a:xfrm>
          <a:prstGeom prst="roundRect">
            <a:avLst>
              <a:gd name="adj" fmla="val 16667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2980800" y="251460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F7BE8"/>
                </a:solidFill>
                <a:latin typeface="Cambria"/>
                <a:ea typeface="Cambria"/>
              </a:rPr>
              <a:t>2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2980800" y="30632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mbria"/>
                <a:ea typeface="Cambria"/>
              </a:rPr>
              <a:t>MLP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2980800" y="39776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camadas de neurônios que aprendem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4818960" y="2286000"/>
            <a:ext cx="27396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6E79A0"/>
                </a:solidFill>
                <a:latin typeface="Calibri"/>
                <a:ea typeface="Calibri"/>
              </a:rPr>
              <a:t>→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5047560" y="2286000"/>
            <a:ext cx="2066040" cy="2742840"/>
          </a:xfrm>
          <a:prstGeom prst="roundRect">
            <a:avLst>
              <a:gd name="adj" fmla="val 354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5047560" y="2286000"/>
            <a:ext cx="2066040" cy="109440"/>
          </a:xfrm>
          <a:prstGeom prst="roundRect">
            <a:avLst>
              <a:gd name="adj" fmla="val 16667"/>
            </a:avLst>
          </a:prstGeom>
          <a:solidFill>
            <a:srgbClr val="3A6F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5230440" y="251460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3A6FD8"/>
                </a:solidFill>
                <a:latin typeface="Cambria"/>
                <a:ea typeface="Cambria"/>
              </a:rPr>
              <a:t>3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5230440" y="30632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mbria"/>
                <a:ea typeface="Cambria"/>
              </a:rPr>
              <a:t>Embeddings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5230440" y="39776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palavras viram vetores com significado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7068240" y="2286000"/>
            <a:ext cx="27396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6E79A0"/>
                </a:solidFill>
                <a:latin typeface="Calibri"/>
                <a:ea typeface="Calibri"/>
              </a:rPr>
              <a:t>→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0"/>
          <p:cNvSpPr/>
          <p:nvPr/>
        </p:nvSpPr>
        <p:spPr>
          <a:xfrm>
            <a:off x="7296840" y="2286000"/>
            <a:ext cx="2066040" cy="2742840"/>
          </a:xfrm>
          <a:prstGeom prst="roundRect">
            <a:avLst>
              <a:gd name="adj" fmla="val 354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1"/>
          <p:cNvSpPr/>
          <p:nvPr/>
        </p:nvSpPr>
        <p:spPr>
          <a:xfrm>
            <a:off x="7296840" y="2286000"/>
            <a:ext cx="2066040" cy="109440"/>
          </a:xfrm>
          <a:prstGeom prst="roundRect">
            <a:avLst>
              <a:gd name="adj" fmla="val 16667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22"/>
          <p:cNvSpPr/>
          <p:nvPr/>
        </p:nvSpPr>
        <p:spPr>
          <a:xfrm>
            <a:off x="7479720" y="251460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9B3A0"/>
                </a:solidFill>
                <a:latin typeface="Cambria"/>
                <a:ea typeface="Cambria"/>
              </a:rPr>
              <a:t>4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3"/>
          <p:cNvSpPr/>
          <p:nvPr/>
        </p:nvSpPr>
        <p:spPr>
          <a:xfrm>
            <a:off x="7479720" y="30632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mbria"/>
                <a:ea typeface="Cambria"/>
              </a:rPr>
              <a:t>Atenção / Transformer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4"/>
          <p:cNvSpPr/>
          <p:nvPr/>
        </p:nvSpPr>
        <p:spPr>
          <a:xfrm>
            <a:off x="7479720" y="39776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relaciona</a:t>
            </a:r>
            <a:r>
              <a:rPr lang="en-US" sz="1150" b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150" b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palavras</a:t>
            </a:r>
            <a:r>
              <a:rPr lang="en-US" sz="1150" b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150" b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pelo</a:t>
            </a:r>
            <a:r>
              <a:rPr lang="en-US" sz="1150" b="1" strike="noStrike" spc="-1" dirty="0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150" b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contexto</a:t>
            </a:r>
            <a:endParaRPr lang="en-US" sz="1150" b="1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9317880" y="2286000"/>
            <a:ext cx="27396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6E79A0"/>
                </a:solidFill>
                <a:latin typeface="Calibri"/>
                <a:ea typeface="Calibri"/>
              </a:rPr>
              <a:t>→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6"/>
          <p:cNvSpPr/>
          <p:nvPr/>
        </p:nvSpPr>
        <p:spPr>
          <a:xfrm>
            <a:off x="9546480" y="2286000"/>
            <a:ext cx="2066040" cy="2742840"/>
          </a:xfrm>
          <a:prstGeom prst="roundRect">
            <a:avLst>
              <a:gd name="adj" fmla="val 3540"/>
            </a:avLst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7"/>
          <p:cNvSpPr/>
          <p:nvPr/>
        </p:nvSpPr>
        <p:spPr>
          <a:xfrm>
            <a:off x="9546480" y="2286000"/>
            <a:ext cx="2066040" cy="109440"/>
          </a:xfrm>
          <a:prstGeom prst="roundRect">
            <a:avLst>
              <a:gd name="adj" fmla="val 16667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8"/>
          <p:cNvSpPr/>
          <p:nvPr/>
        </p:nvSpPr>
        <p:spPr>
          <a:xfrm>
            <a:off x="9729360" y="2514600"/>
            <a:ext cx="1700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2B84A"/>
                </a:solidFill>
                <a:latin typeface="Cambria"/>
                <a:ea typeface="Cambria"/>
              </a:rPr>
              <a:t>5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9"/>
          <p:cNvSpPr/>
          <p:nvPr/>
        </p:nvSpPr>
        <p:spPr>
          <a:xfrm>
            <a:off x="9729360" y="30632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LLM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30"/>
          <p:cNvSpPr/>
          <p:nvPr/>
        </p:nvSpPr>
        <p:spPr>
          <a:xfrm>
            <a:off x="9729360" y="3977640"/>
            <a:ext cx="1700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CADCFC"/>
                </a:solidFill>
                <a:latin typeface="Calibri"/>
                <a:ea typeface="Calibri"/>
              </a:rPr>
              <a:t>prevê a próxima palavra, em escala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548640" y="52578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Cada degrau é construído sobre o anterior. Os fundamentos de ML que vocês aprenderam sustentam tudo isto.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36AEE327-6920-004B-593C-5D208BA57D5C}"/>
              </a:ext>
            </a:extLst>
          </p:cNvPr>
          <p:cNvSpPr txBox="1"/>
          <p:nvPr/>
        </p:nvSpPr>
        <p:spPr>
          <a:xfrm>
            <a:off x="502920" y="6544837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D63DF85C-6687-3F3A-1D4F-E155D4E59F79}"/>
              </a:ext>
            </a:extLst>
          </p:cNvPr>
          <p:cNvSpPr txBox="1"/>
          <p:nvPr/>
        </p:nvSpPr>
        <p:spPr>
          <a:xfrm>
            <a:off x="10875888" y="6583680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7E72A722-3C8B-40DF-3545-2E46824289C7}"/>
              </a:ext>
            </a:extLst>
          </p:cNvPr>
          <p:cNvSpPr txBox="1"/>
          <p:nvPr/>
        </p:nvSpPr>
        <p:spPr>
          <a:xfrm>
            <a:off x="502920" y="6544837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6FAB0FBE-1FA7-5D81-7564-05A2E0791F4A}"/>
              </a:ext>
            </a:extLst>
          </p:cNvPr>
          <p:cNvSpPr txBox="1"/>
          <p:nvPr/>
        </p:nvSpPr>
        <p:spPr>
          <a:xfrm>
            <a:off x="10875888" y="6583680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9</a:t>
            </a:fld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4E3321-AA3D-7AF0-C7A4-C6A903419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50" y="279835"/>
            <a:ext cx="10853046" cy="610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0631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09D07D2-5F38-410F-9FE7-B43DB17102DD}"/>
              </a:ext>
            </a:extLst>
          </p:cNvPr>
          <p:cNvSpPr txBox="1"/>
          <p:nvPr/>
        </p:nvSpPr>
        <p:spPr>
          <a:xfrm>
            <a:off x="502920" y="6544837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61A165BA-EDCB-0063-ABA6-7121BFED002F}"/>
              </a:ext>
            </a:extLst>
          </p:cNvPr>
          <p:cNvSpPr txBox="1"/>
          <p:nvPr/>
        </p:nvSpPr>
        <p:spPr>
          <a:xfrm>
            <a:off x="10875888" y="6583680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10</a:t>
            </a:fld>
            <a:endParaRPr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11A7B51-FF38-F348-3EFB-F90249BEB417}"/>
              </a:ext>
            </a:extLst>
          </p:cNvPr>
          <p:cNvSpPr/>
          <p:nvPr/>
        </p:nvSpPr>
        <p:spPr>
          <a:xfrm>
            <a:off x="457200" y="411480"/>
            <a:ext cx="2865549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Os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Modelos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LLM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898CCCB-9BCF-8FA6-F692-78DB6A3D7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657" y="176729"/>
            <a:ext cx="6541361" cy="640712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Google Shape;416;p39"/>
          <p:cNvSpPr txBox="1"/>
          <p:nvPr/>
        </p:nvSpPr>
        <p:spPr>
          <a:xfrm>
            <a:off x="7097752" y="615013"/>
            <a:ext cx="2201086" cy="643890"/>
          </a:xfrm>
          <a:prstGeom prst="rect">
            <a:avLst/>
          </a:prstGeom>
          <a:noFill/>
          <a:ln w="9525"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eaLnBrk="0" hangingPunct="0">
              <a:buClrTx/>
              <a:buFontTx/>
            </a:pPr>
            <a:r>
              <a:rPr lang="pt-BR" altLang="pt-BR" sz="3600" b="1" dirty="0">
                <a:solidFill>
                  <a:srgbClr val="0070C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groq.com</a:t>
            </a:r>
            <a:endParaRPr lang="pt-BR" altLang="pt-BR" dirty="0">
              <a:latin typeface="Tahoma" panose="020B060403050404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63C71C-A29C-8FD3-E029-E131DE961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16" y="1740296"/>
            <a:ext cx="6213558" cy="35535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E46C947A-9AEC-75DB-914C-41FC91060C7E}"/>
              </a:ext>
            </a:extLst>
          </p:cNvPr>
          <p:cNvSpPr txBox="1"/>
          <p:nvPr/>
        </p:nvSpPr>
        <p:spPr>
          <a:xfrm>
            <a:off x="502920" y="6544837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532FB896-7C9A-E71F-E659-5BCBF106705D}"/>
              </a:ext>
            </a:extLst>
          </p:cNvPr>
          <p:cNvSpPr txBox="1"/>
          <p:nvPr/>
        </p:nvSpPr>
        <p:spPr>
          <a:xfrm>
            <a:off x="10875888" y="6583680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11</a:t>
            </a:fld>
            <a:endParaRPr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80DE82E-C5CC-30A2-4E84-282F083AA03C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Plataforma para uso de Modelos</a:t>
            </a:r>
            <a:endParaRPr lang="pt-BR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6CE7798-E4B5-3AF9-E63F-505615F8E914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Groq</a:t>
            </a:r>
            <a:r>
              <a:rPr lang="pt-BR" sz="1500" b="1" strike="noStrike" spc="-1" dirty="0">
                <a:solidFill>
                  <a:srgbClr val="5A6072"/>
                </a:solidFill>
                <a:latin typeface="Calibri"/>
                <a:ea typeface="Calibri"/>
              </a:rPr>
              <a:t> é um exemplo de Plataforma para consumo de Modelos em Nuvem</a:t>
            </a:r>
            <a:endParaRPr lang="pt-BR" sz="1500" b="1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050D1B0-0C03-E135-E512-6220FF781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927" y="3502644"/>
            <a:ext cx="6330932" cy="28972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172394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09934AA-C540-4208-A867-15F3CBC90B47}"/>
</file>

<file path=customXml/itemProps2.xml><?xml version="1.0" encoding="utf-8"?>
<ds:datastoreItem xmlns:ds="http://schemas.openxmlformats.org/officeDocument/2006/customXml" ds:itemID="{77E4964C-6228-492F-8B0F-31510EB806B6}"/>
</file>

<file path=customXml/itemProps3.xml><?xml version="1.0" encoding="utf-8"?>
<ds:datastoreItem xmlns:ds="http://schemas.openxmlformats.org/officeDocument/2006/customXml" ds:itemID="{34BE5FA3-FA00-47D9-9A01-5C6830E294B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645</Words>
  <Application>Microsoft Office PowerPoint</Application>
  <PresentationFormat>Widescreen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等线</vt:lpstr>
      <vt:lpstr>Arial</vt:lpstr>
      <vt:lpstr>Calibri</vt:lpstr>
      <vt:lpstr>Cambria</vt:lpstr>
      <vt:lpstr>Consolas</vt:lpstr>
      <vt:lpstr>Symbol</vt:lpstr>
      <vt:lpstr>Tahoma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WALMIR GONCALVES DUQUE</cp:lastModifiedBy>
  <cp:revision>21</cp:revision>
  <dcterms:modified xsi:type="dcterms:W3CDTF">2026-09-21T17:40:05Z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2026-09-10T02:29:04Z</dcterms:created>
  <dc:creator>PptxGenJS</dc:creator>
  <dc:description/>
  <dc:language>en-US</dc:language>
  <cp:lastModifiedBy>PptxGenJS</cp:lastModifiedBy>
  <dcterms:modified xsi:type="dcterms:W3CDTF">2026-09-10T02:29:04Z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  <property fmtid="{D5CDD505-2E9C-101B-9397-08002B2CF9AE}" pid="5" name="ContentTypeId">
    <vt:lpwstr>0x01010078A2D2C2733B7342A34F941B973AA6E6</vt:lpwstr>
  </property>
</Properties>
</file>